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y="5143500" cx="9144000"/>
  <p:notesSz cx="6858000" cy="9144000"/>
  <p:embeddedFontLst>
    <p:embeddedFont>
      <p:font typeface="Roboto"/>
      <p:regular r:id="rId32"/>
      <p:bold r:id="rId33"/>
      <p:italic r:id="rId34"/>
      <p:boldItalic r:id="rId35"/>
    </p:embeddedFont>
    <p:embeddedFont>
      <p:font typeface="Helvetica Neue"/>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D1B0170-831F-40A8-A691-63FB0E0BD69B}">
  <a:tblStyle styleId="{8D1B0170-831F-40A8-A691-63FB0E0BD69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font" Target="fonts/Roboto-bold.fntdata"/><Relationship Id="rId10" Type="http://schemas.openxmlformats.org/officeDocument/2006/relationships/slide" Target="slides/slide4.xml"/><Relationship Id="rId32" Type="http://schemas.openxmlformats.org/officeDocument/2006/relationships/font" Target="fonts/Roboto-regular.fntdata"/><Relationship Id="rId13" Type="http://schemas.openxmlformats.org/officeDocument/2006/relationships/slide" Target="slides/slide7.xml"/><Relationship Id="rId35" Type="http://schemas.openxmlformats.org/officeDocument/2006/relationships/font" Target="fonts/Roboto-boldItalic.fntdata"/><Relationship Id="rId12" Type="http://schemas.openxmlformats.org/officeDocument/2006/relationships/slide" Target="slides/slide6.xml"/><Relationship Id="rId34" Type="http://schemas.openxmlformats.org/officeDocument/2006/relationships/font" Target="fonts/Roboto-italic.fntdata"/><Relationship Id="rId15" Type="http://schemas.openxmlformats.org/officeDocument/2006/relationships/slide" Target="slides/slide9.xml"/><Relationship Id="rId37" Type="http://schemas.openxmlformats.org/officeDocument/2006/relationships/font" Target="fonts/HelveticaNeue-bold.fntdata"/><Relationship Id="rId14" Type="http://schemas.openxmlformats.org/officeDocument/2006/relationships/slide" Target="slides/slide8.xml"/><Relationship Id="rId36" Type="http://schemas.openxmlformats.org/officeDocument/2006/relationships/font" Target="fonts/HelveticaNeue-regular.fntdata"/><Relationship Id="rId17" Type="http://schemas.openxmlformats.org/officeDocument/2006/relationships/slide" Target="slides/slide11.xml"/><Relationship Id="rId39" Type="http://schemas.openxmlformats.org/officeDocument/2006/relationships/font" Target="fonts/HelveticaNeue-boldItalic.fntdata"/><Relationship Id="rId16" Type="http://schemas.openxmlformats.org/officeDocument/2006/relationships/slide" Target="slides/slide10.xml"/><Relationship Id="rId38" Type="http://schemas.openxmlformats.org/officeDocument/2006/relationships/font" Target="fonts/HelveticaNeue-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409ea0604f5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409ea0604f5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409ea0604f5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409ea0604f5_0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409ea0604f5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409ea0604f5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409ea0604f5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409ea0604f5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409ea0604f5_0_1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409ea0604f5_0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409ea0604f5_0_1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409ea0604f5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409ea0604f5_0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409ea0604f5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409ea0604f5_0_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409ea0604f5_0_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409ea0604f5_0_2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409ea0604f5_0_2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409ea0604f5_0_2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409ea0604f5_0_2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409ea0604f5_0_2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409ea0604f5_0_2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409eb1452d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409eb1452d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409eb1452d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409eb1452d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409eb1452dc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409eb1452dc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409eb1452dc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409eb1452dc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409eb1452dc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409eb1452dc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409eb1452dc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409eb1452dc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409eb1452dc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409eb1452dc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b6cfb3d73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fb6cfb3d73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fb6cfb3d73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fb6cfb3d73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fb6cfb3d7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g3fb6cfb3d7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3fb6cfb3d73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3fb6cfb3d73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fb6cfb3d73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fb6cfb3d73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b6cfb3d73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3fb6cfb3d73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grpSp>
        <p:nvGrpSpPr>
          <p:cNvPr id="10" name="Google Shape;10;p2"/>
          <p:cNvGrpSpPr/>
          <p:nvPr/>
        </p:nvGrpSpPr>
        <p:grpSpPr>
          <a:xfrm>
            <a:off x="6098378" y="5"/>
            <a:ext cx="3045625" cy="2030570"/>
            <a:chOff x="6098378" y="5"/>
            <a:chExt cx="3045625" cy="2030570"/>
          </a:xfrm>
        </p:grpSpPr>
        <p:sp>
          <p:nvSpPr>
            <p:cNvPr id="11" name="Google Shape;11;p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598100" y="1775222"/>
            <a:ext cx="8222100" cy="838800"/>
          </a:xfrm>
          <a:prstGeom prst="rect">
            <a:avLst/>
          </a:prstGeom>
        </p:spPr>
        <p:txBody>
          <a:bodyPr anchorCtr="0" anchor="b"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7" name="Google Shape;17;p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lt1"/>
              </a:buClr>
              <a:buSzPts val="2100"/>
              <a:buNone/>
              <a:defRPr sz="2100">
                <a:solidFill>
                  <a:schemeClr val="lt1"/>
                </a:solidFill>
              </a:defRPr>
            </a:lvl1pPr>
            <a:lvl2pPr lvl="1">
              <a:lnSpc>
                <a:spcPct val="100000"/>
              </a:lnSpc>
              <a:spcBef>
                <a:spcPts val="0"/>
              </a:spcBef>
              <a:spcAft>
                <a:spcPts val="0"/>
              </a:spcAft>
              <a:buClr>
                <a:schemeClr val="lt1"/>
              </a:buClr>
              <a:buSzPts val="2100"/>
              <a:buNone/>
              <a:defRPr sz="2100">
                <a:solidFill>
                  <a:schemeClr val="lt1"/>
                </a:solidFill>
              </a:defRPr>
            </a:lvl2pPr>
            <a:lvl3pPr lvl="2">
              <a:lnSpc>
                <a:spcPct val="100000"/>
              </a:lnSpc>
              <a:spcBef>
                <a:spcPts val="0"/>
              </a:spcBef>
              <a:spcAft>
                <a:spcPts val="0"/>
              </a:spcAft>
              <a:buClr>
                <a:schemeClr val="lt1"/>
              </a:buClr>
              <a:buSzPts val="2100"/>
              <a:buNone/>
              <a:defRPr sz="2100">
                <a:solidFill>
                  <a:schemeClr val="lt1"/>
                </a:solidFill>
              </a:defRPr>
            </a:lvl3pPr>
            <a:lvl4pPr lvl="3">
              <a:lnSpc>
                <a:spcPct val="100000"/>
              </a:lnSpc>
              <a:spcBef>
                <a:spcPts val="0"/>
              </a:spcBef>
              <a:spcAft>
                <a:spcPts val="0"/>
              </a:spcAft>
              <a:buClr>
                <a:schemeClr val="lt1"/>
              </a:buClr>
              <a:buSzPts val="2100"/>
              <a:buNone/>
              <a:defRPr sz="2100">
                <a:solidFill>
                  <a:schemeClr val="lt1"/>
                </a:solidFill>
              </a:defRPr>
            </a:lvl4pPr>
            <a:lvl5pPr lvl="4">
              <a:lnSpc>
                <a:spcPct val="100000"/>
              </a:lnSpc>
              <a:spcBef>
                <a:spcPts val="0"/>
              </a:spcBef>
              <a:spcAft>
                <a:spcPts val="0"/>
              </a:spcAft>
              <a:buClr>
                <a:schemeClr val="lt1"/>
              </a:buClr>
              <a:buSzPts val="2100"/>
              <a:buNone/>
              <a:defRPr sz="2100">
                <a:solidFill>
                  <a:schemeClr val="lt1"/>
                </a:solidFill>
              </a:defRPr>
            </a:lvl5pPr>
            <a:lvl6pPr lvl="5">
              <a:lnSpc>
                <a:spcPct val="100000"/>
              </a:lnSpc>
              <a:spcBef>
                <a:spcPts val="0"/>
              </a:spcBef>
              <a:spcAft>
                <a:spcPts val="0"/>
              </a:spcAft>
              <a:buClr>
                <a:schemeClr val="lt1"/>
              </a:buClr>
              <a:buSzPts val="2100"/>
              <a:buNone/>
              <a:defRPr sz="2100">
                <a:solidFill>
                  <a:schemeClr val="lt1"/>
                </a:solidFill>
              </a:defRPr>
            </a:lvl6pPr>
            <a:lvl7pPr lvl="6">
              <a:lnSpc>
                <a:spcPct val="100000"/>
              </a:lnSpc>
              <a:spcBef>
                <a:spcPts val="0"/>
              </a:spcBef>
              <a:spcAft>
                <a:spcPts val="0"/>
              </a:spcAft>
              <a:buClr>
                <a:schemeClr val="lt1"/>
              </a:buClr>
              <a:buSzPts val="2100"/>
              <a:buNone/>
              <a:defRPr sz="2100">
                <a:solidFill>
                  <a:schemeClr val="lt1"/>
                </a:solidFill>
              </a:defRPr>
            </a:lvl7pPr>
            <a:lvl8pPr lvl="7">
              <a:lnSpc>
                <a:spcPct val="100000"/>
              </a:lnSpc>
              <a:spcBef>
                <a:spcPts val="0"/>
              </a:spcBef>
              <a:spcAft>
                <a:spcPts val="0"/>
              </a:spcAft>
              <a:buClr>
                <a:schemeClr val="lt1"/>
              </a:buClr>
              <a:buSzPts val="2100"/>
              <a:buNone/>
              <a:defRPr sz="2100">
                <a:solidFill>
                  <a:schemeClr val="lt1"/>
                </a:solidFill>
              </a:defRPr>
            </a:lvl8pPr>
            <a:lvl9pPr lvl="8">
              <a:lnSpc>
                <a:spcPct val="100000"/>
              </a:lnSpc>
              <a:spcBef>
                <a:spcPts val="0"/>
              </a:spcBef>
              <a:spcAft>
                <a:spcPts val="0"/>
              </a:spcAft>
              <a:buClr>
                <a:schemeClr val="lt1"/>
              </a:buClr>
              <a:buSzPts val="2100"/>
              <a:buNone/>
              <a:defRPr sz="2100">
                <a:solidFill>
                  <a:schemeClr val="lt1"/>
                </a:solidFill>
              </a:defRPr>
            </a:lvl9pPr>
          </a:lstStyle>
          <a:p/>
        </p:txBody>
      </p:sp>
      <p:sp>
        <p:nvSpPr>
          <p:cNvPr id="18" name="Google Shape;18;p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9" name="Shape 19"/>
        <p:cNvGrpSpPr/>
        <p:nvPr/>
      </p:nvGrpSpPr>
      <p:grpSpPr>
        <a:xfrm>
          <a:off x="0" y="0"/>
          <a:ext cx="0" cy="0"/>
          <a:chOff x="0" y="0"/>
          <a:chExt cx="0" cy="0"/>
        </a:xfrm>
      </p:grpSpPr>
      <p:grpSp>
        <p:nvGrpSpPr>
          <p:cNvPr id="20" name="Google Shape;20;p3"/>
          <p:cNvGrpSpPr/>
          <p:nvPr/>
        </p:nvGrpSpPr>
        <p:grpSpPr>
          <a:xfrm>
            <a:off x="6098378" y="5"/>
            <a:ext cx="3045625" cy="2030570"/>
            <a:chOff x="6098378" y="5"/>
            <a:chExt cx="3045625" cy="2030570"/>
          </a:xfrm>
        </p:grpSpPr>
        <p:sp>
          <p:nvSpPr>
            <p:cNvPr id="21" name="Google Shape;21;p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Google Shape;26;p3"/>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27" name="Google Shape;27;p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8" name="Shape 28"/>
        <p:cNvGrpSpPr/>
        <p:nvPr/>
      </p:nvGrpSpPr>
      <p:grpSpPr>
        <a:xfrm>
          <a:off x="0" y="0"/>
          <a:ext cx="0" cy="0"/>
          <a:chOff x="0" y="0"/>
          <a:chExt cx="0" cy="0"/>
        </a:xfrm>
      </p:grpSpPr>
      <p:grpSp>
        <p:nvGrpSpPr>
          <p:cNvPr id="29" name="Google Shape;29;p4"/>
          <p:cNvGrpSpPr/>
          <p:nvPr/>
        </p:nvGrpSpPr>
        <p:grpSpPr>
          <a:xfrm>
            <a:off x="0" y="3903669"/>
            <a:ext cx="9144000" cy="1239925"/>
            <a:chOff x="0" y="3903669"/>
            <a:chExt cx="9144000" cy="1239925"/>
          </a:xfrm>
        </p:grpSpPr>
        <p:sp>
          <p:nvSpPr>
            <p:cNvPr id="30" name="Google Shape;30;p4"/>
            <p:cNvSpPr/>
            <p:nvPr/>
          </p:nvSpPr>
          <p:spPr>
            <a:xfrm>
              <a:off x="8154895"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flipH="1">
              <a:off x="6181163"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a:off x="7170274" y="3903669"/>
              <a:ext cx="989100" cy="9879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4"/>
            <p:cNvSpPr/>
            <p:nvPr/>
          </p:nvSpPr>
          <p:spPr>
            <a:xfrm rot="10800000">
              <a:off x="8154757" y="3903682"/>
              <a:ext cx="989100" cy="9879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4"/>
            <p:cNvSpPr/>
            <p:nvPr/>
          </p:nvSpPr>
          <p:spPr>
            <a:xfrm>
              <a:off x="0" y="4891594"/>
              <a:ext cx="9144000" cy="2520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 name="Google Shape;35;p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6" name="Google Shape;36;p4"/>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 name="Google Shape;37;p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8" name="Shape 38"/>
        <p:cNvGrpSpPr/>
        <p:nvPr/>
      </p:nvGrpSpPr>
      <p:grpSpPr>
        <a:xfrm>
          <a:off x="0" y="0"/>
          <a:ext cx="0" cy="0"/>
          <a:chOff x="0" y="0"/>
          <a:chExt cx="0" cy="0"/>
        </a:xfrm>
      </p:grpSpPr>
      <p:sp>
        <p:nvSpPr>
          <p:cNvPr id="39" name="Google Shape;39;p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0" name="Google Shape;40;p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1" name="Google Shape;41;p5"/>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2" name="Google Shape;42;p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3" name="Shape 43"/>
        <p:cNvGrpSpPr/>
        <p:nvPr/>
      </p:nvGrpSpPr>
      <p:grpSpPr>
        <a:xfrm>
          <a:off x="0" y="0"/>
          <a:ext cx="0" cy="0"/>
          <a:chOff x="0" y="0"/>
          <a:chExt cx="0" cy="0"/>
        </a:xfrm>
      </p:grpSpPr>
      <p:sp>
        <p:nvSpPr>
          <p:cNvPr id="44" name="Google Shape;44;p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5" name="Google Shape;45;p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6" name="Shape 46"/>
        <p:cNvGrpSpPr/>
        <p:nvPr/>
      </p:nvGrpSpPr>
      <p:grpSpPr>
        <a:xfrm>
          <a:off x="0" y="0"/>
          <a:ext cx="0" cy="0"/>
          <a:chOff x="0" y="0"/>
          <a:chExt cx="0" cy="0"/>
        </a:xfrm>
      </p:grpSpPr>
      <p:sp>
        <p:nvSpPr>
          <p:cNvPr id="47" name="Google Shape;47;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8" name="Google Shape;48;p7"/>
          <p:cNvSpPr txBox="1"/>
          <p:nvPr>
            <p:ph idx="1" type="body"/>
          </p:nvPr>
        </p:nvSpPr>
        <p:spPr>
          <a:xfrm>
            <a:off x="311700" y="1465804"/>
            <a:ext cx="2808000" cy="31032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9" name="Google Shape;49;p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4"/>
        </a:solidFill>
      </p:bgPr>
    </p:bg>
    <p:spTree>
      <p:nvGrpSpPr>
        <p:cNvPr id="50" name="Shape 50"/>
        <p:cNvGrpSpPr/>
        <p:nvPr/>
      </p:nvGrpSpPr>
      <p:grpSpPr>
        <a:xfrm>
          <a:off x="0" y="0"/>
          <a:ext cx="0" cy="0"/>
          <a:chOff x="0" y="0"/>
          <a:chExt cx="0" cy="0"/>
        </a:xfrm>
      </p:grpSpPr>
      <p:grpSp>
        <p:nvGrpSpPr>
          <p:cNvPr id="51" name="Google Shape;51;p8"/>
          <p:cNvGrpSpPr/>
          <p:nvPr/>
        </p:nvGrpSpPr>
        <p:grpSpPr>
          <a:xfrm>
            <a:off x="6098378" y="5"/>
            <a:ext cx="3045625" cy="2030570"/>
            <a:chOff x="6098378" y="5"/>
            <a:chExt cx="3045625" cy="2030570"/>
          </a:xfrm>
        </p:grpSpPr>
        <p:sp>
          <p:nvSpPr>
            <p:cNvPr id="52" name="Google Shape;52;p8"/>
            <p:cNvSpPr/>
            <p:nvPr/>
          </p:nvSpPr>
          <p:spPr>
            <a:xfrm>
              <a:off x="8128803" y="16"/>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8"/>
            <p:cNvSpPr/>
            <p:nvPr/>
          </p:nvSpPr>
          <p:spPr>
            <a:xfrm flipH="1">
              <a:off x="7113463" y="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8"/>
            <p:cNvSpPr/>
            <p:nvPr/>
          </p:nvSpPr>
          <p:spPr>
            <a:xfrm flipH="1" rot="10800000">
              <a:off x="7113588" y="107"/>
              <a:ext cx="1015200" cy="10152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8"/>
            <p:cNvSpPr/>
            <p:nvPr/>
          </p:nvSpPr>
          <p:spPr>
            <a:xfrm rot="10800000">
              <a:off x="6098378" y="97"/>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8"/>
            <p:cNvSpPr/>
            <p:nvPr/>
          </p:nvSpPr>
          <p:spPr>
            <a:xfrm rot="10800000">
              <a:off x="8128789" y="101537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7" name="Google Shape;57;p8"/>
          <p:cNvSpPr txBox="1"/>
          <p:nvPr>
            <p:ph type="title"/>
          </p:nvPr>
        </p:nvSpPr>
        <p:spPr>
          <a:xfrm>
            <a:off x="490250" y="526350"/>
            <a:ext cx="56187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58" name="Google Shape;58;p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9" name="Shape 59"/>
        <p:cNvGrpSpPr/>
        <p:nvPr/>
      </p:nvGrpSpPr>
      <p:grpSpPr>
        <a:xfrm>
          <a:off x="0" y="0"/>
          <a:ext cx="0" cy="0"/>
          <a:chOff x="0" y="0"/>
          <a:chExt cx="0" cy="0"/>
        </a:xfrm>
      </p:grpSpPr>
      <p:sp>
        <p:nvSpPr>
          <p:cNvPr id="60" name="Google Shape;60;p9"/>
          <p:cNvSpPr/>
          <p:nvPr/>
        </p:nvSpPr>
        <p:spPr>
          <a:xfrm>
            <a:off x="4572000" y="-17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1" name="Google Shape;6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62" name="Google Shape;62;p9"/>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63" name="Google Shape;63;p9"/>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64" name="Google Shape;64;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65" name="Google Shape;65;p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6" name="Shape 66"/>
        <p:cNvGrpSpPr/>
        <p:nvPr/>
      </p:nvGrpSpPr>
      <p:grpSpPr>
        <a:xfrm>
          <a:off x="0" y="0"/>
          <a:ext cx="0" cy="0"/>
          <a:chOff x="0" y="0"/>
          <a:chExt cx="0" cy="0"/>
        </a:xfrm>
      </p:grpSpPr>
      <p:sp>
        <p:nvSpPr>
          <p:cNvPr id="67" name="Google Shape;67;p10"/>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68" name="Google Shape;68;p1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9" name="Shape 69"/>
        <p:cNvGrpSpPr/>
        <p:nvPr/>
      </p:nvGrpSpPr>
      <p:grpSpPr>
        <a:xfrm>
          <a:off x="0" y="0"/>
          <a:ext cx="0" cy="0"/>
          <a:chOff x="0" y="0"/>
          <a:chExt cx="0" cy="0"/>
        </a:xfrm>
      </p:grpSpPr>
      <p:grpSp>
        <p:nvGrpSpPr>
          <p:cNvPr id="70" name="Google Shape;70;p11"/>
          <p:cNvGrpSpPr/>
          <p:nvPr/>
        </p:nvGrpSpPr>
        <p:grpSpPr>
          <a:xfrm>
            <a:off x="6098378" y="5"/>
            <a:ext cx="3045625" cy="2030570"/>
            <a:chOff x="6098378" y="5"/>
            <a:chExt cx="3045625" cy="2030570"/>
          </a:xfrm>
        </p:grpSpPr>
        <p:sp>
          <p:nvSpPr>
            <p:cNvPr id="71" name="Google Shape;71;p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11"/>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11"/>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 name="Google Shape;76;p11"/>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77" name="Google Shape;77;p11"/>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78" name="Google Shape;78;p1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9" name="Shape 79"/>
        <p:cNvGrpSpPr/>
        <p:nvPr/>
      </p:nvGrpSpPr>
      <p:grpSpPr>
        <a:xfrm>
          <a:off x="0" y="0"/>
          <a:ext cx="0" cy="0"/>
          <a:chOff x="0" y="0"/>
          <a:chExt cx="0" cy="0"/>
        </a:xfrm>
      </p:grpSpPr>
      <p:sp>
        <p:nvSpPr>
          <p:cNvPr id="80" name="Google Shape;80;p1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indent="-317500" lvl="1" marL="9144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2pPr>
            <a:lvl3pPr indent="-317500" lvl="2" marL="13716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3pPr>
            <a:lvl4pPr indent="-317500" lvl="3" marL="18288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4pPr>
            <a:lvl5pPr indent="-317500" lvl="4" marL="22860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5pPr>
            <a:lvl6pPr indent="-317500" lvl="5" marL="27432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6pPr>
            <a:lvl7pPr indent="-317500" lvl="6" marL="32004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7pPr>
            <a:lvl8pPr indent="-317500" lvl="7" marL="36576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8pPr>
            <a:lvl9pPr indent="-317500" lvl="8" marL="41148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txBox="1"/>
          <p:nvPr>
            <p:ph type="ctrTitle"/>
          </p:nvPr>
        </p:nvSpPr>
        <p:spPr>
          <a:xfrm>
            <a:off x="598100" y="1775222"/>
            <a:ext cx="8222100" cy="8388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GB"/>
              <a:t>FIT3143 Lab 2</a:t>
            </a:r>
            <a:endParaRPr/>
          </a:p>
        </p:txBody>
      </p:sp>
      <p:sp>
        <p:nvSpPr>
          <p:cNvPr id="86" name="Google Shape;86;p1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GB"/>
              <a:t>Julia Mallard, Nam Quang Tran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4"/>
          <p:cNvSpPr txBox="1"/>
          <p:nvPr>
            <p:ph type="title"/>
          </p:nvPr>
        </p:nvSpPr>
        <p:spPr>
          <a:xfrm>
            <a:off x="598100" y="2152347"/>
            <a:ext cx="8222100" cy="838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GB" sz="3480"/>
              <a:t>Task 1 – Prime Search using Message Passing Interface (Open MPI)</a:t>
            </a:r>
            <a:endParaRPr sz="348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Distribution of work (naive)</a:t>
            </a:r>
            <a:endParaRPr/>
          </a:p>
        </p:txBody>
      </p:sp>
      <p:sp>
        <p:nvSpPr>
          <p:cNvPr id="97" name="Google Shape;97;p15"/>
          <p:cNvSpPr txBox="1"/>
          <p:nvPr>
            <p:ph idx="1" type="body"/>
          </p:nvPr>
        </p:nvSpPr>
        <p:spPr>
          <a:xfrm>
            <a:off x="311700" y="1192550"/>
            <a:ext cx="5112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Naive way of distributing work, work is split up into 4 even blocks</a:t>
            </a:r>
            <a:endParaRPr/>
          </a:p>
          <a:p>
            <a:pPr indent="-342900" lvl="0" marL="457200" rtl="0" algn="l">
              <a:spcBef>
                <a:spcPts val="0"/>
              </a:spcBef>
              <a:spcAft>
                <a:spcPts val="0"/>
              </a:spcAft>
              <a:buSzPts val="1800"/>
              <a:buChar char="-"/>
            </a:pPr>
            <a:r>
              <a:rPr lang="en-GB"/>
              <a:t>However, higher ranks (who will get blocks of higher values) will have to do more work</a:t>
            </a:r>
            <a:endParaRPr/>
          </a:p>
          <a:p>
            <a:pPr indent="-342900" lvl="0" marL="457200" rtl="0" algn="l">
              <a:spcBef>
                <a:spcPts val="0"/>
              </a:spcBef>
              <a:spcAft>
                <a:spcPts val="0"/>
              </a:spcAft>
              <a:buSzPts val="1800"/>
              <a:buChar char="-"/>
            </a:pPr>
            <a:r>
              <a:rPr lang="en-GB"/>
              <a:t>In this example, rank 3 will have to do 2.28x </a:t>
            </a:r>
            <a:r>
              <a:rPr lang="en-GB"/>
              <a:t>more</a:t>
            </a:r>
            <a:r>
              <a:rPr lang="en-GB"/>
              <a:t> work, which is not ideal, as Rank 0 has to wait on all to report back the output.</a:t>
            </a:r>
            <a:endParaRPr/>
          </a:p>
          <a:p>
            <a:pPr indent="-342900" lvl="0" marL="457200" rtl="0" algn="l">
              <a:spcBef>
                <a:spcPts val="0"/>
              </a:spcBef>
              <a:spcAft>
                <a:spcPts val="0"/>
              </a:spcAft>
              <a:buSzPts val="1800"/>
              <a:buChar char="-"/>
            </a:pPr>
            <a:r>
              <a:rPr lang="en-GB"/>
              <a:t>Rank 3 will be the bottleneck.</a:t>
            </a:r>
            <a:endParaRPr/>
          </a:p>
        </p:txBody>
      </p:sp>
      <p:graphicFrame>
        <p:nvGraphicFramePr>
          <p:cNvPr id="98" name="Google Shape;98;p15"/>
          <p:cNvGraphicFramePr/>
          <p:nvPr/>
        </p:nvGraphicFramePr>
        <p:xfrm>
          <a:off x="5751050" y="976400"/>
          <a:ext cx="3000000" cy="3000000"/>
        </p:xfrm>
        <a:graphic>
          <a:graphicData uri="http://schemas.openxmlformats.org/drawingml/2006/table">
            <a:tbl>
              <a:tblPr>
                <a:noFill/>
                <a:tableStyleId>{8D1B0170-831F-40A8-A691-63FB0E0BD69B}</a:tableStyleId>
              </a:tblPr>
              <a:tblGrid>
                <a:gridCol w="1280650"/>
                <a:gridCol w="1280650"/>
              </a:tblGrid>
              <a:tr h="358250">
                <a:tc>
                  <a:txBody>
                    <a:bodyPr/>
                    <a:lstStyle/>
                    <a:p>
                      <a:pPr indent="0" lvl="0" marL="0" rtl="0" algn="l">
                        <a:spcBef>
                          <a:spcPts val="0"/>
                        </a:spcBef>
                        <a:spcAft>
                          <a:spcPts val="0"/>
                        </a:spcAft>
                        <a:buNone/>
                      </a:pPr>
                      <a:r>
                        <a:rPr lang="en-GB"/>
                        <a:t>Rank</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Work done</a:t>
                      </a:r>
                      <a:endParaRPr sz="1200">
                        <a:solidFill>
                          <a:srgbClr val="333333"/>
                        </a:solidFill>
                        <a:highlight>
                          <a:srgbClr val="FFFFFF"/>
                        </a:highlight>
                        <a:latin typeface="Helvetica Neue"/>
                        <a:ea typeface="Helvetica Neue"/>
                        <a:cs typeface="Helvetica Neue"/>
                        <a:sym typeface="Helvetica Neue"/>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58250">
                <a:tc>
                  <a:txBody>
                    <a:bodyPr/>
                    <a:lstStyle/>
                    <a:p>
                      <a:pPr indent="0" lvl="0" marL="0" rtl="0" algn="l">
                        <a:spcBef>
                          <a:spcPts val="0"/>
                        </a:spcBef>
                        <a:spcAft>
                          <a:spcPts val="0"/>
                        </a:spcAft>
                        <a:buNone/>
                      </a:pPr>
                      <a:r>
                        <a:rPr lang="en-GB"/>
                        <a:t>0</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4,944,695</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58250">
                <a:tc>
                  <a:txBody>
                    <a:bodyPr/>
                    <a:lstStyle/>
                    <a:p>
                      <a:pPr indent="0" lvl="0" marL="0" rtl="0" algn="l">
                        <a:spcBef>
                          <a:spcPts val="0"/>
                        </a:spcBef>
                        <a:spcAft>
                          <a:spcPts val="0"/>
                        </a:spcAft>
                        <a:buNone/>
                      </a:pPr>
                      <a:r>
                        <a:rPr lang="en-GB"/>
                        <a:t>1</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8,011,836</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58250">
                <a:tc>
                  <a:txBody>
                    <a:bodyPr/>
                    <a:lstStyle/>
                    <a:p>
                      <a:pPr indent="0" lvl="0" marL="0" rtl="0" algn="l">
                        <a:spcBef>
                          <a:spcPts val="0"/>
                        </a:spcBef>
                        <a:spcAft>
                          <a:spcPts val="0"/>
                        </a:spcAft>
                        <a:buNone/>
                      </a:pPr>
                      <a:r>
                        <a:rPr lang="en-GB"/>
                        <a:t>2</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9,846,491</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58250">
                <a:tc>
                  <a:txBody>
                    <a:bodyPr/>
                    <a:lstStyle/>
                    <a:p>
                      <a:pPr indent="0" lvl="0" marL="0" rtl="0" algn="l">
                        <a:spcBef>
                          <a:spcPts val="0"/>
                        </a:spcBef>
                        <a:spcAft>
                          <a:spcPts val="0"/>
                        </a:spcAft>
                        <a:buNone/>
                      </a:pPr>
                      <a:r>
                        <a:rPr lang="en-GB"/>
                        <a:t>3</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11,297,539</a:t>
                      </a:r>
                      <a:endParaRPr sz="1200">
                        <a:solidFill>
                          <a:srgbClr val="333333"/>
                        </a:solidFill>
                        <a:highlight>
                          <a:srgbClr val="FFFFFF"/>
                        </a:highlight>
                        <a:latin typeface="Helvetica Neue"/>
                        <a:ea typeface="Helvetica Neue"/>
                        <a:cs typeface="Helvetica Neue"/>
                        <a:sym typeface="Helvetica Neue"/>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sp>
        <p:nvSpPr>
          <p:cNvPr id="99" name="Google Shape;99;p15"/>
          <p:cNvSpPr txBox="1"/>
          <p:nvPr>
            <p:ph idx="1" type="body"/>
          </p:nvPr>
        </p:nvSpPr>
        <p:spPr>
          <a:xfrm>
            <a:off x="5932825" y="3024800"/>
            <a:ext cx="2329500" cy="607800"/>
          </a:xfrm>
          <a:prstGeom prst="rect">
            <a:avLst/>
          </a:prstGeom>
        </p:spPr>
        <p:txBody>
          <a:bodyPr anchorCtr="0" anchor="t" bIns="91425" lIns="91425" spcFirstLastPara="1" rIns="91425" wrap="square" tIns="91425">
            <a:normAutofit fontScale="77500" lnSpcReduction="20000"/>
          </a:bodyPr>
          <a:lstStyle/>
          <a:p>
            <a:pPr indent="0" lvl="0" marL="0" rtl="0" algn="ctr">
              <a:spcBef>
                <a:spcPts val="0"/>
              </a:spcBef>
              <a:spcAft>
                <a:spcPts val="1200"/>
              </a:spcAft>
              <a:buNone/>
            </a:pPr>
            <a:r>
              <a:rPr lang="en-GB"/>
              <a:t>4 processes and n = 1000000</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Distribution of work (block cyclic round robin)</a:t>
            </a:r>
            <a:endParaRPr/>
          </a:p>
        </p:txBody>
      </p:sp>
      <p:sp>
        <p:nvSpPr>
          <p:cNvPr id="105" name="Google Shape;105;p16"/>
          <p:cNvSpPr txBox="1"/>
          <p:nvPr>
            <p:ph idx="1" type="body"/>
          </p:nvPr>
        </p:nvSpPr>
        <p:spPr>
          <a:xfrm>
            <a:off x="311700" y="1192550"/>
            <a:ext cx="5112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Instead of 4 big blocks, cut the work into smaller slices</a:t>
            </a:r>
            <a:endParaRPr/>
          </a:p>
          <a:p>
            <a:pPr indent="-342900" lvl="0" marL="457200" rtl="0" algn="l">
              <a:spcBef>
                <a:spcPts val="0"/>
              </a:spcBef>
              <a:spcAft>
                <a:spcPts val="0"/>
              </a:spcAft>
              <a:buSzPts val="1800"/>
              <a:buChar char="-"/>
            </a:pPr>
            <a:r>
              <a:rPr lang="en-GB"/>
              <a:t> This balances the workload, each rank receives a similar mix of small and large numbers, rather than one rank being left with the expensive high end of the range.</a:t>
            </a:r>
            <a:endParaRPr/>
          </a:p>
          <a:p>
            <a:pPr indent="-342900" lvl="0" marL="457200" rtl="0" algn="l">
              <a:spcBef>
                <a:spcPts val="0"/>
              </a:spcBef>
              <a:spcAft>
                <a:spcPts val="0"/>
              </a:spcAft>
              <a:buSzPts val="1800"/>
              <a:buChar char="-"/>
            </a:pPr>
            <a:r>
              <a:rPr lang="en-GB"/>
              <a:t>This reduces the worst case difference of work done between two ranks from 2.28x to 1.12x</a:t>
            </a:r>
            <a:endParaRPr/>
          </a:p>
        </p:txBody>
      </p:sp>
      <p:graphicFrame>
        <p:nvGraphicFramePr>
          <p:cNvPr id="106" name="Google Shape;106;p16"/>
          <p:cNvGraphicFramePr/>
          <p:nvPr/>
        </p:nvGraphicFramePr>
        <p:xfrm>
          <a:off x="5751050" y="976400"/>
          <a:ext cx="3000000" cy="3000000"/>
        </p:xfrm>
        <a:graphic>
          <a:graphicData uri="http://schemas.openxmlformats.org/drawingml/2006/table">
            <a:tbl>
              <a:tblPr>
                <a:noFill/>
                <a:tableStyleId>{8D1B0170-831F-40A8-A691-63FB0E0BD69B}</a:tableStyleId>
              </a:tblPr>
              <a:tblGrid>
                <a:gridCol w="1280650"/>
                <a:gridCol w="1280650"/>
              </a:tblGrid>
              <a:tr h="358250">
                <a:tc>
                  <a:txBody>
                    <a:bodyPr/>
                    <a:lstStyle/>
                    <a:p>
                      <a:pPr indent="0" lvl="0" marL="0" rtl="0" algn="l">
                        <a:spcBef>
                          <a:spcPts val="0"/>
                        </a:spcBef>
                        <a:spcAft>
                          <a:spcPts val="0"/>
                        </a:spcAft>
                        <a:buNone/>
                      </a:pPr>
                      <a:r>
                        <a:rPr lang="en-GB"/>
                        <a:t>Rank</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Work done</a:t>
                      </a:r>
                      <a:endParaRPr sz="1200">
                        <a:solidFill>
                          <a:srgbClr val="333333"/>
                        </a:solidFill>
                        <a:highlight>
                          <a:srgbClr val="FFFFFF"/>
                        </a:highlight>
                        <a:latin typeface="Helvetica Neue"/>
                        <a:ea typeface="Helvetica Neue"/>
                        <a:cs typeface="Helvetica Neue"/>
                        <a:sym typeface="Helvetica Neue"/>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58250">
                <a:tc>
                  <a:txBody>
                    <a:bodyPr/>
                    <a:lstStyle/>
                    <a:p>
                      <a:pPr indent="0" lvl="0" marL="0" rtl="0" algn="l">
                        <a:spcBef>
                          <a:spcPts val="0"/>
                        </a:spcBef>
                        <a:spcAft>
                          <a:spcPts val="0"/>
                        </a:spcAft>
                        <a:buNone/>
                      </a:pPr>
                      <a:r>
                        <a:rPr lang="en-GB"/>
                        <a:t>0</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8,012,598</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58250">
                <a:tc>
                  <a:txBody>
                    <a:bodyPr/>
                    <a:lstStyle/>
                    <a:p>
                      <a:pPr indent="0" lvl="0" marL="0" rtl="0" algn="l">
                        <a:spcBef>
                          <a:spcPts val="0"/>
                        </a:spcBef>
                        <a:spcAft>
                          <a:spcPts val="0"/>
                        </a:spcAft>
                        <a:buNone/>
                      </a:pPr>
                      <a:r>
                        <a:rPr lang="en-GB"/>
                        <a:t>1</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8,411,874</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58250">
                <a:tc>
                  <a:txBody>
                    <a:bodyPr/>
                    <a:lstStyle/>
                    <a:p>
                      <a:pPr indent="0" lvl="0" marL="0" rtl="0" algn="l">
                        <a:spcBef>
                          <a:spcPts val="0"/>
                        </a:spcBef>
                        <a:spcAft>
                          <a:spcPts val="0"/>
                        </a:spcAft>
                        <a:buNone/>
                      </a:pPr>
                      <a:r>
                        <a:rPr lang="en-GB"/>
                        <a:t>2</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8,703,415</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58250">
                <a:tc>
                  <a:txBody>
                    <a:bodyPr/>
                    <a:lstStyle/>
                    <a:p>
                      <a:pPr indent="0" lvl="0" marL="0" rtl="0" algn="l">
                        <a:spcBef>
                          <a:spcPts val="0"/>
                        </a:spcBef>
                        <a:spcAft>
                          <a:spcPts val="0"/>
                        </a:spcAft>
                        <a:buNone/>
                      </a:pPr>
                      <a:r>
                        <a:rPr lang="en-GB"/>
                        <a:t>3</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333333"/>
                          </a:solidFill>
                          <a:highlight>
                            <a:srgbClr val="FFFFFF"/>
                          </a:highlight>
                          <a:latin typeface="Helvetica Neue"/>
                          <a:ea typeface="Helvetica Neue"/>
                          <a:cs typeface="Helvetica Neue"/>
                          <a:sym typeface="Helvetica Neue"/>
                        </a:rPr>
                        <a:t>8,972,674</a:t>
                      </a:r>
                      <a:endParaRPr sz="1200">
                        <a:solidFill>
                          <a:srgbClr val="333333"/>
                        </a:solidFill>
                        <a:highlight>
                          <a:srgbClr val="FFFFFF"/>
                        </a:highlight>
                        <a:latin typeface="Helvetica Neue"/>
                        <a:ea typeface="Helvetica Neue"/>
                        <a:cs typeface="Helvetica Neue"/>
                        <a:sym typeface="Helvetica Neue"/>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sp>
        <p:nvSpPr>
          <p:cNvPr id="107" name="Google Shape;107;p16"/>
          <p:cNvSpPr txBox="1"/>
          <p:nvPr>
            <p:ph idx="1" type="body"/>
          </p:nvPr>
        </p:nvSpPr>
        <p:spPr>
          <a:xfrm>
            <a:off x="5932825" y="3024800"/>
            <a:ext cx="2329500" cy="607800"/>
          </a:xfrm>
          <a:prstGeom prst="rect">
            <a:avLst/>
          </a:prstGeom>
        </p:spPr>
        <p:txBody>
          <a:bodyPr anchorCtr="0" anchor="t" bIns="91425" lIns="91425" spcFirstLastPara="1" rIns="91425" wrap="square" tIns="91425">
            <a:normAutofit fontScale="77500" lnSpcReduction="20000"/>
          </a:bodyPr>
          <a:lstStyle/>
          <a:p>
            <a:pPr indent="0" lvl="0" marL="0" rtl="0" algn="ctr">
              <a:spcBef>
                <a:spcPts val="0"/>
              </a:spcBef>
              <a:spcAft>
                <a:spcPts val="1200"/>
              </a:spcAft>
              <a:buNone/>
            </a:pPr>
            <a:r>
              <a:rPr lang="en-GB"/>
              <a:t>4 processes and n = 1000000</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What could we have used instead?</a:t>
            </a:r>
            <a:endParaRPr/>
          </a:p>
        </p:txBody>
      </p:sp>
      <p:sp>
        <p:nvSpPr>
          <p:cNvPr id="113" name="Google Shape;113;p17"/>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Why did we use 8 slices per process? Why not more?</a:t>
            </a:r>
            <a:endParaRPr/>
          </a:p>
          <a:p>
            <a:pPr indent="-342900" lvl="0" marL="457200" rtl="0" algn="l">
              <a:spcBef>
                <a:spcPts val="1200"/>
              </a:spcBef>
              <a:spcAft>
                <a:spcPts val="0"/>
              </a:spcAft>
              <a:buSzPts val="1800"/>
              <a:buChar char="-"/>
            </a:pPr>
            <a:r>
              <a:rPr lang="en-GB"/>
              <a:t>The law of diminishing returns applies here, and the amount the work evens out reduces as you go up to 16 or 64 slices. </a:t>
            </a:r>
            <a:endParaRPr/>
          </a:p>
          <a:p>
            <a:pPr indent="0" lvl="0" marL="0" rtl="0" algn="l">
              <a:spcBef>
                <a:spcPts val="1200"/>
              </a:spcBef>
              <a:spcAft>
                <a:spcPts val="0"/>
              </a:spcAft>
              <a:buNone/>
            </a:pPr>
            <a:r>
              <a:rPr lang="en-GB"/>
              <a:t>Why use blocks at all? Why not use round robin on the individual numbers, </a:t>
            </a:r>
            <a:r>
              <a:rPr lang="en-GB"/>
              <a:t>instead</a:t>
            </a:r>
            <a:r>
              <a:rPr lang="en-GB"/>
              <a:t> of slices?</a:t>
            </a:r>
            <a:endParaRPr/>
          </a:p>
          <a:p>
            <a:pPr indent="-342900" lvl="0" marL="457200" rtl="0" algn="l">
              <a:spcBef>
                <a:spcPts val="1200"/>
              </a:spcBef>
              <a:spcAft>
                <a:spcPts val="0"/>
              </a:spcAft>
              <a:buSzPts val="1800"/>
              <a:buChar char="-"/>
            </a:pPr>
            <a:r>
              <a:rPr lang="en-GB"/>
              <a:t>If a </a:t>
            </a:r>
            <a:r>
              <a:rPr lang="en-GB"/>
              <a:t>certain number of processes are used, some processes can end up with numbers that are only multiples of 2, or other numbers, meaning that some processes can essentially find no/very little primes.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What could we have used instead?</a:t>
            </a:r>
            <a:endParaRPr/>
          </a:p>
        </p:txBody>
      </p:sp>
      <p:sp>
        <p:nvSpPr>
          <p:cNvPr id="119" name="Google Shape;119;p18"/>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GB" sz="1600"/>
              <a:t>Is there any other load balancer than cyclic round robin?</a:t>
            </a:r>
            <a:endParaRPr sz="1600"/>
          </a:p>
          <a:p>
            <a:pPr indent="-330200" lvl="0" marL="457200" rtl="0" algn="l">
              <a:lnSpc>
                <a:spcPct val="105000"/>
              </a:lnSpc>
              <a:spcBef>
                <a:spcPts val="1200"/>
              </a:spcBef>
              <a:spcAft>
                <a:spcPts val="0"/>
              </a:spcAft>
              <a:buSzPts val="1600"/>
              <a:buChar char="-"/>
            </a:pPr>
            <a:r>
              <a:rPr lang="en-GB" sz="1600"/>
              <a:t>Yes, there are methods such as folded/</a:t>
            </a:r>
            <a:r>
              <a:rPr lang="en-GB" sz="1600"/>
              <a:t>reverse</a:t>
            </a:r>
            <a:r>
              <a:rPr lang="en-GB" sz="1600"/>
              <a:t> pairing and dynamic self-scheduling, however we did not believe that these methods were necessary, as the block cyclic round robin was fast enough for how simple it was, these other methods are unnecessarily complex for little or no speed up.</a:t>
            </a:r>
            <a:endParaRPr sz="1600"/>
          </a:p>
          <a:p>
            <a:pPr indent="0" lvl="0" marL="0" rtl="0" algn="l">
              <a:lnSpc>
                <a:spcPct val="105000"/>
              </a:lnSpc>
              <a:spcBef>
                <a:spcPts val="1200"/>
              </a:spcBef>
              <a:spcAft>
                <a:spcPts val="0"/>
              </a:spcAft>
              <a:buNone/>
            </a:pPr>
            <a:r>
              <a:rPr lang="en-GB" sz="1600"/>
              <a:t>Could any other methods of prime searching be used?</a:t>
            </a:r>
            <a:endParaRPr sz="1600"/>
          </a:p>
          <a:p>
            <a:pPr indent="-330200" lvl="0" marL="457200" rtl="0" algn="l">
              <a:lnSpc>
                <a:spcPct val="105000"/>
              </a:lnSpc>
              <a:spcBef>
                <a:spcPts val="1200"/>
              </a:spcBef>
              <a:spcAft>
                <a:spcPts val="0"/>
              </a:spcAft>
              <a:buSzPts val="1600"/>
              <a:buChar char="-"/>
            </a:pPr>
            <a:r>
              <a:rPr lang="en-GB" sz="1600"/>
              <a:t>The </a:t>
            </a:r>
            <a:r>
              <a:rPr lang="en-GB" sz="1600"/>
              <a:t>Sieve of Eratosthenes was mentioned in our feedback for Lab 1, however, we already had a prime searching function that used a square root upper bound, so we wanted to reuse it for apples to apples comparison’s sake.</a:t>
            </a:r>
            <a:endParaRPr sz="16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Speed up with varying no. of processors</a:t>
            </a:r>
            <a:endParaRPr/>
          </a:p>
        </p:txBody>
      </p:sp>
      <p:sp>
        <p:nvSpPr>
          <p:cNvPr id="125" name="Google Shape;125;p19"/>
          <p:cNvSpPr txBox="1"/>
          <p:nvPr>
            <p:ph idx="1" type="body"/>
          </p:nvPr>
        </p:nvSpPr>
        <p:spPr>
          <a:xfrm>
            <a:off x="5145375" y="1066400"/>
            <a:ext cx="3687000" cy="3502500"/>
          </a:xfrm>
          <a:prstGeom prst="rect">
            <a:avLst/>
          </a:prstGeom>
        </p:spPr>
        <p:txBody>
          <a:bodyPr anchorCtr="0" anchor="t" bIns="91425" lIns="91425" spcFirstLastPara="1" rIns="91425" wrap="square" tIns="91425">
            <a:normAutofit/>
          </a:bodyPr>
          <a:lstStyle/>
          <a:p>
            <a:pPr indent="0" lvl="0" marL="0" rtl="0" algn="l">
              <a:lnSpc>
                <a:spcPct val="95000"/>
              </a:lnSpc>
              <a:spcBef>
                <a:spcPts val="0"/>
              </a:spcBef>
              <a:spcAft>
                <a:spcPts val="1200"/>
              </a:spcAft>
              <a:buNone/>
            </a:pPr>
            <a:r>
              <a:rPr lang="en-GB" sz="1400"/>
              <a:t>When processors used is within 1-4, the speedup is reasonable, staying above  ⅔ efficiency, even if it does drop off as processors approaches 4. This drop off is most likely due to Amdahl’s law. However, when the processors used is greater than 4, the speedup actually gets worse. This is </a:t>
            </a:r>
            <a:r>
              <a:rPr lang="en-GB" sz="1400"/>
              <a:t>because</a:t>
            </a:r>
            <a:r>
              <a:rPr lang="en-GB" sz="1400"/>
              <a:t> we have to make use of the efficiency cores, which have a much lower clock speed and processing power than the super cores, and the communication and scheduling of these processors causes overhead.</a:t>
            </a:r>
            <a:endParaRPr sz="1400"/>
          </a:p>
        </p:txBody>
      </p:sp>
      <p:graphicFrame>
        <p:nvGraphicFramePr>
          <p:cNvPr id="126" name="Google Shape;126;p19"/>
          <p:cNvGraphicFramePr/>
          <p:nvPr/>
        </p:nvGraphicFramePr>
        <p:xfrm>
          <a:off x="311700" y="1066400"/>
          <a:ext cx="3000000" cy="3000000"/>
        </p:xfrm>
        <a:graphic>
          <a:graphicData uri="http://schemas.openxmlformats.org/drawingml/2006/table">
            <a:tbl>
              <a:tblPr>
                <a:noFill/>
                <a:tableStyleId>{8D1B0170-831F-40A8-A691-63FB0E0BD69B}</a:tableStyleId>
              </a:tblPr>
              <a:tblGrid>
                <a:gridCol w="1130400"/>
                <a:gridCol w="1130400"/>
                <a:gridCol w="1130400"/>
                <a:gridCol w="1130400"/>
              </a:tblGrid>
              <a:tr h="426150">
                <a:tc>
                  <a:txBody>
                    <a:bodyPr/>
                    <a:lstStyle/>
                    <a:p>
                      <a:pPr indent="0" lvl="0" marL="0" rtl="0" algn="l">
                        <a:spcBef>
                          <a:spcPts val="0"/>
                        </a:spcBef>
                        <a:spcAft>
                          <a:spcPts val="0"/>
                        </a:spcAft>
                        <a:buNone/>
                      </a:pPr>
                      <a:r>
                        <a:rPr lang="en-GB" sz="1000"/>
                        <a:t>p</a:t>
                      </a:r>
                      <a:r>
                        <a:rPr lang="en-GB" sz="1000"/>
                        <a:t>rocessors </a:t>
                      </a:r>
                      <a:endParaRPr sz="1000"/>
                    </a:p>
                  </a:txBody>
                  <a:tcPr marT="91425" marB="91425" marR="91425" marL="91425"/>
                </a:tc>
                <a:tc>
                  <a:txBody>
                    <a:bodyPr/>
                    <a:lstStyle/>
                    <a:p>
                      <a:pPr indent="0" lvl="0" marL="0" rtl="0" algn="l">
                        <a:spcBef>
                          <a:spcPts val="0"/>
                        </a:spcBef>
                        <a:spcAft>
                          <a:spcPts val="0"/>
                        </a:spcAft>
                        <a:buNone/>
                      </a:pPr>
                      <a:r>
                        <a:rPr lang="en-GB" sz="1000"/>
                        <a:t>Time (secs)</a:t>
                      </a:r>
                      <a:endParaRPr sz="1000"/>
                    </a:p>
                    <a:p>
                      <a:pPr indent="0" lvl="0" marL="0" rtl="0" algn="l">
                        <a:spcBef>
                          <a:spcPts val="0"/>
                        </a:spcBef>
                        <a:spcAft>
                          <a:spcPts val="0"/>
                        </a:spcAft>
                        <a:buNone/>
                      </a:pPr>
                      <a:r>
                        <a:t/>
                      </a:r>
                      <a:endParaRPr sz="1000"/>
                    </a:p>
                  </a:txBody>
                  <a:tcPr marT="91425" marB="91425" marR="91425" marL="91425"/>
                </a:tc>
                <a:tc>
                  <a:txBody>
                    <a:bodyPr/>
                    <a:lstStyle/>
                    <a:p>
                      <a:pPr indent="0" lvl="0" marL="0" rtl="0" algn="l">
                        <a:spcBef>
                          <a:spcPts val="0"/>
                        </a:spcBef>
                        <a:spcAft>
                          <a:spcPts val="0"/>
                        </a:spcAft>
                        <a:buNone/>
                      </a:pPr>
                      <a:r>
                        <a:rPr lang="en-GB" sz="1000"/>
                        <a:t>s</a:t>
                      </a:r>
                      <a:r>
                        <a:rPr lang="en-GB" sz="1000"/>
                        <a:t>peedup</a:t>
                      </a:r>
                      <a:endParaRPr sz="1000"/>
                    </a:p>
                  </a:txBody>
                  <a:tcPr marT="91425" marB="91425" marR="91425" marL="91425"/>
                </a:tc>
                <a:tc>
                  <a:txBody>
                    <a:bodyPr/>
                    <a:lstStyle/>
                    <a:p>
                      <a:pPr indent="0" lvl="0" marL="0" rtl="0" algn="l">
                        <a:spcBef>
                          <a:spcPts val="0"/>
                        </a:spcBef>
                        <a:spcAft>
                          <a:spcPts val="0"/>
                        </a:spcAft>
                        <a:buNone/>
                      </a:pPr>
                      <a:r>
                        <a:rPr lang="en-GB" sz="1000"/>
                        <a:t>efficiency</a:t>
                      </a:r>
                      <a:endParaRPr sz="1000"/>
                    </a:p>
                  </a:txBody>
                  <a:tcPr marT="91425" marB="91425" marR="91425" marL="91425"/>
                </a:tc>
              </a:tr>
              <a:tr h="277000">
                <a:tc>
                  <a:txBody>
                    <a:bodyPr/>
                    <a:lstStyle/>
                    <a:p>
                      <a:pPr indent="0" lvl="0" marL="0" rtl="0" algn="l">
                        <a:spcBef>
                          <a:spcPts val="0"/>
                        </a:spcBef>
                        <a:spcAft>
                          <a:spcPts val="0"/>
                        </a:spcAft>
                        <a:buNone/>
                      </a:pPr>
                      <a:r>
                        <a:rPr lang="en-GB" sz="1000"/>
                        <a:t>1</a:t>
                      </a:r>
                      <a:endParaRPr sz="1000"/>
                    </a:p>
                  </a:txBody>
                  <a:tcPr marT="91425" marB="91425" marR="91425" marL="91425"/>
                </a:tc>
                <a:tc>
                  <a:txBody>
                    <a:bodyPr/>
                    <a:lstStyle/>
                    <a:p>
                      <a:pPr indent="0" lvl="0" marL="0" rtl="0" algn="l">
                        <a:spcBef>
                          <a:spcPts val="0"/>
                        </a:spcBef>
                        <a:spcAft>
                          <a:spcPts val="0"/>
                        </a:spcAft>
                        <a:buNone/>
                      </a:pPr>
                      <a:r>
                        <a:rPr lang="en-GB" sz="1000"/>
                        <a:t>0.4424</a:t>
                      </a:r>
                      <a:endParaRPr sz="1000"/>
                    </a:p>
                  </a:txBody>
                  <a:tcPr marT="91425" marB="91425" marR="91425" marL="91425"/>
                </a:tc>
                <a:tc>
                  <a:txBody>
                    <a:bodyPr/>
                    <a:lstStyle/>
                    <a:p>
                      <a:pPr indent="0" lvl="0" marL="0" rtl="0" algn="l">
                        <a:spcBef>
                          <a:spcPts val="0"/>
                        </a:spcBef>
                        <a:spcAft>
                          <a:spcPts val="0"/>
                        </a:spcAft>
                        <a:buNone/>
                      </a:pPr>
                      <a:r>
                        <a:rPr lang="en-GB" sz="1000"/>
                        <a:t>1x</a:t>
                      </a:r>
                      <a:endParaRPr sz="1000"/>
                    </a:p>
                  </a:txBody>
                  <a:tcPr marT="91425" marB="91425" marR="91425" marL="91425"/>
                </a:tc>
                <a:tc>
                  <a:txBody>
                    <a:bodyPr/>
                    <a:lstStyle/>
                    <a:p>
                      <a:pPr indent="0" lvl="0" marL="0" rtl="0" algn="l">
                        <a:spcBef>
                          <a:spcPts val="0"/>
                        </a:spcBef>
                        <a:spcAft>
                          <a:spcPts val="0"/>
                        </a:spcAft>
                        <a:buNone/>
                      </a:pPr>
                      <a:r>
                        <a:rPr lang="en-GB" sz="1000"/>
                        <a:t>100%</a:t>
                      </a:r>
                      <a:endParaRPr sz="1000"/>
                    </a:p>
                  </a:txBody>
                  <a:tcPr marT="91425" marB="91425" marR="91425" marL="91425"/>
                </a:tc>
              </a:tr>
              <a:tr h="277000">
                <a:tc>
                  <a:txBody>
                    <a:bodyPr/>
                    <a:lstStyle/>
                    <a:p>
                      <a:pPr indent="0" lvl="0" marL="0" rtl="0" algn="l">
                        <a:spcBef>
                          <a:spcPts val="0"/>
                        </a:spcBef>
                        <a:spcAft>
                          <a:spcPts val="0"/>
                        </a:spcAft>
                        <a:buNone/>
                      </a:pPr>
                      <a:r>
                        <a:rPr lang="en-GB" sz="1000"/>
                        <a:t>2</a:t>
                      </a:r>
                      <a:endParaRPr sz="1000"/>
                    </a:p>
                  </a:txBody>
                  <a:tcPr marT="91425" marB="91425" marR="91425" marL="91425"/>
                </a:tc>
                <a:tc>
                  <a:txBody>
                    <a:bodyPr/>
                    <a:lstStyle/>
                    <a:p>
                      <a:pPr indent="0" lvl="0" marL="0" rtl="0" algn="l">
                        <a:spcBef>
                          <a:spcPts val="0"/>
                        </a:spcBef>
                        <a:spcAft>
                          <a:spcPts val="0"/>
                        </a:spcAft>
                        <a:buNone/>
                      </a:pPr>
                      <a:r>
                        <a:rPr lang="en-GB" sz="1000"/>
                        <a:t>0.2568</a:t>
                      </a:r>
                      <a:endParaRPr sz="1000"/>
                    </a:p>
                  </a:txBody>
                  <a:tcPr marT="91425" marB="91425" marR="91425" marL="91425"/>
                </a:tc>
                <a:tc>
                  <a:txBody>
                    <a:bodyPr/>
                    <a:lstStyle/>
                    <a:p>
                      <a:pPr indent="0" lvl="0" marL="0" rtl="0" algn="l">
                        <a:spcBef>
                          <a:spcPts val="0"/>
                        </a:spcBef>
                        <a:spcAft>
                          <a:spcPts val="0"/>
                        </a:spcAft>
                        <a:buNone/>
                      </a:pPr>
                      <a:r>
                        <a:rPr lang="en-GB" sz="1000"/>
                        <a:t>1.72x</a:t>
                      </a:r>
                      <a:endParaRPr sz="1000"/>
                    </a:p>
                  </a:txBody>
                  <a:tcPr marT="91425" marB="91425" marR="91425" marL="91425"/>
                </a:tc>
                <a:tc>
                  <a:txBody>
                    <a:bodyPr/>
                    <a:lstStyle/>
                    <a:p>
                      <a:pPr indent="0" lvl="0" marL="0" rtl="0" algn="l">
                        <a:spcBef>
                          <a:spcPts val="0"/>
                        </a:spcBef>
                        <a:spcAft>
                          <a:spcPts val="0"/>
                        </a:spcAft>
                        <a:buNone/>
                      </a:pPr>
                      <a:r>
                        <a:rPr lang="en-GB" sz="1000"/>
                        <a:t>86.1%</a:t>
                      </a:r>
                      <a:endParaRPr sz="1000"/>
                    </a:p>
                  </a:txBody>
                  <a:tcPr marT="91425" marB="91425" marR="91425" marL="91425"/>
                </a:tc>
              </a:tr>
              <a:tr h="277000">
                <a:tc>
                  <a:txBody>
                    <a:bodyPr/>
                    <a:lstStyle/>
                    <a:p>
                      <a:pPr indent="0" lvl="0" marL="0" rtl="0" algn="l">
                        <a:spcBef>
                          <a:spcPts val="0"/>
                        </a:spcBef>
                        <a:spcAft>
                          <a:spcPts val="0"/>
                        </a:spcAft>
                        <a:buNone/>
                      </a:pPr>
                      <a:r>
                        <a:rPr lang="en-GB" sz="1000"/>
                        <a:t>3</a:t>
                      </a:r>
                      <a:endParaRPr sz="1000"/>
                    </a:p>
                  </a:txBody>
                  <a:tcPr marT="91425" marB="91425" marR="91425" marL="91425"/>
                </a:tc>
                <a:tc>
                  <a:txBody>
                    <a:bodyPr/>
                    <a:lstStyle/>
                    <a:p>
                      <a:pPr indent="0" lvl="0" marL="0" rtl="0" algn="l">
                        <a:spcBef>
                          <a:spcPts val="0"/>
                        </a:spcBef>
                        <a:spcAft>
                          <a:spcPts val="0"/>
                        </a:spcAft>
                        <a:buNone/>
                      </a:pPr>
                      <a:r>
                        <a:rPr lang="en-GB" sz="1000"/>
                        <a:t>0.1952</a:t>
                      </a:r>
                      <a:endParaRPr sz="1000"/>
                    </a:p>
                  </a:txBody>
                  <a:tcPr marT="91425" marB="91425" marR="91425" marL="91425"/>
                </a:tc>
                <a:tc>
                  <a:txBody>
                    <a:bodyPr/>
                    <a:lstStyle/>
                    <a:p>
                      <a:pPr indent="0" lvl="0" marL="0" rtl="0" algn="l">
                        <a:spcBef>
                          <a:spcPts val="0"/>
                        </a:spcBef>
                        <a:spcAft>
                          <a:spcPts val="0"/>
                        </a:spcAft>
                        <a:buNone/>
                      </a:pPr>
                      <a:r>
                        <a:rPr lang="en-GB" sz="1000"/>
                        <a:t>2.27x</a:t>
                      </a:r>
                      <a:endParaRPr sz="1000"/>
                    </a:p>
                  </a:txBody>
                  <a:tcPr marT="91425" marB="91425" marR="91425" marL="91425"/>
                </a:tc>
                <a:tc>
                  <a:txBody>
                    <a:bodyPr/>
                    <a:lstStyle/>
                    <a:p>
                      <a:pPr indent="0" lvl="0" marL="0" rtl="0" algn="l">
                        <a:spcBef>
                          <a:spcPts val="0"/>
                        </a:spcBef>
                        <a:spcAft>
                          <a:spcPts val="0"/>
                        </a:spcAft>
                        <a:buNone/>
                      </a:pPr>
                      <a:r>
                        <a:rPr lang="en-GB" sz="1000"/>
                        <a:t>75.6%</a:t>
                      </a:r>
                      <a:endParaRPr sz="1000"/>
                    </a:p>
                  </a:txBody>
                  <a:tcPr marT="91425" marB="91425" marR="91425" marL="91425"/>
                </a:tc>
              </a:tr>
              <a:tr h="277000">
                <a:tc>
                  <a:txBody>
                    <a:bodyPr/>
                    <a:lstStyle/>
                    <a:p>
                      <a:pPr indent="0" lvl="0" marL="0" rtl="0" algn="l">
                        <a:spcBef>
                          <a:spcPts val="0"/>
                        </a:spcBef>
                        <a:spcAft>
                          <a:spcPts val="0"/>
                        </a:spcAft>
                        <a:buNone/>
                      </a:pPr>
                      <a:r>
                        <a:rPr lang="en-GB" sz="1000"/>
                        <a:t>4</a:t>
                      </a:r>
                      <a:endParaRPr sz="1000"/>
                    </a:p>
                  </a:txBody>
                  <a:tcPr marT="91425" marB="91425" marR="91425" marL="91425"/>
                </a:tc>
                <a:tc>
                  <a:txBody>
                    <a:bodyPr/>
                    <a:lstStyle/>
                    <a:p>
                      <a:pPr indent="0" lvl="0" marL="0" rtl="0" algn="l">
                        <a:spcBef>
                          <a:spcPts val="0"/>
                        </a:spcBef>
                        <a:spcAft>
                          <a:spcPts val="0"/>
                        </a:spcAft>
                        <a:buNone/>
                      </a:pPr>
                      <a:r>
                        <a:rPr lang="en-GB" sz="1000"/>
                        <a:t>0.1616</a:t>
                      </a:r>
                      <a:endParaRPr sz="1000"/>
                    </a:p>
                  </a:txBody>
                  <a:tcPr marT="91425" marB="91425" marR="91425" marL="91425"/>
                </a:tc>
                <a:tc>
                  <a:txBody>
                    <a:bodyPr/>
                    <a:lstStyle/>
                    <a:p>
                      <a:pPr indent="0" lvl="0" marL="0" rtl="0" algn="l">
                        <a:spcBef>
                          <a:spcPts val="0"/>
                        </a:spcBef>
                        <a:spcAft>
                          <a:spcPts val="0"/>
                        </a:spcAft>
                        <a:buNone/>
                      </a:pPr>
                      <a:r>
                        <a:rPr lang="en-GB" sz="1000"/>
                        <a:t>2.74x</a:t>
                      </a:r>
                      <a:endParaRPr sz="1000"/>
                    </a:p>
                  </a:txBody>
                  <a:tcPr marT="91425" marB="91425" marR="91425" marL="91425"/>
                </a:tc>
                <a:tc>
                  <a:txBody>
                    <a:bodyPr/>
                    <a:lstStyle/>
                    <a:p>
                      <a:pPr indent="0" lvl="0" marL="0" rtl="0" algn="l">
                        <a:spcBef>
                          <a:spcPts val="0"/>
                        </a:spcBef>
                        <a:spcAft>
                          <a:spcPts val="0"/>
                        </a:spcAft>
                        <a:buNone/>
                      </a:pPr>
                      <a:r>
                        <a:rPr lang="en-GB" sz="1000"/>
                        <a:t>68.4%</a:t>
                      </a:r>
                      <a:endParaRPr sz="1000"/>
                    </a:p>
                  </a:txBody>
                  <a:tcPr marT="91425" marB="91425" marR="91425" marL="91425"/>
                </a:tc>
              </a:tr>
              <a:tr h="277000">
                <a:tc>
                  <a:txBody>
                    <a:bodyPr/>
                    <a:lstStyle/>
                    <a:p>
                      <a:pPr indent="0" lvl="0" marL="0" rtl="0" algn="l">
                        <a:spcBef>
                          <a:spcPts val="0"/>
                        </a:spcBef>
                        <a:spcAft>
                          <a:spcPts val="0"/>
                        </a:spcAft>
                        <a:buNone/>
                      </a:pPr>
                      <a:r>
                        <a:rPr lang="en-GB" sz="1000"/>
                        <a:t>6</a:t>
                      </a:r>
                      <a:endParaRPr sz="1000"/>
                    </a:p>
                  </a:txBody>
                  <a:tcPr marT="91425" marB="91425" marR="91425" marL="91425"/>
                </a:tc>
                <a:tc>
                  <a:txBody>
                    <a:bodyPr/>
                    <a:lstStyle/>
                    <a:p>
                      <a:pPr indent="0" lvl="0" marL="0" rtl="0" algn="l">
                        <a:spcBef>
                          <a:spcPts val="0"/>
                        </a:spcBef>
                        <a:spcAft>
                          <a:spcPts val="0"/>
                        </a:spcAft>
                        <a:buNone/>
                      </a:pPr>
                      <a:r>
                        <a:rPr lang="en-GB" sz="1000"/>
                        <a:t>0.1623</a:t>
                      </a:r>
                      <a:endParaRPr sz="1000"/>
                    </a:p>
                  </a:txBody>
                  <a:tcPr marT="91425" marB="91425" marR="91425" marL="91425"/>
                </a:tc>
                <a:tc>
                  <a:txBody>
                    <a:bodyPr/>
                    <a:lstStyle/>
                    <a:p>
                      <a:pPr indent="0" lvl="0" marL="0" rtl="0" algn="l">
                        <a:spcBef>
                          <a:spcPts val="0"/>
                        </a:spcBef>
                        <a:spcAft>
                          <a:spcPts val="0"/>
                        </a:spcAft>
                        <a:buNone/>
                      </a:pPr>
                      <a:r>
                        <a:rPr lang="en-GB" sz="1000"/>
                        <a:t>2.73x</a:t>
                      </a:r>
                      <a:endParaRPr sz="1000"/>
                    </a:p>
                  </a:txBody>
                  <a:tcPr marT="91425" marB="91425" marR="91425" marL="91425"/>
                </a:tc>
                <a:tc>
                  <a:txBody>
                    <a:bodyPr/>
                    <a:lstStyle/>
                    <a:p>
                      <a:pPr indent="0" lvl="0" marL="0" rtl="0" algn="l">
                        <a:spcBef>
                          <a:spcPts val="0"/>
                        </a:spcBef>
                        <a:spcAft>
                          <a:spcPts val="0"/>
                        </a:spcAft>
                        <a:buNone/>
                      </a:pPr>
                      <a:r>
                        <a:rPr lang="en-GB" sz="1000"/>
                        <a:t>45.4%</a:t>
                      </a:r>
                      <a:endParaRPr sz="1000"/>
                    </a:p>
                  </a:txBody>
                  <a:tcPr marT="91425" marB="91425" marR="91425" marL="91425"/>
                </a:tc>
              </a:tr>
              <a:tr h="277000">
                <a:tc>
                  <a:txBody>
                    <a:bodyPr/>
                    <a:lstStyle/>
                    <a:p>
                      <a:pPr indent="0" lvl="0" marL="0" rtl="0" algn="l">
                        <a:spcBef>
                          <a:spcPts val="0"/>
                        </a:spcBef>
                        <a:spcAft>
                          <a:spcPts val="0"/>
                        </a:spcAft>
                        <a:buNone/>
                      </a:pPr>
                      <a:r>
                        <a:rPr lang="en-GB" sz="1000"/>
                        <a:t>8</a:t>
                      </a:r>
                      <a:endParaRPr sz="1000"/>
                    </a:p>
                  </a:txBody>
                  <a:tcPr marT="91425" marB="91425" marR="91425" marL="91425"/>
                </a:tc>
                <a:tc>
                  <a:txBody>
                    <a:bodyPr/>
                    <a:lstStyle/>
                    <a:p>
                      <a:pPr indent="0" lvl="0" marL="0" rtl="0" algn="l">
                        <a:spcBef>
                          <a:spcPts val="0"/>
                        </a:spcBef>
                        <a:spcAft>
                          <a:spcPts val="0"/>
                        </a:spcAft>
                        <a:buNone/>
                      </a:pPr>
                      <a:r>
                        <a:rPr lang="en-GB" sz="1000"/>
                        <a:t>0.1656</a:t>
                      </a:r>
                      <a:endParaRPr sz="1000"/>
                    </a:p>
                  </a:txBody>
                  <a:tcPr marT="91425" marB="91425" marR="91425" marL="91425"/>
                </a:tc>
                <a:tc>
                  <a:txBody>
                    <a:bodyPr/>
                    <a:lstStyle/>
                    <a:p>
                      <a:pPr indent="0" lvl="0" marL="0" rtl="0" algn="l">
                        <a:spcBef>
                          <a:spcPts val="0"/>
                        </a:spcBef>
                        <a:spcAft>
                          <a:spcPts val="0"/>
                        </a:spcAft>
                        <a:buNone/>
                      </a:pPr>
                      <a:r>
                        <a:rPr lang="en-GB" sz="1000"/>
                        <a:t>2.67x</a:t>
                      </a:r>
                      <a:endParaRPr sz="1000"/>
                    </a:p>
                  </a:txBody>
                  <a:tcPr marT="91425" marB="91425" marR="91425" marL="91425"/>
                </a:tc>
                <a:tc>
                  <a:txBody>
                    <a:bodyPr/>
                    <a:lstStyle/>
                    <a:p>
                      <a:pPr indent="0" lvl="0" marL="0" rtl="0" algn="l">
                        <a:spcBef>
                          <a:spcPts val="0"/>
                        </a:spcBef>
                        <a:spcAft>
                          <a:spcPts val="0"/>
                        </a:spcAft>
                        <a:buNone/>
                      </a:pPr>
                      <a:r>
                        <a:rPr lang="en-GB" sz="1000"/>
                        <a:t>33.4%</a:t>
                      </a:r>
                      <a:endParaRPr sz="1000"/>
                    </a:p>
                  </a:txBody>
                  <a:tcPr marT="91425" marB="91425" marR="91425" marL="91425"/>
                </a:tc>
              </a:tr>
              <a:tr h="277000">
                <a:tc>
                  <a:txBody>
                    <a:bodyPr/>
                    <a:lstStyle/>
                    <a:p>
                      <a:pPr indent="0" lvl="0" marL="0" rtl="0" algn="l">
                        <a:spcBef>
                          <a:spcPts val="0"/>
                        </a:spcBef>
                        <a:spcAft>
                          <a:spcPts val="0"/>
                        </a:spcAft>
                        <a:buNone/>
                      </a:pPr>
                      <a:r>
                        <a:rPr lang="en-GB" sz="1000"/>
                        <a:t>12</a:t>
                      </a:r>
                      <a:endParaRPr sz="1000"/>
                    </a:p>
                  </a:txBody>
                  <a:tcPr marT="91425" marB="91425" marR="91425" marL="91425"/>
                </a:tc>
                <a:tc>
                  <a:txBody>
                    <a:bodyPr/>
                    <a:lstStyle/>
                    <a:p>
                      <a:pPr indent="0" lvl="0" marL="0" rtl="0" algn="l">
                        <a:spcBef>
                          <a:spcPts val="0"/>
                        </a:spcBef>
                        <a:spcAft>
                          <a:spcPts val="0"/>
                        </a:spcAft>
                        <a:buNone/>
                      </a:pPr>
                      <a:r>
                        <a:rPr lang="en-GB" sz="1000"/>
                        <a:t>0.1739</a:t>
                      </a:r>
                      <a:endParaRPr sz="1000"/>
                    </a:p>
                  </a:txBody>
                  <a:tcPr marT="91425" marB="91425" marR="91425" marL="91425"/>
                </a:tc>
                <a:tc>
                  <a:txBody>
                    <a:bodyPr/>
                    <a:lstStyle/>
                    <a:p>
                      <a:pPr indent="0" lvl="0" marL="0" rtl="0" algn="l">
                        <a:spcBef>
                          <a:spcPts val="0"/>
                        </a:spcBef>
                        <a:spcAft>
                          <a:spcPts val="0"/>
                        </a:spcAft>
                        <a:buNone/>
                      </a:pPr>
                      <a:r>
                        <a:rPr lang="en-GB" sz="1000"/>
                        <a:t>2.54x</a:t>
                      </a:r>
                      <a:endParaRPr sz="1000"/>
                    </a:p>
                  </a:txBody>
                  <a:tcPr marT="91425" marB="91425" marR="91425" marL="91425"/>
                </a:tc>
                <a:tc>
                  <a:txBody>
                    <a:bodyPr/>
                    <a:lstStyle/>
                    <a:p>
                      <a:pPr indent="0" lvl="0" marL="0" rtl="0" algn="l">
                        <a:spcBef>
                          <a:spcPts val="0"/>
                        </a:spcBef>
                        <a:spcAft>
                          <a:spcPts val="0"/>
                        </a:spcAft>
                        <a:buNone/>
                      </a:pPr>
                      <a:r>
                        <a:rPr lang="en-GB" sz="1000"/>
                        <a:t>25.4%</a:t>
                      </a:r>
                      <a:endParaRPr sz="1000"/>
                    </a:p>
                  </a:txBody>
                  <a:tcPr marT="91425" marB="91425" marR="91425" marL="91425"/>
                </a:tc>
              </a:tr>
            </a:tbl>
          </a:graphicData>
        </a:graphic>
      </p:graphicFrame>
      <p:sp>
        <p:nvSpPr>
          <p:cNvPr id="127" name="Google Shape;127;p19"/>
          <p:cNvSpPr txBox="1"/>
          <p:nvPr>
            <p:ph idx="1" type="body"/>
          </p:nvPr>
        </p:nvSpPr>
        <p:spPr>
          <a:xfrm>
            <a:off x="311700" y="4053025"/>
            <a:ext cx="4521600" cy="607800"/>
          </a:xfrm>
          <a:prstGeom prst="rect">
            <a:avLst/>
          </a:prstGeom>
        </p:spPr>
        <p:txBody>
          <a:bodyPr anchorCtr="0" anchor="t" bIns="91425" lIns="91425" spcFirstLastPara="1" rIns="91425" wrap="square" tIns="91425">
            <a:normAutofit fontScale="47500" lnSpcReduction="10000"/>
          </a:bodyPr>
          <a:lstStyle/>
          <a:p>
            <a:pPr indent="0" lvl="0" marL="0" rtl="0" algn="l">
              <a:spcBef>
                <a:spcPts val="0"/>
              </a:spcBef>
              <a:spcAft>
                <a:spcPts val="0"/>
              </a:spcAft>
              <a:buNone/>
            </a:pPr>
            <a:r>
              <a:rPr lang="en-GB"/>
              <a:t>Run on Apple M5 (4 super, 6 efficiency cores)</a:t>
            </a:r>
            <a:endParaRPr/>
          </a:p>
          <a:p>
            <a:pPr indent="0" lvl="0" marL="0" rtl="0" algn="l">
              <a:spcBef>
                <a:spcPts val="1200"/>
              </a:spcBef>
              <a:spcAft>
                <a:spcPts val="1200"/>
              </a:spcAft>
              <a:buNone/>
            </a:pPr>
            <a:r>
              <a:rPr lang="en-GB"/>
              <a:t>n=10,000,000</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Speed up with varying n</a:t>
            </a:r>
            <a:endParaRPr/>
          </a:p>
        </p:txBody>
      </p:sp>
      <p:sp>
        <p:nvSpPr>
          <p:cNvPr id="133" name="Google Shape;133;p20"/>
          <p:cNvSpPr txBox="1"/>
          <p:nvPr>
            <p:ph idx="1" type="body"/>
          </p:nvPr>
        </p:nvSpPr>
        <p:spPr>
          <a:xfrm>
            <a:off x="5145375" y="1066400"/>
            <a:ext cx="3687000" cy="3502500"/>
          </a:xfrm>
          <a:prstGeom prst="rect">
            <a:avLst/>
          </a:prstGeom>
        </p:spPr>
        <p:txBody>
          <a:bodyPr anchorCtr="0" anchor="t" bIns="91425" lIns="91425" spcFirstLastPara="1" rIns="91425" wrap="square" tIns="91425">
            <a:normAutofit/>
          </a:bodyPr>
          <a:lstStyle/>
          <a:p>
            <a:pPr indent="0" lvl="0" marL="0" rtl="0" algn="l">
              <a:lnSpc>
                <a:spcPct val="95000"/>
              </a:lnSpc>
              <a:spcBef>
                <a:spcPts val="0"/>
              </a:spcBef>
              <a:spcAft>
                <a:spcPts val="1200"/>
              </a:spcAft>
              <a:buNone/>
            </a:pPr>
            <a:r>
              <a:rPr lang="en-GB" sz="1600"/>
              <a:t>When n is below 10^6, the implementation is slower than having only 1 processor. This is because of the MPI overhead of having to schedule and run 4 processors at the same time. As n increases, the portion of work dedicated overhead, and actual prime computation flips, causing the speedup to gradually approach the theoretical limit of 4 (as n-&gt;∞, as n gets higher.</a:t>
            </a:r>
            <a:endParaRPr sz="1600"/>
          </a:p>
        </p:txBody>
      </p:sp>
      <p:graphicFrame>
        <p:nvGraphicFramePr>
          <p:cNvPr id="134" name="Google Shape;134;p20"/>
          <p:cNvGraphicFramePr/>
          <p:nvPr/>
        </p:nvGraphicFramePr>
        <p:xfrm>
          <a:off x="311700" y="1066400"/>
          <a:ext cx="3000000" cy="3000000"/>
        </p:xfrm>
        <a:graphic>
          <a:graphicData uri="http://schemas.openxmlformats.org/drawingml/2006/table">
            <a:tbl>
              <a:tblPr>
                <a:noFill/>
                <a:tableStyleId>{8D1B0170-831F-40A8-A691-63FB0E0BD69B}</a:tableStyleId>
              </a:tblPr>
              <a:tblGrid>
                <a:gridCol w="904325"/>
                <a:gridCol w="904325"/>
                <a:gridCol w="904325"/>
                <a:gridCol w="904325"/>
                <a:gridCol w="904325"/>
              </a:tblGrid>
              <a:tr h="475075">
                <a:tc>
                  <a:txBody>
                    <a:bodyPr/>
                    <a:lstStyle/>
                    <a:p>
                      <a:pPr indent="0" lvl="0" marL="0" rtl="0" algn="l">
                        <a:spcBef>
                          <a:spcPts val="0"/>
                        </a:spcBef>
                        <a:spcAft>
                          <a:spcPts val="0"/>
                        </a:spcAft>
                        <a:buNone/>
                      </a:pPr>
                      <a:r>
                        <a:rPr lang="en-GB" sz="1000"/>
                        <a:t>n</a:t>
                      </a:r>
                      <a:r>
                        <a:rPr lang="en-GB" sz="1000"/>
                        <a:t> </a:t>
                      </a:r>
                      <a:endParaRPr sz="1000"/>
                    </a:p>
                  </a:txBody>
                  <a:tcPr marT="91425" marB="91425" marR="91425" marL="91425"/>
                </a:tc>
                <a:tc>
                  <a:txBody>
                    <a:bodyPr/>
                    <a:lstStyle/>
                    <a:p>
                      <a:pPr indent="0" lvl="0" marL="0" rtl="0" algn="l">
                        <a:spcBef>
                          <a:spcPts val="0"/>
                        </a:spcBef>
                        <a:spcAft>
                          <a:spcPts val="0"/>
                        </a:spcAft>
                        <a:buNone/>
                      </a:pPr>
                      <a:r>
                        <a:rPr lang="en-GB" sz="1000"/>
                        <a:t>Time (secs)</a:t>
                      </a:r>
                      <a:endParaRPr sz="1000"/>
                    </a:p>
                    <a:p>
                      <a:pPr indent="0" lvl="0" marL="0" rtl="0" algn="l">
                        <a:spcBef>
                          <a:spcPts val="0"/>
                        </a:spcBef>
                        <a:spcAft>
                          <a:spcPts val="0"/>
                        </a:spcAft>
                        <a:buNone/>
                      </a:pPr>
                      <a:r>
                        <a:rPr lang="en-GB" sz="1000"/>
                        <a:t>1 procs</a:t>
                      </a:r>
                      <a:endParaRPr sz="1000"/>
                    </a:p>
                  </a:txBody>
                  <a:tcPr marT="91425" marB="91425" marR="91425" marL="91425"/>
                </a:tc>
                <a:tc>
                  <a:txBody>
                    <a:bodyPr/>
                    <a:lstStyle/>
                    <a:p>
                      <a:pPr indent="0" lvl="0" marL="0" rtl="0" algn="l">
                        <a:spcBef>
                          <a:spcPts val="0"/>
                        </a:spcBef>
                        <a:spcAft>
                          <a:spcPts val="0"/>
                        </a:spcAft>
                        <a:buNone/>
                      </a:pPr>
                      <a:r>
                        <a:rPr lang="en-GB" sz="1000"/>
                        <a:t>Time (secs)</a:t>
                      </a:r>
                      <a:br>
                        <a:rPr lang="en-GB" sz="1000"/>
                      </a:br>
                      <a:r>
                        <a:rPr lang="en-GB" sz="1000"/>
                        <a:t>4 procs</a:t>
                      </a:r>
                      <a:endParaRPr sz="1000"/>
                    </a:p>
                  </a:txBody>
                  <a:tcPr marT="91425" marB="91425" marR="91425" marL="91425"/>
                </a:tc>
                <a:tc>
                  <a:txBody>
                    <a:bodyPr/>
                    <a:lstStyle/>
                    <a:p>
                      <a:pPr indent="0" lvl="0" marL="0" rtl="0" algn="l">
                        <a:spcBef>
                          <a:spcPts val="0"/>
                        </a:spcBef>
                        <a:spcAft>
                          <a:spcPts val="0"/>
                        </a:spcAft>
                        <a:buNone/>
                      </a:pPr>
                      <a:r>
                        <a:rPr lang="en-GB" sz="1000"/>
                        <a:t>Speedup</a:t>
                      </a:r>
                      <a:endParaRPr sz="1000"/>
                    </a:p>
                  </a:txBody>
                  <a:tcPr marT="91425" marB="91425" marR="91425" marL="91425"/>
                </a:tc>
                <a:tc>
                  <a:txBody>
                    <a:bodyPr/>
                    <a:lstStyle/>
                    <a:p>
                      <a:pPr indent="0" lvl="0" marL="0" rtl="0" algn="l">
                        <a:spcBef>
                          <a:spcPts val="0"/>
                        </a:spcBef>
                        <a:spcAft>
                          <a:spcPts val="0"/>
                        </a:spcAft>
                        <a:buNone/>
                      </a:pPr>
                      <a:r>
                        <a:rPr lang="en-GB" sz="1000"/>
                        <a:t>efficiency</a:t>
                      </a:r>
                      <a:endParaRPr sz="1000"/>
                    </a:p>
                  </a:txBody>
                  <a:tcPr marT="91425" marB="91425" marR="91425" marL="91425"/>
                </a:tc>
              </a:tr>
              <a:tr h="386000">
                <a:tc>
                  <a:txBody>
                    <a:bodyPr/>
                    <a:lstStyle/>
                    <a:p>
                      <a:pPr indent="0" lvl="0" marL="0" rtl="0" algn="l">
                        <a:spcBef>
                          <a:spcPts val="0"/>
                        </a:spcBef>
                        <a:spcAft>
                          <a:spcPts val="0"/>
                        </a:spcAft>
                        <a:buNone/>
                      </a:pPr>
                      <a:r>
                        <a:rPr lang="en-GB" sz="1000"/>
                        <a:t>10^5</a:t>
                      </a:r>
                      <a:endParaRPr sz="1000"/>
                    </a:p>
                  </a:txBody>
                  <a:tcPr marT="91425" marB="91425" marR="91425" marL="91425"/>
                </a:tc>
                <a:tc>
                  <a:txBody>
                    <a:bodyPr/>
                    <a:lstStyle/>
                    <a:p>
                      <a:pPr indent="0" lvl="0" marL="0" rtl="0" algn="l">
                        <a:spcBef>
                          <a:spcPts val="0"/>
                        </a:spcBef>
                        <a:spcAft>
                          <a:spcPts val="0"/>
                        </a:spcAft>
                        <a:buNone/>
                      </a:pPr>
                      <a:r>
                        <a:rPr lang="en-GB" sz="1000"/>
                        <a:t>0.0013 s</a:t>
                      </a:r>
                      <a:endParaRPr sz="1000"/>
                    </a:p>
                  </a:txBody>
                  <a:tcPr marT="91425" marB="91425" marR="91425" marL="91425"/>
                </a:tc>
                <a:tc>
                  <a:txBody>
                    <a:bodyPr/>
                    <a:lstStyle/>
                    <a:p>
                      <a:pPr indent="0" lvl="0" marL="0" rtl="0" algn="l">
                        <a:spcBef>
                          <a:spcPts val="0"/>
                        </a:spcBef>
                        <a:spcAft>
                          <a:spcPts val="0"/>
                        </a:spcAft>
                        <a:buNone/>
                      </a:pPr>
                      <a:r>
                        <a:rPr lang="en-GB" sz="1000"/>
                        <a:t>0.0029 s </a:t>
                      </a:r>
                      <a:endParaRPr sz="1000"/>
                    </a:p>
                  </a:txBody>
                  <a:tcPr marT="91425" marB="91425" marR="91425" marL="91425"/>
                </a:tc>
                <a:tc>
                  <a:txBody>
                    <a:bodyPr/>
                    <a:lstStyle/>
                    <a:p>
                      <a:pPr indent="0" lvl="0" marL="0" rtl="0" algn="l">
                        <a:spcBef>
                          <a:spcPts val="0"/>
                        </a:spcBef>
                        <a:spcAft>
                          <a:spcPts val="0"/>
                        </a:spcAft>
                        <a:buNone/>
                      </a:pPr>
                      <a:r>
                        <a:rPr lang="en-GB" sz="1000"/>
                        <a:t>0.44x</a:t>
                      </a:r>
                      <a:endParaRPr sz="1000"/>
                    </a:p>
                  </a:txBody>
                  <a:tcPr marT="91425" marB="91425" marR="91425" marL="91425"/>
                </a:tc>
                <a:tc>
                  <a:txBody>
                    <a:bodyPr/>
                    <a:lstStyle/>
                    <a:p>
                      <a:pPr indent="0" lvl="0" marL="0" rtl="0" algn="l">
                        <a:spcBef>
                          <a:spcPts val="0"/>
                        </a:spcBef>
                        <a:spcAft>
                          <a:spcPts val="0"/>
                        </a:spcAft>
                        <a:buNone/>
                      </a:pPr>
                      <a:r>
                        <a:rPr lang="en-GB" sz="1000"/>
                        <a:t>11.1%</a:t>
                      </a:r>
                      <a:endParaRPr sz="1000"/>
                    </a:p>
                  </a:txBody>
                  <a:tcPr marT="91425" marB="91425" marR="91425" marL="91425"/>
                </a:tc>
              </a:tr>
              <a:tr h="386000">
                <a:tc>
                  <a:txBody>
                    <a:bodyPr/>
                    <a:lstStyle/>
                    <a:p>
                      <a:pPr indent="0" lvl="0" marL="0" rtl="0" algn="l">
                        <a:spcBef>
                          <a:spcPts val="0"/>
                        </a:spcBef>
                        <a:spcAft>
                          <a:spcPts val="0"/>
                        </a:spcAft>
                        <a:buNone/>
                      </a:pPr>
                      <a:r>
                        <a:rPr lang="en-GB" sz="1000"/>
                        <a:t>3*10^5</a:t>
                      </a:r>
                      <a:endParaRPr sz="1000"/>
                    </a:p>
                  </a:txBody>
                  <a:tcPr marT="91425" marB="91425" marR="91425" marL="91425"/>
                </a:tc>
                <a:tc>
                  <a:txBody>
                    <a:bodyPr/>
                    <a:lstStyle/>
                    <a:p>
                      <a:pPr indent="0" lvl="0" marL="0" rtl="0" algn="l">
                        <a:spcBef>
                          <a:spcPts val="0"/>
                        </a:spcBef>
                        <a:spcAft>
                          <a:spcPts val="0"/>
                        </a:spcAft>
                        <a:buNone/>
                      </a:pPr>
                      <a:r>
                        <a:rPr lang="en-GB" sz="1000"/>
                        <a:t>0.0044 s</a:t>
                      </a:r>
                      <a:endParaRPr sz="1000"/>
                    </a:p>
                  </a:txBody>
                  <a:tcPr marT="91425" marB="91425" marR="91425" marL="91425"/>
                </a:tc>
                <a:tc>
                  <a:txBody>
                    <a:bodyPr/>
                    <a:lstStyle/>
                    <a:p>
                      <a:pPr indent="0" lvl="0" marL="0" rtl="0" algn="l">
                        <a:spcBef>
                          <a:spcPts val="0"/>
                        </a:spcBef>
                        <a:spcAft>
                          <a:spcPts val="0"/>
                        </a:spcAft>
                        <a:buNone/>
                      </a:pPr>
                      <a:r>
                        <a:rPr lang="en-GB" sz="1000"/>
                        <a:t>0.0067 s </a:t>
                      </a:r>
                      <a:endParaRPr sz="1000"/>
                    </a:p>
                  </a:txBody>
                  <a:tcPr marT="91425" marB="91425" marR="91425" marL="91425"/>
                </a:tc>
                <a:tc>
                  <a:txBody>
                    <a:bodyPr/>
                    <a:lstStyle/>
                    <a:p>
                      <a:pPr indent="0" lvl="0" marL="0" rtl="0" algn="l">
                        <a:spcBef>
                          <a:spcPts val="0"/>
                        </a:spcBef>
                        <a:spcAft>
                          <a:spcPts val="0"/>
                        </a:spcAft>
                        <a:buNone/>
                      </a:pPr>
                      <a:r>
                        <a:rPr lang="en-GB" sz="1000"/>
                        <a:t>0.66x</a:t>
                      </a:r>
                      <a:endParaRPr sz="1000"/>
                    </a:p>
                  </a:txBody>
                  <a:tcPr marT="91425" marB="91425" marR="91425" marL="91425"/>
                </a:tc>
                <a:tc>
                  <a:txBody>
                    <a:bodyPr/>
                    <a:lstStyle/>
                    <a:p>
                      <a:pPr indent="0" lvl="0" marL="0" rtl="0" algn="l">
                        <a:spcBef>
                          <a:spcPts val="0"/>
                        </a:spcBef>
                        <a:spcAft>
                          <a:spcPts val="0"/>
                        </a:spcAft>
                        <a:buNone/>
                      </a:pPr>
                      <a:r>
                        <a:rPr lang="en-GB" sz="1000"/>
                        <a:t>16.6%</a:t>
                      </a:r>
                      <a:endParaRPr sz="1000"/>
                    </a:p>
                  </a:txBody>
                  <a:tcPr marT="91425" marB="91425" marR="91425" marL="91425"/>
                </a:tc>
              </a:tr>
              <a:tr h="386000">
                <a:tc>
                  <a:txBody>
                    <a:bodyPr/>
                    <a:lstStyle/>
                    <a:p>
                      <a:pPr indent="0" lvl="0" marL="0" rtl="0" algn="l">
                        <a:spcBef>
                          <a:spcPts val="0"/>
                        </a:spcBef>
                        <a:spcAft>
                          <a:spcPts val="0"/>
                        </a:spcAft>
                        <a:buNone/>
                      </a:pPr>
                      <a:r>
                        <a:rPr lang="en-GB" sz="1000"/>
                        <a:t>10^6</a:t>
                      </a:r>
                      <a:endParaRPr sz="1000"/>
                    </a:p>
                  </a:txBody>
                  <a:tcPr marT="91425" marB="91425" marR="91425" marL="91425"/>
                </a:tc>
                <a:tc>
                  <a:txBody>
                    <a:bodyPr/>
                    <a:lstStyle/>
                    <a:p>
                      <a:pPr indent="0" lvl="0" marL="0" rtl="0" algn="l">
                        <a:spcBef>
                          <a:spcPts val="0"/>
                        </a:spcBef>
                        <a:spcAft>
                          <a:spcPts val="0"/>
                        </a:spcAft>
                        <a:buNone/>
                      </a:pPr>
                      <a:r>
                        <a:rPr lang="en-GB" sz="1000"/>
                        <a:t>0.0203 s </a:t>
                      </a:r>
                      <a:endParaRPr sz="1000"/>
                    </a:p>
                  </a:txBody>
                  <a:tcPr marT="91425" marB="91425" marR="91425" marL="91425"/>
                </a:tc>
                <a:tc>
                  <a:txBody>
                    <a:bodyPr/>
                    <a:lstStyle/>
                    <a:p>
                      <a:pPr indent="0" lvl="0" marL="0" rtl="0" algn="l">
                        <a:spcBef>
                          <a:spcPts val="0"/>
                        </a:spcBef>
                        <a:spcAft>
                          <a:spcPts val="0"/>
                        </a:spcAft>
                        <a:buNone/>
                      </a:pPr>
                      <a:r>
                        <a:rPr lang="en-GB" sz="1000"/>
                        <a:t>0.0201 s</a:t>
                      </a:r>
                      <a:endParaRPr sz="1000"/>
                    </a:p>
                  </a:txBody>
                  <a:tcPr marT="91425" marB="91425" marR="91425" marL="91425"/>
                </a:tc>
                <a:tc>
                  <a:txBody>
                    <a:bodyPr/>
                    <a:lstStyle/>
                    <a:p>
                      <a:pPr indent="0" lvl="0" marL="0" rtl="0" algn="l">
                        <a:spcBef>
                          <a:spcPts val="0"/>
                        </a:spcBef>
                        <a:spcAft>
                          <a:spcPts val="0"/>
                        </a:spcAft>
                        <a:buNone/>
                      </a:pPr>
                      <a:r>
                        <a:rPr lang="en-GB" sz="1000"/>
                        <a:t>1.01x</a:t>
                      </a:r>
                      <a:endParaRPr sz="1000"/>
                    </a:p>
                  </a:txBody>
                  <a:tcPr marT="91425" marB="91425" marR="91425" marL="91425"/>
                </a:tc>
                <a:tc>
                  <a:txBody>
                    <a:bodyPr/>
                    <a:lstStyle/>
                    <a:p>
                      <a:pPr indent="0" lvl="0" marL="0" rtl="0" algn="l">
                        <a:spcBef>
                          <a:spcPts val="0"/>
                        </a:spcBef>
                        <a:spcAft>
                          <a:spcPts val="0"/>
                        </a:spcAft>
                        <a:buNone/>
                      </a:pPr>
                      <a:r>
                        <a:rPr lang="en-GB" sz="1000"/>
                        <a:t>25.3%</a:t>
                      </a:r>
                      <a:endParaRPr sz="1000"/>
                    </a:p>
                  </a:txBody>
                  <a:tcPr marT="91425" marB="91425" marR="91425" marL="91425"/>
                </a:tc>
              </a:tr>
              <a:tr h="386000">
                <a:tc>
                  <a:txBody>
                    <a:bodyPr/>
                    <a:lstStyle/>
                    <a:p>
                      <a:pPr indent="0" lvl="0" marL="0" rtl="0" algn="l">
                        <a:spcBef>
                          <a:spcPts val="0"/>
                        </a:spcBef>
                        <a:spcAft>
                          <a:spcPts val="0"/>
                        </a:spcAft>
                        <a:buNone/>
                      </a:pPr>
                      <a:r>
                        <a:rPr lang="en-GB" sz="1000"/>
                        <a:t>3*10^6</a:t>
                      </a:r>
                      <a:endParaRPr sz="1000"/>
                    </a:p>
                  </a:txBody>
                  <a:tcPr marT="91425" marB="91425" marR="91425" marL="91425"/>
                </a:tc>
                <a:tc>
                  <a:txBody>
                    <a:bodyPr/>
                    <a:lstStyle/>
                    <a:p>
                      <a:pPr indent="0" lvl="0" marL="0" rtl="0" algn="l">
                        <a:spcBef>
                          <a:spcPts val="0"/>
                        </a:spcBef>
                        <a:spcAft>
                          <a:spcPts val="0"/>
                        </a:spcAft>
                        <a:buNone/>
                      </a:pPr>
                      <a:r>
                        <a:rPr lang="en-GB" sz="1000"/>
                        <a:t>0.0856 s </a:t>
                      </a:r>
                      <a:endParaRPr sz="1000"/>
                    </a:p>
                  </a:txBody>
                  <a:tcPr marT="91425" marB="91425" marR="91425" marL="91425"/>
                </a:tc>
                <a:tc>
                  <a:txBody>
                    <a:bodyPr/>
                    <a:lstStyle/>
                    <a:p>
                      <a:pPr indent="0" lvl="0" marL="0" rtl="0" algn="l">
                        <a:spcBef>
                          <a:spcPts val="0"/>
                        </a:spcBef>
                        <a:spcAft>
                          <a:spcPts val="0"/>
                        </a:spcAft>
                        <a:buNone/>
                      </a:pPr>
                      <a:r>
                        <a:rPr lang="en-GB" sz="1000"/>
                        <a:t>0.0458 s </a:t>
                      </a:r>
                      <a:endParaRPr sz="1000"/>
                    </a:p>
                  </a:txBody>
                  <a:tcPr marT="91425" marB="91425" marR="91425" marL="91425"/>
                </a:tc>
                <a:tc>
                  <a:txBody>
                    <a:bodyPr/>
                    <a:lstStyle/>
                    <a:p>
                      <a:pPr indent="0" lvl="0" marL="0" rtl="0" algn="l">
                        <a:spcBef>
                          <a:spcPts val="0"/>
                        </a:spcBef>
                        <a:spcAft>
                          <a:spcPts val="0"/>
                        </a:spcAft>
                        <a:buNone/>
                      </a:pPr>
                      <a:r>
                        <a:rPr lang="en-GB" sz="1000"/>
                        <a:t>1.87x</a:t>
                      </a:r>
                      <a:endParaRPr sz="1000"/>
                    </a:p>
                  </a:txBody>
                  <a:tcPr marT="91425" marB="91425" marR="91425" marL="91425"/>
                </a:tc>
                <a:tc>
                  <a:txBody>
                    <a:bodyPr/>
                    <a:lstStyle/>
                    <a:p>
                      <a:pPr indent="0" lvl="0" marL="0" rtl="0" algn="l">
                        <a:spcBef>
                          <a:spcPts val="0"/>
                        </a:spcBef>
                        <a:spcAft>
                          <a:spcPts val="0"/>
                        </a:spcAft>
                        <a:buNone/>
                      </a:pPr>
                      <a:r>
                        <a:rPr lang="en-GB" sz="1000"/>
                        <a:t>46.7%</a:t>
                      </a:r>
                      <a:endParaRPr sz="1000"/>
                    </a:p>
                  </a:txBody>
                  <a:tcPr marT="91425" marB="91425" marR="91425" marL="91425"/>
                </a:tc>
              </a:tr>
              <a:tr h="386000">
                <a:tc>
                  <a:txBody>
                    <a:bodyPr/>
                    <a:lstStyle/>
                    <a:p>
                      <a:pPr indent="0" lvl="0" marL="0" rtl="0" algn="l">
                        <a:spcBef>
                          <a:spcPts val="0"/>
                        </a:spcBef>
                        <a:spcAft>
                          <a:spcPts val="0"/>
                        </a:spcAft>
                        <a:buNone/>
                      </a:pPr>
                      <a:r>
                        <a:rPr lang="en-GB" sz="1000"/>
                        <a:t>10^7</a:t>
                      </a:r>
                      <a:endParaRPr sz="1000"/>
                    </a:p>
                  </a:txBody>
                  <a:tcPr marT="91425" marB="91425" marR="91425" marL="91425"/>
                </a:tc>
                <a:tc>
                  <a:txBody>
                    <a:bodyPr/>
                    <a:lstStyle/>
                    <a:p>
                      <a:pPr indent="0" lvl="0" marL="0" rtl="0" algn="l">
                        <a:spcBef>
                          <a:spcPts val="0"/>
                        </a:spcBef>
                        <a:spcAft>
                          <a:spcPts val="0"/>
                        </a:spcAft>
                        <a:buNone/>
                      </a:pPr>
                      <a:r>
                        <a:rPr lang="en-GB" sz="1000"/>
                        <a:t>0.4302 s</a:t>
                      </a:r>
                      <a:endParaRPr sz="1000"/>
                    </a:p>
                  </a:txBody>
                  <a:tcPr marT="91425" marB="91425" marR="91425" marL="91425"/>
                </a:tc>
                <a:tc>
                  <a:txBody>
                    <a:bodyPr/>
                    <a:lstStyle/>
                    <a:p>
                      <a:pPr indent="0" lvl="0" marL="0" rtl="0" algn="l">
                        <a:spcBef>
                          <a:spcPts val="0"/>
                        </a:spcBef>
                        <a:spcAft>
                          <a:spcPts val="0"/>
                        </a:spcAft>
                        <a:buNone/>
                      </a:pPr>
                      <a:r>
                        <a:rPr lang="en-GB" sz="1000"/>
                        <a:t>0.1591 s </a:t>
                      </a:r>
                      <a:endParaRPr sz="1000"/>
                    </a:p>
                  </a:txBody>
                  <a:tcPr marT="91425" marB="91425" marR="91425" marL="91425"/>
                </a:tc>
                <a:tc>
                  <a:txBody>
                    <a:bodyPr/>
                    <a:lstStyle/>
                    <a:p>
                      <a:pPr indent="0" lvl="0" marL="0" rtl="0" algn="l">
                        <a:spcBef>
                          <a:spcPts val="0"/>
                        </a:spcBef>
                        <a:spcAft>
                          <a:spcPts val="0"/>
                        </a:spcAft>
                        <a:buNone/>
                      </a:pPr>
                      <a:r>
                        <a:rPr lang="en-GB" sz="1000"/>
                        <a:t>2.70x</a:t>
                      </a:r>
                      <a:endParaRPr sz="1000"/>
                    </a:p>
                  </a:txBody>
                  <a:tcPr marT="91425" marB="91425" marR="91425" marL="91425"/>
                </a:tc>
                <a:tc>
                  <a:txBody>
                    <a:bodyPr/>
                    <a:lstStyle/>
                    <a:p>
                      <a:pPr indent="0" lvl="0" marL="0" rtl="0" algn="l">
                        <a:spcBef>
                          <a:spcPts val="0"/>
                        </a:spcBef>
                        <a:spcAft>
                          <a:spcPts val="0"/>
                        </a:spcAft>
                        <a:buNone/>
                      </a:pPr>
                      <a:r>
                        <a:rPr lang="en-GB" sz="1000"/>
                        <a:t>67.6%</a:t>
                      </a:r>
                      <a:endParaRPr sz="1000"/>
                    </a:p>
                  </a:txBody>
                  <a:tcPr marT="91425" marB="91425" marR="91425" marL="91425"/>
                </a:tc>
              </a:tr>
              <a:tr h="386000">
                <a:tc>
                  <a:txBody>
                    <a:bodyPr/>
                    <a:lstStyle/>
                    <a:p>
                      <a:pPr indent="0" lvl="0" marL="0" rtl="0" algn="l">
                        <a:spcBef>
                          <a:spcPts val="0"/>
                        </a:spcBef>
                        <a:spcAft>
                          <a:spcPts val="0"/>
                        </a:spcAft>
                        <a:buNone/>
                      </a:pPr>
                      <a:r>
                        <a:rPr lang="en-GB" sz="1000"/>
                        <a:t>3*10^7</a:t>
                      </a:r>
                      <a:endParaRPr sz="1000"/>
                    </a:p>
                  </a:txBody>
                  <a:tcPr marT="91425" marB="91425" marR="91425" marL="91425"/>
                </a:tc>
                <a:tc>
                  <a:txBody>
                    <a:bodyPr/>
                    <a:lstStyle/>
                    <a:p>
                      <a:pPr indent="0" lvl="0" marL="0" rtl="0" algn="l">
                        <a:spcBef>
                          <a:spcPts val="0"/>
                        </a:spcBef>
                        <a:spcAft>
                          <a:spcPts val="0"/>
                        </a:spcAft>
                        <a:buNone/>
                      </a:pPr>
                      <a:r>
                        <a:rPr lang="en-GB" sz="1000"/>
                        <a:t> 1.9692 s </a:t>
                      </a:r>
                      <a:endParaRPr sz="1000"/>
                    </a:p>
                  </a:txBody>
                  <a:tcPr marT="91425" marB="91425" marR="91425" marL="91425"/>
                </a:tc>
                <a:tc>
                  <a:txBody>
                    <a:bodyPr/>
                    <a:lstStyle/>
                    <a:p>
                      <a:pPr indent="0" lvl="0" marL="0" rtl="0" algn="l">
                        <a:spcBef>
                          <a:spcPts val="0"/>
                        </a:spcBef>
                        <a:spcAft>
                          <a:spcPts val="0"/>
                        </a:spcAft>
                        <a:buNone/>
                      </a:pPr>
                      <a:r>
                        <a:rPr lang="en-GB" sz="1000"/>
                        <a:t>0.6581 s</a:t>
                      </a:r>
                      <a:endParaRPr sz="1000"/>
                    </a:p>
                  </a:txBody>
                  <a:tcPr marT="91425" marB="91425" marR="91425" marL="91425"/>
                </a:tc>
                <a:tc>
                  <a:txBody>
                    <a:bodyPr/>
                    <a:lstStyle/>
                    <a:p>
                      <a:pPr indent="0" lvl="0" marL="0" rtl="0" algn="l">
                        <a:spcBef>
                          <a:spcPts val="0"/>
                        </a:spcBef>
                        <a:spcAft>
                          <a:spcPts val="0"/>
                        </a:spcAft>
                        <a:buNone/>
                      </a:pPr>
                      <a:r>
                        <a:rPr lang="en-GB" sz="1000"/>
                        <a:t>2.99x</a:t>
                      </a:r>
                      <a:endParaRPr sz="1000"/>
                    </a:p>
                  </a:txBody>
                  <a:tcPr marT="91425" marB="91425" marR="91425" marL="91425"/>
                </a:tc>
                <a:tc>
                  <a:txBody>
                    <a:bodyPr/>
                    <a:lstStyle/>
                    <a:p>
                      <a:pPr indent="0" lvl="0" marL="0" rtl="0" algn="l">
                        <a:spcBef>
                          <a:spcPts val="0"/>
                        </a:spcBef>
                        <a:spcAft>
                          <a:spcPts val="0"/>
                        </a:spcAft>
                        <a:buNone/>
                      </a:pPr>
                      <a:r>
                        <a:rPr lang="en-GB" sz="1000"/>
                        <a:t>74.8%</a:t>
                      </a:r>
                      <a:endParaRPr sz="1000"/>
                    </a:p>
                  </a:txBody>
                  <a:tcPr marT="91425" marB="91425" marR="91425" marL="91425"/>
                </a:tc>
              </a:tr>
              <a:tr h="386000">
                <a:tc>
                  <a:txBody>
                    <a:bodyPr/>
                    <a:lstStyle/>
                    <a:p>
                      <a:pPr indent="0" lvl="0" marL="0" rtl="0" algn="l">
                        <a:spcBef>
                          <a:spcPts val="0"/>
                        </a:spcBef>
                        <a:spcAft>
                          <a:spcPts val="0"/>
                        </a:spcAft>
                        <a:buNone/>
                      </a:pPr>
                      <a:r>
                        <a:rPr lang="en-GB" sz="1000"/>
                        <a:t>10^8</a:t>
                      </a:r>
                      <a:endParaRPr sz="1000"/>
                    </a:p>
                  </a:txBody>
                  <a:tcPr marT="91425" marB="91425" marR="91425" marL="91425"/>
                </a:tc>
                <a:tc>
                  <a:txBody>
                    <a:bodyPr/>
                    <a:lstStyle/>
                    <a:p>
                      <a:pPr indent="0" lvl="0" marL="0" rtl="0" algn="l">
                        <a:spcBef>
                          <a:spcPts val="0"/>
                        </a:spcBef>
                        <a:spcAft>
                          <a:spcPts val="0"/>
                        </a:spcAft>
                        <a:buNone/>
                      </a:pPr>
                      <a:r>
                        <a:rPr lang="en-GB" sz="1000"/>
                        <a:t>10.6936 s</a:t>
                      </a:r>
                      <a:endParaRPr sz="1000"/>
                    </a:p>
                  </a:txBody>
                  <a:tcPr marT="91425" marB="91425" marR="91425" marL="91425"/>
                </a:tc>
                <a:tc>
                  <a:txBody>
                    <a:bodyPr/>
                    <a:lstStyle/>
                    <a:p>
                      <a:pPr indent="0" lvl="0" marL="0" rtl="0" algn="l">
                        <a:spcBef>
                          <a:spcPts val="0"/>
                        </a:spcBef>
                        <a:spcAft>
                          <a:spcPts val="0"/>
                        </a:spcAft>
                        <a:buNone/>
                      </a:pPr>
                      <a:r>
                        <a:rPr lang="en-GB" sz="1000"/>
                        <a:t>3.4018 s</a:t>
                      </a:r>
                      <a:endParaRPr sz="1000"/>
                    </a:p>
                  </a:txBody>
                  <a:tcPr marT="91425" marB="91425" marR="91425" marL="91425"/>
                </a:tc>
                <a:tc>
                  <a:txBody>
                    <a:bodyPr/>
                    <a:lstStyle/>
                    <a:p>
                      <a:pPr indent="0" lvl="0" marL="0" rtl="0" algn="l">
                        <a:spcBef>
                          <a:spcPts val="0"/>
                        </a:spcBef>
                        <a:spcAft>
                          <a:spcPts val="0"/>
                        </a:spcAft>
                        <a:buNone/>
                      </a:pPr>
                      <a:r>
                        <a:rPr lang="en-GB" sz="1000"/>
                        <a:t>3.14x</a:t>
                      </a:r>
                      <a:endParaRPr sz="1000"/>
                    </a:p>
                  </a:txBody>
                  <a:tcPr marT="91425" marB="91425" marR="91425" marL="91425"/>
                </a:tc>
                <a:tc>
                  <a:txBody>
                    <a:bodyPr/>
                    <a:lstStyle/>
                    <a:p>
                      <a:pPr indent="0" lvl="0" marL="0" rtl="0" algn="l">
                        <a:spcBef>
                          <a:spcPts val="0"/>
                        </a:spcBef>
                        <a:spcAft>
                          <a:spcPts val="0"/>
                        </a:spcAft>
                        <a:buNone/>
                      </a:pPr>
                      <a:r>
                        <a:rPr lang="en-GB" sz="1000"/>
                        <a:t>78.6%</a:t>
                      </a:r>
                      <a:endParaRPr sz="1000"/>
                    </a:p>
                  </a:txBody>
                  <a:tcPr marT="91425" marB="91425" marR="91425" marL="91425"/>
                </a:tc>
              </a:tr>
            </a:tbl>
          </a:graphicData>
        </a:graphic>
      </p:graphicFrame>
      <p:sp>
        <p:nvSpPr>
          <p:cNvPr id="135" name="Google Shape;135;p20"/>
          <p:cNvSpPr txBox="1"/>
          <p:nvPr>
            <p:ph idx="1" type="body"/>
          </p:nvPr>
        </p:nvSpPr>
        <p:spPr>
          <a:xfrm>
            <a:off x="311700" y="4304650"/>
            <a:ext cx="4521600" cy="607800"/>
          </a:xfrm>
          <a:prstGeom prst="rect">
            <a:avLst/>
          </a:prstGeom>
        </p:spPr>
        <p:txBody>
          <a:bodyPr anchorCtr="0" anchor="t" bIns="91425" lIns="91425" spcFirstLastPara="1" rIns="91425" wrap="square" tIns="91425">
            <a:normAutofit fontScale="47500" lnSpcReduction="10000"/>
          </a:bodyPr>
          <a:lstStyle/>
          <a:p>
            <a:pPr indent="0" lvl="0" marL="0" rtl="0" algn="l">
              <a:spcBef>
                <a:spcPts val="0"/>
              </a:spcBef>
              <a:spcAft>
                <a:spcPts val="0"/>
              </a:spcAft>
              <a:buNone/>
            </a:pPr>
            <a:r>
              <a:rPr lang="en-GB"/>
              <a:t>Run on Apple M5 (4 super, 6 efficiency cores)</a:t>
            </a:r>
            <a:endParaRPr/>
          </a:p>
          <a:p>
            <a:pPr indent="0" lvl="0" marL="0" rtl="0" algn="l">
              <a:spcBef>
                <a:spcPts val="1200"/>
              </a:spcBef>
              <a:spcAft>
                <a:spcPts val="1200"/>
              </a:spcAft>
              <a:buNone/>
            </a:pPr>
            <a:r>
              <a:rPr lang="en-GB"/>
              <a:t>4 processors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1"/>
          <p:cNvPicPr preferRelativeResize="0"/>
          <p:nvPr/>
        </p:nvPicPr>
        <p:blipFill>
          <a:blip r:embed="rId3">
            <a:alphaModFix/>
          </a:blip>
          <a:stretch>
            <a:fillRect/>
          </a:stretch>
        </p:blipFill>
        <p:spPr>
          <a:xfrm>
            <a:off x="77250" y="974150"/>
            <a:ext cx="4494750" cy="2882524"/>
          </a:xfrm>
          <a:prstGeom prst="rect">
            <a:avLst/>
          </a:prstGeom>
          <a:noFill/>
          <a:ln>
            <a:noFill/>
          </a:ln>
        </p:spPr>
      </p:pic>
      <p:pic>
        <p:nvPicPr>
          <p:cNvPr id="141" name="Google Shape;141;p21"/>
          <p:cNvPicPr preferRelativeResize="0"/>
          <p:nvPr/>
        </p:nvPicPr>
        <p:blipFill>
          <a:blip r:embed="rId4">
            <a:alphaModFix/>
          </a:blip>
          <a:stretch>
            <a:fillRect/>
          </a:stretch>
        </p:blipFill>
        <p:spPr>
          <a:xfrm>
            <a:off x="4572000" y="1058200"/>
            <a:ext cx="4367950" cy="28825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pic>
        <p:nvPicPr>
          <p:cNvPr id="146" name="Google Shape;146;p22"/>
          <p:cNvPicPr preferRelativeResize="0"/>
          <p:nvPr/>
        </p:nvPicPr>
        <p:blipFill>
          <a:blip r:embed="rId3">
            <a:alphaModFix/>
          </a:blip>
          <a:stretch>
            <a:fillRect/>
          </a:stretch>
        </p:blipFill>
        <p:spPr>
          <a:xfrm>
            <a:off x="1226300" y="152400"/>
            <a:ext cx="7127732" cy="483869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Lab 1 vs Lab 2 comparison graphs</a:t>
            </a:r>
            <a:endParaRPr/>
          </a:p>
        </p:txBody>
      </p:sp>
      <p:pic>
        <p:nvPicPr>
          <p:cNvPr id="152" name="Google Shape;152;p23"/>
          <p:cNvPicPr preferRelativeResize="0"/>
          <p:nvPr/>
        </p:nvPicPr>
        <p:blipFill>
          <a:blip r:embed="rId3">
            <a:alphaModFix/>
          </a:blip>
          <a:stretch>
            <a:fillRect/>
          </a:stretch>
        </p:blipFill>
        <p:spPr>
          <a:xfrm>
            <a:off x="152400" y="1170200"/>
            <a:ext cx="4960798" cy="3181424"/>
          </a:xfrm>
          <a:prstGeom prst="rect">
            <a:avLst/>
          </a:prstGeom>
          <a:noFill/>
          <a:ln>
            <a:noFill/>
          </a:ln>
        </p:spPr>
      </p:pic>
      <p:sp>
        <p:nvSpPr>
          <p:cNvPr id="153" name="Google Shape;153;p23"/>
          <p:cNvSpPr txBox="1"/>
          <p:nvPr>
            <p:ph idx="1" type="body"/>
          </p:nvPr>
        </p:nvSpPr>
        <p:spPr>
          <a:xfrm>
            <a:off x="5145375" y="1066400"/>
            <a:ext cx="3687000" cy="3502500"/>
          </a:xfrm>
          <a:prstGeom prst="rect">
            <a:avLst/>
          </a:prstGeom>
        </p:spPr>
        <p:txBody>
          <a:bodyPr anchorCtr="0" anchor="t" bIns="91425" lIns="91425" spcFirstLastPara="1" rIns="91425" wrap="square" tIns="91425">
            <a:normAutofit/>
          </a:bodyPr>
          <a:lstStyle/>
          <a:p>
            <a:pPr indent="0" lvl="0" marL="0" rtl="0" algn="l">
              <a:lnSpc>
                <a:spcPct val="95000"/>
              </a:lnSpc>
              <a:spcBef>
                <a:spcPts val="0"/>
              </a:spcBef>
              <a:spcAft>
                <a:spcPts val="1200"/>
              </a:spcAft>
              <a:buNone/>
            </a:pPr>
            <a:r>
              <a:rPr lang="en-GB" sz="1600"/>
              <a:t>There is significant overhead at lower n for Open MPI (as discussed earlier), but OpenMP and MPI end up converging, and POSIX threads ends up the worst solution, due to the contiguous block splitting (that we “fixed” with slices in MPI).</a:t>
            </a:r>
            <a:endParaRPr sz="16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pic>
        <p:nvPicPr>
          <p:cNvPr id="158" name="Google Shape;158;p24"/>
          <p:cNvPicPr preferRelativeResize="0"/>
          <p:nvPr/>
        </p:nvPicPr>
        <p:blipFill>
          <a:blip r:embed="rId3">
            <a:alphaModFix/>
          </a:blip>
          <a:stretch>
            <a:fillRect/>
          </a:stretch>
        </p:blipFill>
        <p:spPr>
          <a:xfrm>
            <a:off x="77675" y="177075"/>
            <a:ext cx="4367950" cy="2882524"/>
          </a:xfrm>
          <a:prstGeom prst="rect">
            <a:avLst/>
          </a:prstGeom>
          <a:noFill/>
          <a:ln>
            <a:noFill/>
          </a:ln>
        </p:spPr>
      </p:pic>
      <p:pic>
        <p:nvPicPr>
          <p:cNvPr id="159" name="Google Shape;159;p24"/>
          <p:cNvPicPr preferRelativeResize="0"/>
          <p:nvPr/>
        </p:nvPicPr>
        <p:blipFill>
          <a:blip r:embed="rId4">
            <a:alphaModFix/>
          </a:blip>
          <a:stretch>
            <a:fillRect/>
          </a:stretch>
        </p:blipFill>
        <p:spPr>
          <a:xfrm>
            <a:off x="4672750" y="152400"/>
            <a:ext cx="4318848" cy="2931873"/>
          </a:xfrm>
          <a:prstGeom prst="rect">
            <a:avLst/>
          </a:prstGeom>
          <a:noFill/>
          <a:ln>
            <a:noFill/>
          </a:ln>
        </p:spPr>
      </p:pic>
      <p:sp>
        <p:nvSpPr>
          <p:cNvPr id="160" name="Google Shape;160;p24"/>
          <p:cNvSpPr txBox="1"/>
          <p:nvPr>
            <p:ph idx="1" type="body"/>
          </p:nvPr>
        </p:nvSpPr>
        <p:spPr>
          <a:xfrm>
            <a:off x="438900" y="3389775"/>
            <a:ext cx="5257500" cy="1179000"/>
          </a:xfrm>
          <a:prstGeom prst="rect">
            <a:avLst/>
          </a:prstGeom>
        </p:spPr>
        <p:txBody>
          <a:bodyPr anchorCtr="0" anchor="t" bIns="91425" lIns="91425" spcFirstLastPara="1" rIns="91425" wrap="square" tIns="91425">
            <a:normAutofit/>
          </a:bodyPr>
          <a:lstStyle/>
          <a:p>
            <a:pPr indent="0" lvl="0" marL="0" rtl="0" algn="l">
              <a:lnSpc>
                <a:spcPct val="95000"/>
              </a:lnSpc>
              <a:spcBef>
                <a:spcPts val="0"/>
              </a:spcBef>
              <a:spcAft>
                <a:spcPts val="1200"/>
              </a:spcAft>
              <a:buNone/>
            </a:pPr>
            <a:r>
              <a:rPr lang="en-GB" sz="1600"/>
              <a:t>OpenMP has the highest speed up, as Open MPI has to gather and sort, which our OpenMP implementation does not need to do. </a:t>
            </a:r>
            <a:endParaRPr sz="16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5"/>
          <p:cNvSpPr txBox="1"/>
          <p:nvPr>
            <p:ph type="title"/>
          </p:nvPr>
        </p:nvSpPr>
        <p:spPr>
          <a:xfrm>
            <a:off x="598100" y="2152347"/>
            <a:ext cx="8222100" cy="838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GB" sz="3180"/>
              <a:t>Task 2 – Prime Search using hybrid OpenMP and Message Passing Interface (Open MPI)</a:t>
            </a:r>
            <a:endParaRPr sz="318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Hybrid approach (OpenMP + MPI)</a:t>
            </a:r>
            <a:endParaRPr/>
          </a:p>
        </p:txBody>
      </p:sp>
      <p:sp>
        <p:nvSpPr>
          <p:cNvPr id="171" name="Google Shape;171;p26"/>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Range [0, n) -&gt; (processes x threads x 8) slices</a:t>
            </a:r>
            <a:endParaRPr/>
          </a:p>
          <a:p>
            <a:pPr indent="0" lvl="0" marL="0" rtl="0" algn="l">
              <a:spcBef>
                <a:spcPts val="1200"/>
              </a:spcBef>
              <a:spcAft>
                <a:spcPts val="0"/>
              </a:spcAft>
              <a:buNone/>
            </a:pPr>
            <a:r>
              <a:rPr lang="en-GB"/>
              <a:t>Work is divided into </a:t>
            </a:r>
            <a:r>
              <a:rPr lang="en-GB"/>
              <a:t>processes x threads x 8 slices, and each thread will get 8 slices on average, and each process will get threads OpenMP threads.</a:t>
            </a:r>
            <a:endParaRPr/>
          </a:p>
          <a:p>
            <a:pPr indent="0" lvl="0" marL="0" rtl="0" algn="l">
              <a:spcBef>
                <a:spcPts val="1200"/>
              </a:spcBef>
              <a:spcAft>
                <a:spcPts val="1200"/>
              </a:spcAft>
              <a:buNone/>
            </a:pPr>
            <a:r>
              <a:rPr lang="en-GB"/>
              <a:t>Communication between processes (MPI) using MPI_Bcast and MPI_Gather/MPI_Gatherv, but within a process (OpenMP), there is communication, the work is dynamically scheduled (like in Lab 1).</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pic>
        <p:nvPicPr>
          <p:cNvPr id="176" name="Google Shape;176;p27"/>
          <p:cNvPicPr preferRelativeResize="0"/>
          <p:nvPr/>
        </p:nvPicPr>
        <p:blipFill>
          <a:blip r:embed="rId3">
            <a:alphaModFix/>
          </a:blip>
          <a:stretch>
            <a:fillRect/>
          </a:stretch>
        </p:blipFill>
        <p:spPr>
          <a:xfrm>
            <a:off x="868000" y="90550"/>
            <a:ext cx="7282601" cy="4838699"/>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pic>
        <p:nvPicPr>
          <p:cNvPr id="181" name="Google Shape;181;p28"/>
          <p:cNvPicPr preferRelativeResize="0"/>
          <p:nvPr/>
        </p:nvPicPr>
        <p:blipFill>
          <a:blip r:embed="rId3">
            <a:alphaModFix/>
          </a:blip>
          <a:stretch>
            <a:fillRect/>
          </a:stretch>
        </p:blipFill>
        <p:spPr>
          <a:xfrm>
            <a:off x="152400" y="152400"/>
            <a:ext cx="8839204" cy="483825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What is the speed-up? Is it reasonable?</a:t>
            </a:r>
            <a:endParaRPr/>
          </a:p>
        </p:txBody>
      </p:sp>
      <p:sp>
        <p:nvSpPr>
          <p:cNvPr id="187" name="Google Shape;187;p29"/>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a:t> On CAAS at n = 4×10⁷, the hybrid reached 11.09× on 16 workers (4 processes × 4 threads) and 15.74× on 32 workers (8×4) across two nodes, against a serial baseline of 14.56 s, an efficiency of 69% and 49% respectively. Efficiency falling as workers increase is expected: the gather and the root-side sort and file write do not parallelise, so they occupy a growing share of a shrinking runtime.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0"/>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GB" sz="2200"/>
              <a:t>How would the speed-up change when you increase &amp; decrease threads, processes, and n?</a:t>
            </a:r>
            <a:endParaRPr sz="2200"/>
          </a:p>
          <a:p>
            <a:pPr indent="0" lvl="0" marL="0" rtl="0" algn="l">
              <a:spcBef>
                <a:spcPts val="0"/>
              </a:spcBef>
              <a:spcAft>
                <a:spcPts val="0"/>
              </a:spcAft>
              <a:buSzPts val="990"/>
              <a:buNone/>
            </a:pPr>
            <a:r>
              <a:t/>
            </a:r>
            <a:endParaRPr sz="2200"/>
          </a:p>
        </p:txBody>
      </p:sp>
      <p:sp>
        <p:nvSpPr>
          <p:cNvPr id="193" name="Google Shape;193;p30"/>
          <p:cNvSpPr txBox="1"/>
          <p:nvPr>
            <p:ph idx="1" type="body"/>
          </p:nvPr>
        </p:nvSpPr>
        <p:spPr>
          <a:xfrm>
            <a:off x="311700" y="1229875"/>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a:t>Increasing either threads or processes raises speedup roughly in proportion to total workers until the core count is reached. At matched worker counts the split is nearly irrelevant below 16 workers: 1×8, 2×4, 4×2 and 8×1 differ by under 2%, but above that, thread-heavy splits win: 4×4 (1.31 s) beats 8×2 (1.75 s), because MPI's gather cost grows with the number of ranks while </a:t>
            </a:r>
            <a:r>
              <a:rPr lang="en-GB"/>
              <a:t>OpenMP's</a:t>
            </a:r>
            <a:r>
              <a:rPr lang="en-GB"/>
              <a:t> does not. Increasing n improves speedup, as the fixed communication and serial output costs shrink as a proportion of runtime.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31"/>
          <p:cNvSpPr txBox="1"/>
          <p:nvPr>
            <p:ph type="title"/>
          </p:nvPr>
        </p:nvSpPr>
        <p:spPr>
          <a:xfrm>
            <a:off x="598100" y="2152347"/>
            <a:ext cx="8222100" cy="838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GB" sz="3180"/>
              <a:t>Task 3 – Performance evaluation with Amdahl’s Law</a:t>
            </a:r>
            <a:endParaRPr sz="318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Task 3: Method &amp; Calculations</a:t>
            </a:r>
            <a:endParaRPr/>
          </a:p>
        </p:txBody>
      </p:sp>
      <p:sp>
        <p:nvSpPr>
          <p:cNvPr id="204" name="Google Shape;204;p32"/>
          <p:cNvSpPr txBox="1"/>
          <p:nvPr>
            <p:ph idx="1" type="body"/>
          </p:nvPr>
        </p:nvSpPr>
        <p:spPr>
          <a:xfrm>
            <a:off x="4572000" y="1210200"/>
            <a:ext cx="4260300" cy="272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GB" sz="1400">
                <a:solidFill>
                  <a:srgbClr val="000000"/>
                </a:solidFill>
                <a:latin typeface="Arial"/>
                <a:ea typeface="Arial"/>
                <a:cs typeface="Arial"/>
                <a:sym typeface="Arial"/>
              </a:rPr>
              <a:t>Experimental method</a:t>
            </a:r>
            <a:endParaRPr b="1" sz="1400">
              <a:solidFill>
                <a:srgbClr val="000000"/>
              </a:solidFill>
              <a:latin typeface="Arial"/>
              <a:ea typeface="Arial"/>
              <a:cs typeface="Arial"/>
              <a:sym typeface="Arial"/>
            </a:endParaRPr>
          </a:p>
          <a:p>
            <a:pPr indent="0" lvl="0" marL="0" rtl="0" algn="l">
              <a:spcBef>
                <a:spcPts val="1000"/>
              </a:spcBef>
              <a:spcAft>
                <a:spcPts val="0"/>
              </a:spcAft>
              <a:buNone/>
            </a:pPr>
            <a:r>
              <a:rPr b="1" lang="en-GB" sz="1200">
                <a:solidFill>
                  <a:srgbClr val="000000"/>
                </a:solidFill>
                <a:latin typeface="Arial"/>
                <a:ea typeface="Arial"/>
                <a:cs typeface="Arial"/>
                <a:sym typeface="Arial"/>
              </a:rPr>
              <a:t>Measured wall-clock time for:</a:t>
            </a:r>
            <a:endParaRPr b="1" sz="1200">
              <a:solidFill>
                <a:srgbClr val="000000"/>
              </a:solidFill>
              <a:latin typeface="Arial"/>
              <a:ea typeface="Arial"/>
              <a:cs typeface="Arial"/>
              <a:sym typeface="Arial"/>
            </a:endParaRPr>
          </a:p>
          <a:p>
            <a:pPr indent="-304800" lvl="0" marL="457200" rtl="0" algn="l">
              <a:spcBef>
                <a:spcPts val="0"/>
              </a:spcBef>
              <a:spcAft>
                <a:spcPts val="0"/>
              </a:spcAft>
              <a:buClr>
                <a:srgbClr val="000000"/>
              </a:buClr>
              <a:buSzPts val="1200"/>
              <a:buFont typeface="Arial"/>
              <a:buChar char="●"/>
            </a:pPr>
            <a:r>
              <a:rPr lang="en-GB" sz="1200">
                <a:solidFill>
                  <a:srgbClr val="000000"/>
                </a:solidFill>
                <a:latin typeface="Arial"/>
                <a:ea typeface="Arial"/>
                <a:cs typeface="Arial"/>
                <a:sym typeface="Arial"/>
              </a:rPr>
              <a:t>Serial Week 4 implementation</a:t>
            </a:r>
            <a:endParaRPr sz="1200">
              <a:solidFill>
                <a:srgbClr val="000000"/>
              </a:solidFill>
              <a:latin typeface="Arial"/>
              <a:ea typeface="Arial"/>
              <a:cs typeface="Arial"/>
              <a:sym typeface="Arial"/>
            </a:endParaRPr>
          </a:p>
          <a:p>
            <a:pPr indent="-304800" lvl="0" marL="457200" rtl="0" algn="l">
              <a:spcBef>
                <a:spcPts val="0"/>
              </a:spcBef>
              <a:spcAft>
                <a:spcPts val="0"/>
              </a:spcAft>
              <a:buClr>
                <a:srgbClr val="000000"/>
              </a:buClr>
              <a:buSzPts val="1200"/>
              <a:buFont typeface="Arial"/>
              <a:buChar char="●"/>
            </a:pPr>
            <a:r>
              <a:rPr lang="en-GB" sz="1200">
                <a:solidFill>
                  <a:srgbClr val="000000"/>
                </a:solidFill>
                <a:latin typeface="Arial"/>
                <a:ea typeface="Arial"/>
                <a:cs typeface="Arial"/>
                <a:sym typeface="Arial"/>
              </a:rPr>
              <a:t>Task 1: MPI parallel implementation</a:t>
            </a:r>
            <a:endParaRPr sz="1200">
              <a:solidFill>
                <a:srgbClr val="000000"/>
              </a:solidFill>
              <a:latin typeface="Arial"/>
              <a:ea typeface="Arial"/>
              <a:cs typeface="Arial"/>
              <a:sym typeface="Arial"/>
            </a:endParaRPr>
          </a:p>
          <a:p>
            <a:pPr indent="-304800" lvl="0" marL="457200" rtl="0" algn="l">
              <a:spcBef>
                <a:spcPts val="0"/>
              </a:spcBef>
              <a:spcAft>
                <a:spcPts val="0"/>
              </a:spcAft>
              <a:buClr>
                <a:srgbClr val="000000"/>
              </a:buClr>
              <a:buSzPts val="1200"/>
              <a:buFont typeface="Arial"/>
              <a:buChar char="●"/>
            </a:pPr>
            <a:r>
              <a:rPr lang="en-GB" sz="1200">
                <a:solidFill>
                  <a:srgbClr val="000000"/>
                </a:solidFill>
                <a:latin typeface="Arial"/>
                <a:ea typeface="Arial"/>
                <a:cs typeface="Arial"/>
                <a:sym typeface="Arial"/>
              </a:rPr>
              <a:t>Task 2: Hybrid MPI + OpenMP implementation</a:t>
            </a:r>
            <a:endParaRPr sz="1200">
              <a:solidFill>
                <a:srgbClr val="000000"/>
              </a:solidFill>
              <a:latin typeface="Arial"/>
              <a:ea typeface="Arial"/>
              <a:cs typeface="Arial"/>
              <a:sym typeface="Arial"/>
            </a:endParaRPr>
          </a:p>
          <a:p>
            <a:pPr indent="0" lvl="0" marL="0" rtl="0" algn="l">
              <a:spcBef>
                <a:spcPts val="1000"/>
              </a:spcBef>
              <a:spcAft>
                <a:spcPts val="0"/>
              </a:spcAft>
              <a:buNone/>
            </a:pPr>
            <a:r>
              <a:rPr b="1" lang="en-GB" sz="1200">
                <a:solidFill>
                  <a:srgbClr val="000000"/>
                </a:solidFill>
                <a:latin typeface="Arial"/>
                <a:ea typeface="Arial"/>
                <a:cs typeface="Arial"/>
                <a:sym typeface="Arial"/>
              </a:rPr>
              <a:t>Experiments varied:</a:t>
            </a:r>
            <a:endParaRPr b="1" sz="1200">
              <a:solidFill>
                <a:srgbClr val="000000"/>
              </a:solidFill>
              <a:latin typeface="Arial"/>
              <a:ea typeface="Arial"/>
              <a:cs typeface="Arial"/>
              <a:sym typeface="Arial"/>
            </a:endParaRPr>
          </a:p>
          <a:p>
            <a:pPr indent="-304800" lvl="0" marL="457200" rtl="0" algn="l">
              <a:spcBef>
                <a:spcPts val="0"/>
              </a:spcBef>
              <a:spcAft>
                <a:spcPts val="0"/>
              </a:spcAft>
              <a:buClr>
                <a:srgbClr val="000000"/>
              </a:buClr>
              <a:buSzPts val="1200"/>
              <a:buFont typeface="Arial"/>
              <a:buChar char="●"/>
            </a:pPr>
            <a:r>
              <a:rPr lang="en-GB" sz="1200">
                <a:solidFill>
                  <a:srgbClr val="000000"/>
                </a:solidFill>
                <a:latin typeface="Arial"/>
                <a:ea typeface="Arial"/>
                <a:cs typeface="Arial"/>
                <a:sym typeface="Arial"/>
              </a:rPr>
              <a:t>Problem size: </a:t>
            </a:r>
            <a:r>
              <a:rPr b="1" lang="en-GB" sz="1200">
                <a:solidFill>
                  <a:srgbClr val="000000"/>
                </a:solidFill>
                <a:latin typeface="Arial"/>
                <a:ea typeface="Arial"/>
                <a:cs typeface="Arial"/>
                <a:sym typeface="Arial"/>
              </a:rPr>
              <a:t>n = 10M </a:t>
            </a:r>
            <a:r>
              <a:rPr lang="en-GB" sz="1200">
                <a:solidFill>
                  <a:srgbClr val="000000"/>
                </a:solidFill>
                <a:latin typeface="Arial"/>
                <a:ea typeface="Arial"/>
                <a:cs typeface="Arial"/>
                <a:sym typeface="Arial"/>
              </a:rPr>
              <a:t>and</a:t>
            </a:r>
            <a:r>
              <a:rPr b="1" lang="en-GB" sz="1200">
                <a:solidFill>
                  <a:srgbClr val="000000"/>
                </a:solidFill>
                <a:latin typeface="Arial"/>
                <a:ea typeface="Arial"/>
                <a:cs typeface="Arial"/>
                <a:sym typeface="Arial"/>
              </a:rPr>
              <a:t> 50M</a:t>
            </a:r>
            <a:r>
              <a:rPr lang="en-GB" sz="1200">
                <a:solidFill>
                  <a:srgbClr val="000000"/>
                </a:solidFill>
                <a:latin typeface="Arial"/>
                <a:ea typeface="Arial"/>
                <a:cs typeface="Arial"/>
                <a:sym typeface="Arial"/>
              </a:rPr>
              <a:t> shown in results</a:t>
            </a:r>
            <a:endParaRPr sz="1200">
              <a:solidFill>
                <a:srgbClr val="000000"/>
              </a:solidFill>
              <a:latin typeface="Arial"/>
              <a:ea typeface="Arial"/>
              <a:cs typeface="Arial"/>
              <a:sym typeface="Arial"/>
            </a:endParaRPr>
          </a:p>
          <a:p>
            <a:pPr indent="-304800" lvl="0" marL="457200" rtl="0" algn="l">
              <a:spcBef>
                <a:spcPts val="0"/>
              </a:spcBef>
              <a:spcAft>
                <a:spcPts val="0"/>
              </a:spcAft>
              <a:buClr>
                <a:srgbClr val="000000"/>
              </a:buClr>
              <a:buSzPts val="1200"/>
              <a:buFont typeface="Arial"/>
              <a:buChar char="●"/>
            </a:pPr>
            <a:r>
              <a:rPr lang="en-GB" sz="1200">
                <a:solidFill>
                  <a:srgbClr val="000000"/>
                </a:solidFill>
                <a:latin typeface="Arial"/>
                <a:ea typeface="Arial"/>
                <a:cs typeface="Arial"/>
                <a:sym typeface="Arial"/>
              </a:rPr>
              <a:t>MPI processes: </a:t>
            </a:r>
            <a:r>
              <a:rPr b="1" lang="en-GB" sz="1200">
                <a:solidFill>
                  <a:srgbClr val="000000"/>
                </a:solidFill>
                <a:latin typeface="Arial"/>
                <a:ea typeface="Arial"/>
                <a:cs typeface="Arial"/>
                <a:sym typeface="Arial"/>
              </a:rPr>
              <a:t>1, 2, 4, 8, 16</a:t>
            </a:r>
            <a:endParaRPr b="1" sz="1200">
              <a:solidFill>
                <a:srgbClr val="000000"/>
              </a:solidFill>
              <a:latin typeface="Arial"/>
              <a:ea typeface="Arial"/>
              <a:cs typeface="Arial"/>
              <a:sym typeface="Arial"/>
            </a:endParaRPr>
          </a:p>
          <a:p>
            <a:pPr indent="-304800" lvl="0" marL="457200" rtl="0" algn="l">
              <a:spcBef>
                <a:spcPts val="0"/>
              </a:spcBef>
              <a:spcAft>
                <a:spcPts val="0"/>
              </a:spcAft>
              <a:buClr>
                <a:srgbClr val="000000"/>
              </a:buClr>
              <a:buSzPts val="1200"/>
              <a:buFont typeface="Arial"/>
              <a:buChar char="●"/>
            </a:pPr>
            <a:r>
              <a:rPr lang="en-GB" sz="1200">
                <a:solidFill>
                  <a:srgbClr val="000000"/>
                </a:solidFill>
                <a:latin typeface="Arial"/>
                <a:ea typeface="Arial"/>
                <a:cs typeface="Arial"/>
                <a:sym typeface="Arial"/>
              </a:rPr>
              <a:t>OpenMP threads: </a:t>
            </a:r>
            <a:r>
              <a:rPr b="1" lang="en-GB" sz="1200">
                <a:solidFill>
                  <a:srgbClr val="000000"/>
                </a:solidFill>
                <a:latin typeface="Arial"/>
                <a:ea typeface="Arial"/>
                <a:cs typeface="Arial"/>
                <a:sym typeface="Arial"/>
              </a:rPr>
              <a:t>1, 2, 4, 8, 16</a:t>
            </a:r>
            <a:endParaRPr b="1" sz="1200">
              <a:solidFill>
                <a:srgbClr val="000000"/>
              </a:solidFill>
              <a:latin typeface="Arial"/>
              <a:ea typeface="Arial"/>
              <a:cs typeface="Arial"/>
              <a:sym typeface="Arial"/>
            </a:endParaRPr>
          </a:p>
          <a:p>
            <a:pPr indent="-304800" lvl="0" marL="457200" rtl="0" algn="l">
              <a:spcBef>
                <a:spcPts val="0"/>
              </a:spcBef>
              <a:spcAft>
                <a:spcPts val="0"/>
              </a:spcAft>
              <a:buClr>
                <a:srgbClr val="000000"/>
              </a:buClr>
              <a:buSzPts val="1200"/>
              <a:buFont typeface="Arial"/>
              <a:buChar char="●"/>
            </a:pPr>
            <a:r>
              <a:rPr lang="en-GB" sz="1200">
                <a:solidFill>
                  <a:srgbClr val="000000"/>
                </a:solidFill>
                <a:latin typeface="Arial"/>
                <a:ea typeface="Arial"/>
                <a:cs typeface="Arial"/>
                <a:sym typeface="Arial"/>
              </a:rPr>
              <a:t>3 runs per configuration, using the average</a:t>
            </a:r>
            <a:endParaRPr sz="1200">
              <a:solidFill>
                <a:srgbClr val="000000"/>
              </a:solidFill>
              <a:latin typeface="Arial"/>
              <a:ea typeface="Arial"/>
              <a:cs typeface="Arial"/>
              <a:sym typeface="Arial"/>
            </a:endParaRPr>
          </a:p>
          <a:p>
            <a:pPr indent="0" lvl="0" marL="0" rtl="0" algn="l">
              <a:spcBef>
                <a:spcPts val="1000"/>
              </a:spcBef>
              <a:spcAft>
                <a:spcPts val="0"/>
              </a:spcAft>
              <a:buNone/>
            </a:pPr>
            <a:r>
              <a:rPr b="1" lang="en-GB" sz="1200">
                <a:solidFill>
                  <a:srgbClr val="000000"/>
                </a:solidFill>
                <a:latin typeface="Arial"/>
                <a:ea typeface="Arial"/>
                <a:cs typeface="Arial"/>
                <a:sym typeface="Arial"/>
              </a:rPr>
              <a:t>Hardware:</a:t>
            </a:r>
            <a:r>
              <a:rPr lang="en-GB" sz="1200">
                <a:solidFill>
                  <a:srgbClr val="000000"/>
                </a:solidFill>
                <a:latin typeface="Arial"/>
                <a:ea typeface="Arial"/>
                <a:cs typeface="Arial"/>
                <a:sym typeface="Arial"/>
              </a:rPr>
              <a:t> 16 CPU cores</a:t>
            </a:r>
            <a:endParaRPr b="1" sz="1200">
              <a:solidFill>
                <a:srgbClr val="000000"/>
              </a:solidFill>
              <a:latin typeface="Arial"/>
              <a:ea typeface="Arial"/>
              <a:cs typeface="Arial"/>
              <a:sym typeface="Arial"/>
            </a:endParaRPr>
          </a:p>
        </p:txBody>
      </p:sp>
      <p:sp>
        <p:nvSpPr>
          <p:cNvPr id="205" name="Google Shape;205;p32"/>
          <p:cNvSpPr txBox="1"/>
          <p:nvPr>
            <p:ph idx="1" type="body"/>
          </p:nvPr>
        </p:nvSpPr>
        <p:spPr>
          <a:xfrm>
            <a:off x="311700" y="1210200"/>
            <a:ext cx="42603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GB" sz="1400">
                <a:solidFill>
                  <a:srgbClr val="000000"/>
                </a:solidFill>
                <a:latin typeface="Arial"/>
                <a:ea typeface="Arial"/>
                <a:cs typeface="Arial"/>
                <a:sym typeface="Arial"/>
              </a:rPr>
              <a:t>Speedup calculations</a:t>
            </a:r>
            <a:endParaRPr b="1" sz="1400">
              <a:solidFill>
                <a:srgbClr val="000000"/>
              </a:solidFill>
              <a:latin typeface="Arial"/>
              <a:ea typeface="Arial"/>
              <a:cs typeface="Arial"/>
              <a:sym typeface="Arial"/>
            </a:endParaRPr>
          </a:p>
          <a:p>
            <a:pPr indent="0" lvl="0" marL="0" rtl="0" algn="l">
              <a:spcBef>
                <a:spcPts val="1000"/>
              </a:spcBef>
              <a:spcAft>
                <a:spcPts val="0"/>
              </a:spcAft>
              <a:buNone/>
            </a:pPr>
            <a:r>
              <a:rPr b="1" lang="en-GB" sz="1200">
                <a:solidFill>
                  <a:srgbClr val="000000"/>
                </a:solidFill>
                <a:latin typeface="Arial"/>
                <a:ea typeface="Arial"/>
                <a:cs typeface="Arial"/>
                <a:sym typeface="Arial"/>
              </a:rPr>
              <a:t>Empirical:</a:t>
            </a:r>
            <a:endParaRPr b="1" sz="1200">
              <a:solidFill>
                <a:srgbClr val="000000"/>
              </a:solidFill>
              <a:latin typeface="Arial"/>
              <a:ea typeface="Arial"/>
              <a:cs typeface="Arial"/>
              <a:sym typeface="Arial"/>
            </a:endParaRPr>
          </a:p>
          <a:p>
            <a:pPr indent="0" lvl="0" marL="0" rtl="0" algn="l">
              <a:spcBef>
                <a:spcPts val="0"/>
              </a:spcBef>
              <a:spcAft>
                <a:spcPts val="0"/>
              </a:spcAft>
              <a:buNone/>
            </a:pPr>
            <a:r>
              <a:t/>
            </a:r>
            <a:endParaRPr b="1" sz="1200">
              <a:solidFill>
                <a:srgbClr val="000000"/>
              </a:solidFill>
              <a:latin typeface="Arial"/>
              <a:ea typeface="Arial"/>
              <a:cs typeface="Arial"/>
              <a:sym typeface="Arial"/>
            </a:endParaRPr>
          </a:p>
          <a:p>
            <a:pPr indent="0" lvl="0" marL="0" rtl="0" algn="l">
              <a:spcBef>
                <a:spcPts val="0"/>
              </a:spcBef>
              <a:spcAft>
                <a:spcPts val="0"/>
              </a:spcAft>
              <a:buNone/>
            </a:pPr>
            <a:r>
              <a:t/>
            </a:r>
            <a:endParaRPr b="1" sz="1200">
              <a:solidFill>
                <a:srgbClr val="000000"/>
              </a:solidFill>
              <a:latin typeface="Arial"/>
              <a:ea typeface="Arial"/>
              <a:cs typeface="Arial"/>
              <a:sym typeface="Arial"/>
            </a:endParaRPr>
          </a:p>
          <a:p>
            <a:pPr indent="0" lvl="0" marL="0" rtl="0" algn="l">
              <a:spcBef>
                <a:spcPts val="0"/>
              </a:spcBef>
              <a:spcAft>
                <a:spcPts val="0"/>
              </a:spcAft>
              <a:buNone/>
            </a:pPr>
            <a:r>
              <a:t/>
            </a:r>
            <a:endParaRPr b="1" sz="1200">
              <a:solidFill>
                <a:srgbClr val="000000"/>
              </a:solidFill>
              <a:latin typeface="Arial"/>
              <a:ea typeface="Arial"/>
              <a:cs typeface="Arial"/>
              <a:sym typeface="Arial"/>
            </a:endParaRPr>
          </a:p>
          <a:p>
            <a:pPr indent="0" lvl="0" marL="0" rtl="0" algn="l">
              <a:spcBef>
                <a:spcPts val="0"/>
              </a:spcBef>
              <a:spcAft>
                <a:spcPts val="0"/>
              </a:spcAft>
              <a:buNone/>
            </a:pPr>
            <a:r>
              <a:rPr b="1" lang="en-GB" sz="1200">
                <a:solidFill>
                  <a:srgbClr val="000000"/>
                </a:solidFill>
                <a:latin typeface="Arial"/>
                <a:ea typeface="Arial"/>
                <a:cs typeface="Arial"/>
                <a:sym typeface="Arial"/>
              </a:rPr>
              <a:t>Amdahl:</a:t>
            </a:r>
            <a:endParaRPr b="1" sz="1200">
              <a:solidFill>
                <a:srgbClr val="000000"/>
              </a:solidFill>
              <a:latin typeface="Arial"/>
              <a:ea typeface="Arial"/>
              <a:cs typeface="Arial"/>
              <a:sym typeface="Arial"/>
            </a:endParaRPr>
          </a:p>
        </p:txBody>
      </p:sp>
      <p:sp>
        <p:nvSpPr>
          <p:cNvPr id="206" name="Google Shape;206;p32"/>
          <p:cNvSpPr txBox="1"/>
          <p:nvPr/>
        </p:nvSpPr>
        <p:spPr>
          <a:xfrm>
            <a:off x="582275" y="4347400"/>
            <a:ext cx="32376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100"/>
              <a:t>P = MPI processes (Task 1)</a:t>
            </a:r>
            <a:endParaRPr sz="1100"/>
          </a:p>
          <a:p>
            <a:pPr indent="0" lvl="0" marL="0" rtl="0" algn="l">
              <a:spcBef>
                <a:spcPts val="0"/>
              </a:spcBef>
              <a:spcAft>
                <a:spcPts val="0"/>
              </a:spcAft>
              <a:buNone/>
            </a:pPr>
            <a:r>
              <a:rPr lang="en-GB" sz="1100"/>
              <a:t>P = MPI processes × OpenMP threads (Task 2)</a:t>
            </a:r>
            <a:endParaRPr sz="1100"/>
          </a:p>
        </p:txBody>
      </p:sp>
      <p:grpSp>
        <p:nvGrpSpPr>
          <p:cNvPr id="207" name="Google Shape;207;p32"/>
          <p:cNvGrpSpPr/>
          <p:nvPr/>
        </p:nvGrpSpPr>
        <p:grpSpPr>
          <a:xfrm>
            <a:off x="582276" y="1686206"/>
            <a:ext cx="3439415" cy="2613958"/>
            <a:chOff x="4842576" y="1705881"/>
            <a:chExt cx="3439415" cy="2613958"/>
          </a:xfrm>
        </p:grpSpPr>
        <p:sp>
          <p:nvSpPr>
            <p:cNvPr id="208" name="Google Shape;208;p32"/>
            <p:cNvSpPr txBox="1"/>
            <p:nvPr/>
          </p:nvSpPr>
          <p:spPr>
            <a:xfrm>
              <a:off x="4842577" y="1909556"/>
              <a:ext cx="11556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600">
                  <a:solidFill>
                    <a:schemeClr val="dk2"/>
                  </a:solidFill>
                  <a:latin typeface="Roboto"/>
                  <a:ea typeface="Roboto"/>
                  <a:cs typeface="Roboto"/>
                  <a:sym typeface="Roboto"/>
                </a:rPr>
                <a:t>S</a:t>
              </a:r>
              <a:r>
                <a:rPr baseline="-25000" lang="en-GB" sz="1600">
                  <a:solidFill>
                    <a:schemeClr val="dk2"/>
                  </a:solidFill>
                  <a:latin typeface="Roboto"/>
                  <a:ea typeface="Roboto"/>
                  <a:cs typeface="Roboto"/>
                  <a:sym typeface="Roboto"/>
                </a:rPr>
                <a:t>empirical</a:t>
              </a:r>
              <a:r>
                <a:rPr lang="en-GB" sz="1600">
                  <a:solidFill>
                    <a:schemeClr val="dk2"/>
                  </a:solidFill>
                  <a:latin typeface="Roboto"/>
                  <a:ea typeface="Roboto"/>
                  <a:cs typeface="Roboto"/>
                  <a:sym typeface="Roboto"/>
                </a:rPr>
                <a:t> = </a:t>
              </a:r>
              <a:endParaRPr sz="1600">
                <a:solidFill>
                  <a:schemeClr val="dk2"/>
                </a:solidFill>
                <a:latin typeface="Roboto"/>
                <a:ea typeface="Roboto"/>
                <a:cs typeface="Roboto"/>
                <a:sym typeface="Roboto"/>
              </a:endParaRPr>
            </a:p>
          </p:txBody>
        </p:sp>
        <p:sp>
          <p:nvSpPr>
            <p:cNvPr id="209" name="Google Shape;209;p32"/>
            <p:cNvSpPr txBox="1"/>
            <p:nvPr/>
          </p:nvSpPr>
          <p:spPr>
            <a:xfrm>
              <a:off x="5856352" y="2109501"/>
              <a:ext cx="8721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600">
                  <a:solidFill>
                    <a:schemeClr val="dk2"/>
                  </a:solidFill>
                  <a:latin typeface="Roboto"/>
                  <a:ea typeface="Roboto"/>
                  <a:cs typeface="Roboto"/>
                  <a:sym typeface="Roboto"/>
                </a:rPr>
                <a:t>T</a:t>
              </a:r>
              <a:r>
                <a:rPr baseline="-25000" lang="en-GB" sz="1600">
                  <a:solidFill>
                    <a:schemeClr val="dk2"/>
                  </a:solidFill>
                  <a:latin typeface="Roboto"/>
                  <a:ea typeface="Roboto"/>
                  <a:cs typeface="Roboto"/>
                  <a:sym typeface="Roboto"/>
                </a:rPr>
                <a:t>parallel</a:t>
              </a:r>
              <a:endParaRPr baseline="-25000" sz="1600">
                <a:solidFill>
                  <a:schemeClr val="dk2"/>
                </a:solidFill>
                <a:latin typeface="Roboto"/>
                <a:ea typeface="Roboto"/>
                <a:cs typeface="Roboto"/>
                <a:sym typeface="Roboto"/>
              </a:endParaRPr>
            </a:p>
          </p:txBody>
        </p:sp>
        <p:sp>
          <p:nvSpPr>
            <p:cNvPr id="210" name="Google Shape;210;p32"/>
            <p:cNvSpPr txBox="1"/>
            <p:nvPr/>
          </p:nvSpPr>
          <p:spPr>
            <a:xfrm>
              <a:off x="5856352" y="1705881"/>
              <a:ext cx="8721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600">
                  <a:solidFill>
                    <a:schemeClr val="dk2"/>
                  </a:solidFill>
                  <a:latin typeface="Roboto"/>
                  <a:ea typeface="Roboto"/>
                  <a:cs typeface="Roboto"/>
                  <a:sym typeface="Roboto"/>
                </a:rPr>
                <a:t>T</a:t>
              </a:r>
              <a:r>
                <a:rPr baseline="-25000" lang="en-GB" sz="1600">
                  <a:solidFill>
                    <a:schemeClr val="dk2"/>
                  </a:solidFill>
                  <a:latin typeface="Roboto"/>
                  <a:ea typeface="Roboto"/>
                  <a:cs typeface="Roboto"/>
                  <a:sym typeface="Roboto"/>
                </a:rPr>
                <a:t>serial</a:t>
              </a:r>
              <a:endParaRPr baseline="-25000" sz="1600">
                <a:solidFill>
                  <a:schemeClr val="dk2"/>
                </a:solidFill>
                <a:latin typeface="Roboto"/>
                <a:ea typeface="Roboto"/>
                <a:cs typeface="Roboto"/>
                <a:sym typeface="Roboto"/>
              </a:endParaRPr>
            </a:p>
          </p:txBody>
        </p:sp>
        <p:cxnSp>
          <p:nvCxnSpPr>
            <p:cNvPr id="211" name="Google Shape;211;p32"/>
            <p:cNvCxnSpPr/>
            <p:nvPr/>
          </p:nvCxnSpPr>
          <p:spPr>
            <a:xfrm>
              <a:off x="5849152" y="2156203"/>
              <a:ext cx="682800" cy="0"/>
            </a:xfrm>
            <a:prstGeom prst="straightConnector1">
              <a:avLst/>
            </a:prstGeom>
            <a:noFill/>
            <a:ln cap="flat" cmpd="sng" w="28575">
              <a:solidFill>
                <a:schemeClr val="dk2"/>
              </a:solidFill>
              <a:prstDash val="solid"/>
              <a:round/>
              <a:headEnd len="med" w="med" type="none"/>
              <a:tailEnd len="med" w="med" type="none"/>
            </a:ln>
          </p:spPr>
        </p:cxnSp>
        <p:sp>
          <p:nvSpPr>
            <p:cNvPr id="212" name="Google Shape;212;p32"/>
            <p:cNvSpPr txBox="1"/>
            <p:nvPr/>
          </p:nvSpPr>
          <p:spPr>
            <a:xfrm>
              <a:off x="4842576" y="2844085"/>
              <a:ext cx="5226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600">
                  <a:solidFill>
                    <a:schemeClr val="dk2"/>
                  </a:solidFill>
                  <a:latin typeface="Roboto"/>
                  <a:ea typeface="Roboto"/>
                  <a:cs typeface="Roboto"/>
                  <a:sym typeface="Roboto"/>
                </a:rPr>
                <a:t>s</a:t>
              </a:r>
              <a:r>
                <a:rPr lang="en-GB" sz="1600">
                  <a:solidFill>
                    <a:schemeClr val="dk2"/>
                  </a:solidFill>
                  <a:latin typeface="Roboto"/>
                  <a:ea typeface="Roboto"/>
                  <a:cs typeface="Roboto"/>
                  <a:sym typeface="Roboto"/>
                </a:rPr>
                <a:t> = </a:t>
              </a:r>
              <a:endParaRPr sz="1600">
                <a:solidFill>
                  <a:schemeClr val="dk2"/>
                </a:solidFill>
                <a:latin typeface="Roboto"/>
                <a:ea typeface="Roboto"/>
                <a:cs typeface="Roboto"/>
                <a:sym typeface="Roboto"/>
              </a:endParaRPr>
            </a:p>
          </p:txBody>
        </p:sp>
        <p:sp>
          <p:nvSpPr>
            <p:cNvPr id="213" name="Google Shape;213;p32"/>
            <p:cNvSpPr txBox="1"/>
            <p:nvPr/>
          </p:nvSpPr>
          <p:spPr>
            <a:xfrm>
              <a:off x="5877368" y="3054044"/>
              <a:ext cx="872100" cy="431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1600">
                  <a:solidFill>
                    <a:schemeClr val="dk2"/>
                  </a:solidFill>
                  <a:latin typeface="Roboto"/>
                  <a:ea typeface="Roboto"/>
                  <a:cs typeface="Roboto"/>
                  <a:sym typeface="Roboto"/>
                </a:rPr>
                <a:t>T</a:t>
              </a:r>
              <a:r>
                <a:rPr baseline="-25000" lang="en-GB" sz="1600">
                  <a:solidFill>
                    <a:schemeClr val="dk2"/>
                  </a:solidFill>
                  <a:latin typeface="Roboto"/>
                  <a:ea typeface="Roboto"/>
                  <a:cs typeface="Roboto"/>
                  <a:sym typeface="Roboto"/>
                </a:rPr>
                <a:t>total</a:t>
              </a:r>
              <a:endParaRPr baseline="-25000" sz="1600">
                <a:solidFill>
                  <a:schemeClr val="dk2"/>
                </a:solidFill>
                <a:latin typeface="Roboto"/>
                <a:ea typeface="Roboto"/>
                <a:cs typeface="Roboto"/>
                <a:sym typeface="Roboto"/>
              </a:endParaRPr>
            </a:p>
          </p:txBody>
        </p:sp>
        <p:sp>
          <p:nvSpPr>
            <p:cNvPr id="214" name="Google Shape;214;p32"/>
            <p:cNvSpPr txBox="1"/>
            <p:nvPr/>
          </p:nvSpPr>
          <p:spPr>
            <a:xfrm>
              <a:off x="5351923" y="2640400"/>
              <a:ext cx="17265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600">
                  <a:solidFill>
                    <a:schemeClr val="dk2"/>
                  </a:solidFill>
                  <a:latin typeface="Roboto"/>
                  <a:ea typeface="Roboto"/>
                  <a:cs typeface="Roboto"/>
                  <a:sym typeface="Roboto"/>
                </a:rPr>
                <a:t>T</a:t>
              </a:r>
              <a:r>
                <a:rPr baseline="-25000" lang="en-GB" sz="1600">
                  <a:solidFill>
                    <a:schemeClr val="dk2"/>
                  </a:solidFill>
                  <a:latin typeface="Roboto"/>
                  <a:ea typeface="Roboto"/>
                  <a:cs typeface="Roboto"/>
                  <a:sym typeface="Roboto"/>
                </a:rPr>
                <a:t>communication </a:t>
              </a:r>
              <a:r>
                <a:rPr lang="en-GB" sz="1600">
                  <a:solidFill>
                    <a:schemeClr val="dk2"/>
                  </a:solidFill>
                  <a:latin typeface="Roboto"/>
                  <a:ea typeface="Roboto"/>
                  <a:cs typeface="Roboto"/>
                  <a:sym typeface="Roboto"/>
                </a:rPr>
                <a:t>+ T</a:t>
              </a:r>
              <a:r>
                <a:rPr baseline="-25000" lang="en-GB" sz="1600">
                  <a:solidFill>
                    <a:schemeClr val="dk2"/>
                  </a:solidFill>
                  <a:latin typeface="Roboto"/>
                  <a:ea typeface="Roboto"/>
                  <a:cs typeface="Roboto"/>
                  <a:sym typeface="Roboto"/>
                </a:rPr>
                <a:t>post</a:t>
              </a:r>
              <a:endParaRPr baseline="-25000" sz="1600">
                <a:solidFill>
                  <a:schemeClr val="dk2"/>
                </a:solidFill>
                <a:latin typeface="Roboto"/>
                <a:ea typeface="Roboto"/>
                <a:cs typeface="Roboto"/>
                <a:sym typeface="Roboto"/>
              </a:endParaRPr>
            </a:p>
          </p:txBody>
        </p:sp>
        <p:cxnSp>
          <p:nvCxnSpPr>
            <p:cNvPr id="215" name="Google Shape;215;p32"/>
            <p:cNvCxnSpPr/>
            <p:nvPr/>
          </p:nvCxnSpPr>
          <p:spPr>
            <a:xfrm>
              <a:off x="5344718" y="3090739"/>
              <a:ext cx="1679400" cy="0"/>
            </a:xfrm>
            <a:prstGeom prst="straightConnector1">
              <a:avLst/>
            </a:prstGeom>
            <a:noFill/>
            <a:ln cap="flat" cmpd="sng" w="28575">
              <a:solidFill>
                <a:schemeClr val="dk2"/>
              </a:solidFill>
              <a:prstDash val="solid"/>
              <a:round/>
              <a:headEnd len="med" w="med" type="none"/>
              <a:tailEnd len="med" w="med" type="none"/>
            </a:ln>
          </p:spPr>
        </p:cxnSp>
        <p:sp>
          <p:nvSpPr>
            <p:cNvPr id="216" name="Google Shape;216;p32"/>
            <p:cNvSpPr txBox="1"/>
            <p:nvPr/>
          </p:nvSpPr>
          <p:spPr>
            <a:xfrm>
              <a:off x="7348991" y="2862675"/>
              <a:ext cx="933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p</a:t>
              </a:r>
              <a:r>
                <a:rPr lang="en-GB"/>
                <a:t> = 1 − s</a:t>
              </a:r>
              <a:endParaRPr/>
            </a:p>
          </p:txBody>
        </p:sp>
        <p:sp>
          <p:nvSpPr>
            <p:cNvPr id="217" name="Google Shape;217;p32"/>
            <p:cNvSpPr txBox="1"/>
            <p:nvPr/>
          </p:nvSpPr>
          <p:spPr>
            <a:xfrm>
              <a:off x="4842577" y="3688831"/>
              <a:ext cx="11556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600">
                  <a:solidFill>
                    <a:schemeClr val="dk2"/>
                  </a:solidFill>
                  <a:latin typeface="Roboto"/>
                  <a:ea typeface="Roboto"/>
                  <a:cs typeface="Roboto"/>
                  <a:sym typeface="Roboto"/>
                </a:rPr>
                <a:t>S</a:t>
              </a:r>
              <a:r>
                <a:rPr baseline="-25000" lang="en-GB" sz="1600">
                  <a:solidFill>
                    <a:schemeClr val="dk2"/>
                  </a:solidFill>
                  <a:latin typeface="Roboto"/>
                  <a:ea typeface="Roboto"/>
                  <a:cs typeface="Roboto"/>
                  <a:sym typeface="Roboto"/>
                </a:rPr>
                <a:t>theoretical</a:t>
              </a:r>
              <a:r>
                <a:rPr lang="en-GB" sz="1600">
                  <a:solidFill>
                    <a:schemeClr val="dk2"/>
                  </a:solidFill>
                  <a:latin typeface="Roboto"/>
                  <a:ea typeface="Roboto"/>
                  <a:cs typeface="Roboto"/>
                  <a:sym typeface="Roboto"/>
                </a:rPr>
                <a:t> = </a:t>
              </a:r>
              <a:endParaRPr sz="1600">
                <a:solidFill>
                  <a:schemeClr val="dk2"/>
                </a:solidFill>
                <a:latin typeface="Roboto"/>
                <a:ea typeface="Roboto"/>
                <a:cs typeface="Roboto"/>
                <a:sym typeface="Roboto"/>
              </a:endParaRPr>
            </a:p>
          </p:txBody>
        </p:sp>
        <p:sp>
          <p:nvSpPr>
            <p:cNvPr id="218" name="Google Shape;218;p32"/>
            <p:cNvSpPr txBox="1"/>
            <p:nvPr/>
          </p:nvSpPr>
          <p:spPr>
            <a:xfrm>
              <a:off x="5761702" y="3888739"/>
              <a:ext cx="872100" cy="431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1600">
                  <a:solidFill>
                    <a:schemeClr val="dk2"/>
                  </a:solidFill>
                  <a:latin typeface="Roboto"/>
                  <a:ea typeface="Roboto"/>
                  <a:cs typeface="Roboto"/>
                  <a:sym typeface="Roboto"/>
                </a:rPr>
                <a:t>s + p/P</a:t>
              </a:r>
              <a:endParaRPr baseline="-25000" sz="1600">
                <a:solidFill>
                  <a:schemeClr val="dk2"/>
                </a:solidFill>
                <a:latin typeface="Roboto"/>
                <a:ea typeface="Roboto"/>
                <a:cs typeface="Roboto"/>
                <a:sym typeface="Roboto"/>
              </a:endParaRPr>
            </a:p>
          </p:txBody>
        </p:sp>
        <p:sp>
          <p:nvSpPr>
            <p:cNvPr id="219" name="Google Shape;219;p32"/>
            <p:cNvSpPr txBox="1"/>
            <p:nvPr/>
          </p:nvSpPr>
          <p:spPr>
            <a:xfrm>
              <a:off x="5856350" y="3485150"/>
              <a:ext cx="682800" cy="431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1600">
                  <a:solidFill>
                    <a:schemeClr val="dk2"/>
                  </a:solidFill>
                  <a:latin typeface="Roboto"/>
                  <a:ea typeface="Roboto"/>
                  <a:cs typeface="Roboto"/>
                  <a:sym typeface="Roboto"/>
                </a:rPr>
                <a:t>1</a:t>
              </a:r>
              <a:endParaRPr baseline="-25000" sz="1600">
                <a:solidFill>
                  <a:schemeClr val="dk2"/>
                </a:solidFill>
                <a:latin typeface="Roboto"/>
                <a:ea typeface="Roboto"/>
                <a:cs typeface="Roboto"/>
                <a:sym typeface="Roboto"/>
              </a:endParaRPr>
            </a:p>
          </p:txBody>
        </p:sp>
        <p:cxnSp>
          <p:nvCxnSpPr>
            <p:cNvPr id="220" name="Google Shape;220;p32"/>
            <p:cNvCxnSpPr/>
            <p:nvPr/>
          </p:nvCxnSpPr>
          <p:spPr>
            <a:xfrm>
              <a:off x="5849152" y="3935478"/>
              <a:ext cx="682800" cy="0"/>
            </a:xfrm>
            <a:prstGeom prst="straightConnector1">
              <a:avLst/>
            </a:prstGeom>
            <a:noFill/>
            <a:ln cap="flat" cmpd="sng" w="28575">
              <a:solidFill>
                <a:schemeClr val="dk2"/>
              </a:solidFill>
              <a:prstDash val="solid"/>
              <a:round/>
              <a:headEnd len="med" w="med" type="none"/>
              <a:tailEnd len="med" w="med" type="none"/>
            </a:ln>
          </p:spPr>
        </p:cxn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3"/>
          <p:cNvSpPr txBox="1"/>
          <p:nvPr/>
        </p:nvSpPr>
        <p:spPr>
          <a:xfrm>
            <a:off x="55029" y="4074579"/>
            <a:ext cx="68772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1200"/>
              <a:t>Experimental environment:</a:t>
            </a:r>
            <a:r>
              <a:rPr lang="en-GB" sz="1200"/>
              <a:t> Linux Docker environment with an Intel Core i9-9880H @ 2.30 GHz, 16 available CPU cores, Open MPI 4.1.2, and GCC compilation with -O2 optimisation.</a:t>
            </a:r>
            <a:endParaRPr sz="1200"/>
          </a:p>
          <a:p>
            <a:pPr indent="0" lvl="0" marL="0" rtl="0" algn="l">
              <a:spcBef>
                <a:spcPts val="0"/>
              </a:spcBef>
              <a:spcAft>
                <a:spcPts val="0"/>
              </a:spcAft>
              <a:buNone/>
            </a:pPr>
            <a:r>
              <a:rPr lang="en-GB" sz="1200"/>
              <a:t>3 runs per configuration.</a:t>
            </a:r>
            <a:endParaRPr sz="1200"/>
          </a:p>
        </p:txBody>
      </p:sp>
      <p:pic>
        <p:nvPicPr>
          <p:cNvPr id="226" name="Google Shape;226;p33"/>
          <p:cNvPicPr preferRelativeResize="0"/>
          <p:nvPr/>
        </p:nvPicPr>
        <p:blipFill>
          <a:blip r:embed="rId3">
            <a:alphaModFix/>
          </a:blip>
          <a:stretch>
            <a:fillRect/>
          </a:stretch>
        </p:blipFill>
        <p:spPr>
          <a:xfrm>
            <a:off x="55029" y="55029"/>
            <a:ext cx="6877050" cy="4019550"/>
          </a:xfrm>
          <a:prstGeom prst="rect">
            <a:avLst/>
          </a:prstGeom>
          <a:noFill/>
          <a:ln>
            <a:noFill/>
          </a:ln>
        </p:spPr>
      </p:pic>
      <p:sp>
        <p:nvSpPr>
          <p:cNvPr id="227" name="Google Shape;227;p33"/>
          <p:cNvSpPr txBox="1"/>
          <p:nvPr/>
        </p:nvSpPr>
        <p:spPr>
          <a:xfrm>
            <a:off x="6883199" y="55025"/>
            <a:ext cx="2205900" cy="3458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 Empirical speedup increased from </a:t>
            </a:r>
            <a:r>
              <a:rPr b="1" lang="en-GB"/>
              <a:t>1.59× </a:t>
            </a:r>
            <a:r>
              <a:rPr lang="en-GB"/>
              <a:t>to</a:t>
            </a:r>
            <a:r>
              <a:rPr b="1" lang="en-GB"/>
              <a:t> 7.39×</a:t>
            </a:r>
            <a:r>
              <a:rPr lang="en-GB"/>
              <a:t> up to 8 processes.</a:t>
            </a:r>
            <a:endParaRPr/>
          </a:p>
          <a:p>
            <a:pPr indent="0" lvl="0" marL="0" rtl="0" algn="l">
              <a:spcBef>
                <a:spcPts val="1000"/>
              </a:spcBef>
              <a:spcAft>
                <a:spcPts val="0"/>
              </a:spcAft>
              <a:buNone/>
            </a:pPr>
            <a:r>
              <a:rPr lang="en-GB"/>
              <a:t>- At </a:t>
            </a:r>
            <a:r>
              <a:rPr lang="en-GB"/>
              <a:t>16 processes</a:t>
            </a:r>
            <a:r>
              <a:rPr lang="en-GB"/>
              <a:t>, empirical speedup slightly decreased to </a:t>
            </a:r>
            <a:r>
              <a:rPr b="1" lang="en-GB"/>
              <a:t>7.39×</a:t>
            </a:r>
            <a:r>
              <a:rPr lang="en-GB"/>
              <a:t>, despite theoretical speedup increasing to </a:t>
            </a:r>
            <a:r>
              <a:rPr b="1" lang="en-GB"/>
              <a:t>10.52×</a:t>
            </a:r>
            <a:r>
              <a:rPr lang="en-GB"/>
              <a:t>.</a:t>
            </a:r>
            <a:endParaRPr/>
          </a:p>
          <a:p>
            <a:pPr indent="0" lvl="0" marL="0" rtl="0" algn="l">
              <a:spcBef>
                <a:spcPts val="1000"/>
              </a:spcBef>
              <a:spcAft>
                <a:spcPts val="1000"/>
              </a:spcAft>
              <a:buNone/>
            </a:pPr>
            <a:r>
              <a:rPr lang="en-GB"/>
              <a:t>- The gap at higher process counts indicates the effect of communication and parallelisation overheads.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34"/>
          <p:cNvSpPr txBox="1"/>
          <p:nvPr/>
        </p:nvSpPr>
        <p:spPr>
          <a:xfrm>
            <a:off x="55029" y="4115879"/>
            <a:ext cx="67869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1200"/>
              <a:t>Experimental environment:</a:t>
            </a:r>
            <a:r>
              <a:rPr lang="en-GB" sz="1200"/>
              <a:t> Linux Docker environment with an Intel Core i9-9880H @ 2.30 GHz, 16 available CPU cores, Open MPI 4.1.2, and GCC compilation with -O2 optimisation. </a:t>
            </a:r>
            <a:endParaRPr sz="1200"/>
          </a:p>
          <a:p>
            <a:pPr indent="0" lvl="0" marL="0" rtl="0" algn="l">
              <a:spcBef>
                <a:spcPts val="0"/>
              </a:spcBef>
              <a:spcAft>
                <a:spcPts val="0"/>
              </a:spcAft>
              <a:buNone/>
            </a:pPr>
            <a:r>
              <a:rPr lang="en-GB" sz="1200"/>
              <a:t>3 runs per configuration.</a:t>
            </a:r>
            <a:endParaRPr sz="1200"/>
          </a:p>
        </p:txBody>
      </p:sp>
      <p:pic>
        <p:nvPicPr>
          <p:cNvPr id="233" name="Google Shape;233;p34"/>
          <p:cNvPicPr preferRelativeResize="0"/>
          <p:nvPr/>
        </p:nvPicPr>
        <p:blipFill>
          <a:blip r:embed="rId3">
            <a:alphaModFix/>
          </a:blip>
          <a:stretch>
            <a:fillRect/>
          </a:stretch>
        </p:blipFill>
        <p:spPr>
          <a:xfrm>
            <a:off x="55029" y="55029"/>
            <a:ext cx="6786883" cy="4060850"/>
          </a:xfrm>
          <a:prstGeom prst="rect">
            <a:avLst/>
          </a:prstGeom>
          <a:noFill/>
          <a:ln>
            <a:noFill/>
          </a:ln>
        </p:spPr>
      </p:pic>
      <p:sp>
        <p:nvSpPr>
          <p:cNvPr id="234" name="Google Shape;234;p34"/>
          <p:cNvSpPr txBox="1"/>
          <p:nvPr/>
        </p:nvSpPr>
        <p:spPr>
          <a:xfrm>
            <a:off x="6883199" y="55025"/>
            <a:ext cx="2205900" cy="380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 </a:t>
            </a:r>
            <a:r>
              <a:rPr lang="en-GB"/>
              <a:t>Empirical speedup increased from </a:t>
            </a:r>
            <a:r>
              <a:rPr b="1" lang="en-GB"/>
              <a:t>1.06× </a:t>
            </a:r>
            <a:r>
              <a:rPr lang="en-GB"/>
              <a:t>to</a:t>
            </a:r>
            <a:r>
              <a:rPr b="1" lang="en-GB"/>
              <a:t> 6.96×</a:t>
            </a:r>
            <a:r>
              <a:rPr lang="en-GB"/>
              <a:t> as processes increased to 16.</a:t>
            </a:r>
            <a:endParaRPr/>
          </a:p>
          <a:p>
            <a:pPr indent="0" lvl="0" marL="0" rtl="0" algn="l">
              <a:spcBef>
                <a:spcPts val="1000"/>
              </a:spcBef>
              <a:spcAft>
                <a:spcPts val="0"/>
              </a:spcAft>
              <a:buNone/>
            </a:pPr>
            <a:r>
              <a:rPr lang="en-GB"/>
              <a:t>- Theoretical speedup increased from </a:t>
            </a:r>
            <a:r>
              <a:rPr b="1" lang="en-GB"/>
              <a:t>1.00× </a:t>
            </a:r>
            <a:r>
              <a:rPr lang="en-GB"/>
              <a:t>to</a:t>
            </a:r>
            <a:r>
              <a:rPr b="1" lang="en-GB"/>
              <a:t> 12.63×</a:t>
            </a:r>
            <a:r>
              <a:rPr lang="en-GB"/>
              <a:t>.</a:t>
            </a:r>
            <a:endParaRPr/>
          </a:p>
          <a:p>
            <a:pPr indent="0" lvl="0" marL="0" marR="0" rtl="0" algn="l">
              <a:lnSpc>
                <a:spcPct val="100000"/>
              </a:lnSpc>
              <a:spcBef>
                <a:spcPts val="1000"/>
              </a:spcBef>
              <a:spcAft>
                <a:spcPts val="0"/>
              </a:spcAft>
              <a:buNone/>
            </a:pPr>
            <a:r>
              <a:rPr lang="en-GB"/>
              <a:t>- Gap between empirical and theoretical speedup became larger as no. of processes increased.</a:t>
            </a:r>
            <a:endParaRPr/>
          </a:p>
          <a:p>
            <a:pPr indent="0" lvl="0" marL="0" marR="0" rtl="0" algn="l">
              <a:lnSpc>
                <a:spcPct val="100000"/>
              </a:lnSpc>
              <a:spcBef>
                <a:spcPts val="1000"/>
              </a:spcBef>
              <a:spcAft>
                <a:spcPts val="1000"/>
              </a:spcAft>
              <a:buNone/>
            </a:pPr>
            <a:r>
              <a:rPr lang="en-GB"/>
              <a:t>- Larger workload → better scaling, but overhead still limits real speedup.</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5"/>
          <p:cNvSpPr txBox="1"/>
          <p:nvPr/>
        </p:nvSpPr>
        <p:spPr>
          <a:xfrm>
            <a:off x="55029" y="4115879"/>
            <a:ext cx="67743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1200"/>
              <a:t>Experimental environment:</a:t>
            </a:r>
            <a:r>
              <a:rPr lang="en-GB" sz="1200"/>
              <a:t> Linux Docker environment with an Intel Core i9-9880H @ 2.30 GHz, 16 available CPU cores, Open MPI 4.1.2, and GCC compilation with -O2 optimisation.</a:t>
            </a:r>
            <a:endParaRPr sz="1200"/>
          </a:p>
          <a:p>
            <a:pPr indent="0" lvl="0" marL="0" rtl="0" algn="l">
              <a:spcBef>
                <a:spcPts val="0"/>
              </a:spcBef>
              <a:spcAft>
                <a:spcPts val="0"/>
              </a:spcAft>
              <a:buNone/>
            </a:pPr>
            <a:r>
              <a:rPr lang="en-GB" sz="1200"/>
              <a:t>3 runs per configuration.</a:t>
            </a:r>
            <a:endParaRPr sz="1200"/>
          </a:p>
        </p:txBody>
      </p:sp>
      <p:pic>
        <p:nvPicPr>
          <p:cNvPr id="240" name="Google Shape;240;p35"/>
          <p:cNvPicPr preferRelativeResize="0"/>
          <p:nvPr/>
        </p:nvPicPr>
        <p:blipFill>
          <a:blip r:embed="rId3">
            <a:alphaModFix/>
          </a:blip>
          <a:stretch>
            <a:fillRect/>
          </a:stretch>
        </p:blipFill>
        <p:spPr>
          <a:xfrm>
            <a:off x="55029" y="55029"/>
            <a:ext cx="6774321" cy="4060850"/>
          </a:xfrm>
          <a:prstGeom prst="rect">
            <a:avLst/>
          </a:prstGeom>
          <a:noFill/>
          <a:ln>
            <a:noFill/>
          </a:ln>
        </p:spPr>
      </p:pic>
      <p:sp>
        <p:nvSpPr>
          <p:cNvPr id="241" name="Google Shape;241;p35"/>
          <p:cNvSpPr txBox="1"/>
          <p:nvPr/>
        </p:nvSpPr>
        <p:spPr>
          <a:xfrm>
            <a:off x="6883199" y="55025"/>
            <a:ext cx="2205900" cy="3673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 </a:t>
            </a:r>
            <a:r>
              <a:rPr lang="en-GB"/>
              <a:t>Increasing OpenMP threads generally improved empirical speedup for a fixed MPI process count.</a:t>
            </a:r>
            <a:endParaRPr/>
          </a:p>
          <a:p>
            <a:pPr indent="0" lvl="0" marL="0" rtl="0" algn="l">
              <a:spcBef>
                <a:spcPts val="1000"/>
              </a:spcBef>
              <a:spcAft>
                <a:spcPts val="0"/>
              </a:spcAft>
              <a:buNone/>
            </a:pPr>
            <a:r>
              <a:rPr lang="en-GB"/>
              <a:t>- Configurations with the same number of total workers have the same theoretical Amdahl speedup.</a:t>
            </a:r>
            <a:endParaRPr/>
          </a:p>
          <a:p>
            <a:pPr indent="0" lvl="0" marL="0" rtl="0" algn="l">
              <a:spcBef>
                <a:spcPts val="1000"/>
              </a:spcBef>
              <a:spcAft>
                <a:spcPts val="1000"/>
              </a:spcAft>
              <a:buNone/>
            </a:pPr>
            <a:r>
              <a:rPr lang="en-GB"/>
              <a:t>- At higher worker counts, empirical speedup increasingly diverged from the theoretical prediction.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36"/>
          <p:cNvSpPr txBox="1"/>
          <p:nvPr/>
        </p:nvSpPr>
        <p:spPr>
          <a:xfrm>
            <a:off x="45858" y="4106708"/>
            <a:ext cx="65439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1200"/>
              <a:t>Experimental environment:</a:t>
            </a:r>
            <a:r>
              <a:rPr lang="en-GB" sz="1200"/>
              <a:t> Linux Docker environment with an Intel Core i9-9880H @ 2.30 GHz, 16 available CPU cores, Open MPI 4.1.2, and GCC compilation with -O2 optimisation.</a:t>
            </a:r>
            <a:endParaRPr sz="1200"/>
          </a:p>
          <a:p>
            <a:pPr indent="0" lvl="0" marL="0" rtl="0" algn="l">
              <a:spcBef>
                <a:spcPts val="0"/>
              </a:spcBef>
              <a:spcAft>
                <a:spcPts val="0"/>
              </a:spcAft>
              <a:buNone/>
            </a:pPr>
            <a:r>
              <a:rPr lang="en-GB" sz="1200"/>
              <a:t>3 runs per configuration.</a:t>
            </a:r>
            <a:endParaRPr sz="1200"/>
          </a:p>
        </p:txBody>
      </p:sp>
      <p:pic>
        <p:nvPicPr>
          <p:cNvPr id="247" name="Google Shape;247;p36"/>
          <p:cNvPicPr preferRelativeResize="0"/>
          <p:nvPr/>
        </p:nvPicPr>
        <p:blipFill>
          <a:blip r:embed="rId3">
            <a:alphaModFix/>
          </a:blip>
          <a:stretch>
            <a:fillRect/>
          </a:stretch>
        </p:blipFill>
        <p:spPr>
          <a:xfrm>
            <a:off x="45865" y="45851"/>
            <a:ext cx="6837338" cy="4060850"/>
          </a:xfrm>
          <a:prstGeom prst="rect">
            <a:avLst/>
          </a:prstGeom>
          <a:noFill/>
          <a:ln>
            <a:noFill/>
          </a:ln>
        </p:spPr>
      </p:pic>
      <p:sp>
        <p:nvSpPr>
          <p:cNvPr id="248" name="Google Shape;248;p36"/>
          <p:cNvSpPr txBox="1"/>
          <p:nvPr/>
        </p:nvSpPr>
        <p:spPr>
          <a:xfrm>
            <a:off x="6883199" y="55025"/>
            <a:ext cx="2205900" cy="3458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 </a:t>
            </a:r>
            <a:r>
              <a:rPr lang="en-GB"/>
              <a:t>Empirical speedup increased with additional workers, but at a slower rate than theoretical speedup.</a:t>
            </a:r>
            <a:endParaRPr/>
          </a:p>
          <a:p>
            <a:pPr indent="0" lvl="0" marL="0" rtl="0" algn="l">
              <a:spcBef>
                <a:spcPts val="1000"/>
              </a:spcBef>
              <a:spcAft>
                <a:spcPts val="0"/>
              </a:spcAft>
              <a:buNone/>
            </a:pPr>
            <a:r>
              <a:rPr lang="en-GB"/>
              <a:t>- Theoretical speedup reached </a:t>
            </a:r>
            <a:r>
              <a:rPr b="1" lang="en-GB"/>
              <a:t>12.63×</a:t>
            </a:r>
            <a:r>
              <a:rPr lang="en-GB"/>
              <a:t> at 16 workers, while the best empirical speedup was </a:t>
            </a:r>
            <a:r>
              <a:rPr b="1" lang="en-GB"/>
              <a:t>8.49×</a:t>
            </a:r>
            <a:r>
              <a:rPr lang="en-GB"/>
              <a:t>.</a:t>
            </a:r>
            <a:endParaRPr/>
          </a:p>
          <a:p>
            <a:pPr indent="0" lvl="0" marL="0" rtl="0" algn="l">
              <a:spcBef>
                <a:spcPts val="1000"/>
              </a:spcBef>
              <a:spcAft>
                <a:spcPts val="1000"/>
              </a:spcAft>
              <a:buNone/>
            </a:pPr>
            <a:r>
              <a:rPr lang="en-GB"/>
              <a:t>- For 16 workers, </a:t>
            </a:r>
            <a:r>
              <a:rPr b="1" lang="en-GB"/>
              <a:t>1×16 </a:t>
            </a:r>
            <a:r>
              <a:rPr lang="en-GB"/>
              <a:t>achieved</a:t>
            </a:r>
            <a:r>
              <a:rPr b="1" lang="en-GB"/>
              <a:t> 8.49×</a:t>
            </a:r>
            <a:r>
              <a:rPr lang="en-GB"/>
              <a:t>, compared with </a:t>
            </a:r>
            <a:r>
              <a:rPr b="1" lang="en-GB"/>
              <a:t>16×1 </a:t>
            </a:r>
            <a:r>
              <a:rPr lang="en-GB"/>
              <a:t>at</a:t>
            </a:r>
            <a:r>
              <a:rPr b="1" lang="en-GB"/>
              <a:t> 5.09×</a:t>
            </a:r>
            <a:r>
              <a:rPr lang="en-GB"/>
              <a:t>.</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Interesting Observations</a:t>
            </a:r>
            <a:endParaRPr/>
          </a:p>
        </p:txBody>
      </p:sp>
      <p:sp>
        <p:nvSpPr>
          <p:cNvPr id="254" name="Google Shape;254;p37"/>
          <p:cNvSpPr txBox="1"/>
          <p:nvPr>
            <p:ph idx="1" type="body"/>
          </p:nvPr>
        </p:nvSpPr>
        <p:spPr>
          <a:xfrm>
            <a:off x="311700" y="1184017"/>
            <a:ext cx="8520600" cy="3339000"/>
          </a:xfrm>
          <a:prstGeom prst="rect">
            <a:avLst/>
          </a:prstGeom>
        </p:spPr>
        <p:txBody>
          <a:bodyPr anchorCtr="0" anchor="t" bIns="91425" lIns="91425" spcFirstLastPara="1" rIns="91425" wrap="square" tIns="91425">
            <a:noAutofit/>
          </a:bodyPr>
          <a:lstStyle/>
          <a:p>
            <a:pPr indent="-342900" lvl="0" marL="457200" rtl="0" algn="l">
              <a:spcBef>
                <a:spcPts val="0"/>
              </a:spcBef>
              <a:spcAft>
                <a:spcPts val="0"/>
              </a:spcAft>
              <a:buClr>
                <a:srgbClr val="000000"/>
              </a:buClr>
              <a:buSzPts val="1800"/>
              <a:buFont typeface="Arial"/>
              <a:buChar char="●"/>
            </a:pPr>
            <a:r>
              <a:rPr lang="en-GB">
                <a:solidFill>
                  <a:srgbClr val="000000"/>
                </a:solidFill>
                <a:latin typeface="Arial"/>
                <a:ea typeface="Arial"/>
                <a:cs typeface="Arial"/>
                <a:sym typeface="Arial"/>
              </a:rPr>
              <a:t>More workers do not guarantee proportional speedup.</a:t>
            </a:r>
            <a:endParaRPr>
              <a:solidFill>
                <a:srgbClr val="000000"/>
              </a:solidFill>
              <a:latin typeface="Arial"/>
              <a:ea typeface="Arial"/>
              <a:cs typeface="Arial"/>
              <a:sym typeface="Arial"/>
            </a:endParaRPr>
          </a:p>
          <a:p>
            <a:pPr indent="-342900" lvl="0" marL="457200" rtl="0" algn="l">
              <a:spcBef>
                <a:spcPts val="1000"/>
              </a:spcBef>
              <a:spcAft>
                <a:spcPts val="0"/>
              </a:spcAft>
              <a:buClr>
                <a:srgbClr val="000000"/>
              </a:buClr>
              <a:buSzPts val="1800"/>
              <a:buFont typeface="Arial"/>
              <a:buChar char="●"/>
            </a:pPr>
            <a:r>
              <a:rPr lang="en-GB">
                <a:solidFill>
                  <a:srgbClr val="000000"/>
                </a:solidFill>
                <a:latin typeface="Arial"/>
                <a:ea typeface="Arial"/>
                <a:cs typeface="Arial"/>
                <a:sym typeface="Arial"/>
              </a:rPr>
              <a:t>Amdahl's Law predicts an upper bound, not actual performance.</a:t>
            </a:r>
            <a:endParaRPr>
              <a:solidFill>
                <a:srgbClr val="000000"/>
              </a:solidFill>
              <a:latin typeface="Arial"/>
              <a:ea typeface="Arial"/>
              <a:cs typeface="Arial"/>
              <a:sym typeface="Arial"/>
            </a:endParaRPr>
          </a:p>
          <a:p>
            <a:pPr indent="-342900" lvl="0" marL="457200" rtl="0" algn="l">
              <a:spcBef>
                <a:spcPts val="1000"/>
              </a:spcBef>
              <a:spcAft>
                <a:spcPts val="0"/>
              </a:spcAft>
              <a:buClr>
                <a:srgbClr val="000000"/>
              </a:buClr>
              <a:buSzPts val="1800"/>
              <a:buFont typeface="Arial"/>
              <a:buChar char="●"/>
            </a:pPr>
            <a:r>
              <a:rPr lang="en-GB">
                <a:solidFill>
                  <a:srgbClr val="000000"/>
                </a:solidFill>
                <a:latin typeface="Arial"/>
                <a:ea typeface="Arial"/>
                <a:cs typeface="Arial"/>
                <a:sym typeface="Arial"/>
              </a:rPr>
              <a:t>Communication, synchronisation, scheduling and other overheads reduce empirical speedup.</a:t>
            </a:r>
            <a:endParaRPr>
              <a:solidFill>
                <a:srgbClr val="000000"/>
              </a:solidFill>
              <a:latin typeface="Arial"/>
              <a:ea typeface="Arial"/>
              <a:cs typeface="Arial"/>
              <a:sym typeface="Arial"/>
            </a:endParaRPr>
          </a:p>
          <a:p>
            <a:pPr indent="-342900" lvl="0" marL="457200" rtl="0" algn="l">
              <a:spcBef>
                <a:spcPts val="1000"/>
              </a:spcBef>
              <a:spcAft>
                <a:spcPts val="0"/>
              </a:spcAft>
              <a:buClr>
                <a:srgbClr val="000000"/>
              </a:buClr>
              <a:buSzPts val="1800"/>
              <a:buFont typeface="Arial"/>
              <a:buChar char="●"/>
            </a:pPr>
            <a:r>
              <a:rPr lang="en-GB">
                <a:solidFill>
                  <a:srgbClr val="000000"/>
                </a:solidFill>
                <a:latin typeface="Arial"/>
                <a:ea typeface="Arial"/>
                <a:cs typeface="Arial"/>
                <a:sym typeface="Arial"/>
              </a:rPr>
              <a:t>MPI/OpenMP workload distribution affects performance even with the same total number of workers.</a:t>
            </a:r>
            <a:endParaRPr>
              <a:solidFill>
                <a:srgbClr val="000000"/>
              </a:solidFill>
              <a:latin typeface="Arial"/>
              <a:ea typeface="Arial"/>
              <a:cs typeface="Arial"/>
              <a:sym typeface="Arial"/>
            </a:endParaRPr>
          </a:p>
          <a:p>
            <a:pPr indent="-342900" lvl="0" marL="457200" rtl="0" algn="l">
              <a:spcBef>
                <a:spcPts val="1000"/>
              </a:spcBef>
              <a:spcAft>
                <a:spcPts val="1000"/>
              </a:spcAft>
              <a:buClr>
                <a:srgbClr val="000000"/>
              </a:buClr>
              <a:buSzPts val="1800"/>
              <a:buFont typeface="Arial"/>
              <a:buChar char="●"/>
            </a:pPr>
            <a:r>
              <a:rPr lang="en-GB">
                <a:solidFill>
                  <a:srgbClr val="000000"/>
                </a:solidFill>
                <a:latin typeface="Arial"/>
                <a:ea typeface="Arial"/>
                <a:cs typeface="Arial"/>
                <a:sym typeface="Arial"/>
              </a:rPr>
              <a:t>Different machines can produce different empirical results due to hardware and system differences.</a:t>
            </a:r>
            <a:endParaRPr>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eometric">
  <a:themeElements>
    <a:clrScheme name="Geometric">
      <a:dk1>
        <a:srgbClr val="2A3990"/>
      </a:dk1>
      <a:lt1>
        <a:srgbClr val="FFFFFF"/>
      </a:lt1>
      <a:dk2>
        <a:srgbClr val="434343"/>
      </a:dk2>
      <a:lt2>
        <a:srgbClr val="999999"/>
      </a:lt2>
      <a:accent1>
        <a:srgbClr val="212D74"/>
      </a:accent1>
      <a:accent2>
        <a:srgbClr val="3949AB"/>
      </a:accent2>
      <a:accent3>
        <a:srgbClr val="9C254D"/>
      </a:accent3>
      <a:accent4>
        <a:srgbClr val="D23369"/>
      </a:accent4>
      <a:accent5>
        <a:srgbClr val="F0629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