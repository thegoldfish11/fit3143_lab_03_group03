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p:regular r:id="rId19"/>
      <p:bold r:id="rId20"/>
      <p:italic r:id="rId21"/>
      <p:boldItalic r:id="rId22"/>
    </p:embeddedFont>
    <p:embeddedFont>
      <p:font typeface="Helvetica Neue"/>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24586B-09AC-4940-B146-11C6ADCB7020}">
  <a:tblStyle styleId="{9B24586B-09AC-4940-B146-11C6ADCB702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HelveticaNeue-boldItalic.fntdata"/><Relationship Id="rId25" Type="http://schemas.openxmlformats.org/officeDocument/2006/relationships/font" Target="fonts/HelveticaNeue-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409ea0604f5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409ea0604f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409ea0604f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409ea0604f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409ea0604f5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409ea0604f5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409ea0604f5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409ea0604f5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409ea0604f5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409ea0604f5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409ea0604f5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409ea0604f5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409ea0604f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409ea0604f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409ea0604f5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409ea0604f5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409ea0604f5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409ea0604f5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409ea0604f5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409ea0604f5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409ea0604f5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409ea0604f5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FIT3143 Lab 2</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Julia Mallard, Nam Quang Tran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GB" sz="3480"/>
              <a:t>Task 1 – Prime Search using Message Passing Interface (Open MPI)</a:t>
            </a:r>
            <a:endParaRPr sz="348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Distribution of work (naive)</a:t>
            </a:r>
            <a:endParaRPr/>
          </a:p>
        </p:txBody>
      </p:sp>
      <p:sp>
        <p:nvSpPr>
          <p:cNvPr id="97" name="Google Shape;97;p15"/>
          <p:cNvSpPr txBox="1"/>
          <p:nvPr>
            <p:ph idx="1" type="body"/>
          </p:nvPr>
        </p:nvSpPr>
        <p:spPr>
          <a:xfrm>
            <a:off x="311700" y="1192550"/>
            <a:ext cx="5112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Naive way of distributing work, work is split up into 4 even blocks</a:t>
            </a:r>
            <a:endParaRPr/>
          </a:p>
          <a:p>
            <a:pPr indent="-342900" lvl="0" marL="457200" rtl="0" algn="l">
              <a:spcBef>
                <a:spcPts val="0"/>
              </a:spcBef>
              <a:spcAft>
                <a:spcPts val="0"/>
              </a:spcAft>
              <a:buSzPts val="1800"/>
              <a:buChar char="-"/>
            </a:pPr>
            <a:r>
              <a:rPr lang="en-GB"/>
              <a:t>However, higher ranks (who will get blocks of higher values) will have to do more work</a:t>
            </a:r>
            <a:endParaRPr/>
          </a:p>
          <a:p>
            <a:pPr indent="-342900" lvl="0" marL="457200" rtl="0" algn="l">
              <a:spcBef>
                <a:spcPts val="0"/>
              </a:spcBef>
              <a:spcAft>
                <a:spcPts val="0"/>
              </a:spcAft>
              <a:buSzPts val="1800"/>
              <a:buChar char="-"/>
            </a:pPr>
            <a:r>
              <a:rPr lang="en-GB"/>
              <a:t>In this example, rank 3 will have to do 2.28x </a:t>
            </a:r>
            <a:r>
              <a:rPr lang="en-GB"/>
              <a:t>more</a:t>
            </a:r>
            <a:r>
              <a:rPr lang="en-GB"/>
              <a:t> work, which is not ideal, as Rank 0 has to wait on all to report back the output.</a:t>
            </a:r>
            <a:endParaRPr/>
          </a:p>
          <a:p>
            <a:pPr indent="-342900" lvl="0" marL="457200" rtl="0" algn="l">
              <a:spcBef>
                <a:spcPts val="0"/>
              </a:spcBef>
              <a:spcAft>
                <a:spcPts val="0"/>
              </a:spcAft>
              <a:buSzPts val="1800"/>
              <a:buChar char="-"/>
            </a:pPr>
            <a:r>
              <a:rPr lang="en-GB"/>
              <a:t>Rank 3 will be the bottleneck.</a:t>
            </a:r>
            <a:endParaRPr/>
          </a:p>
        </p:txBody>
      </p:sp>
      <p:graphicFrame>
        <p:nvGraphicFramePr>
          <p:cNvPr id="98" name="Google Shape;98;p15"/>
          <p:cNvGraphicFramePr/>
          <p:nvPr/>
        </p:nvGraphicFramePr>
        <p:xfrm>
          <a:off x="5751050" y="976400"/>
          <a:ext cx="3000000" cy="3000000"/>
        </p:xfrm>
        <a:graphic>
          <a:graphicData uri="http://schemas.openxmlformats.org/drawingml/2006/table">
            <a:tbl>
              <a:tblPr>
                <a:noFill/>
                <a:tableStyleId>{9B24586B-09AC-4940-B146-11C6ADCB7020}</a:tableStyleId>
              </a:tblPr>
              <a:tblGrid>
                <a:gridCol w="1280650"/>
                <a:gridCol w="1280650"/>
              </a:tblGrid>
              <a:tr h="358250">
                <a:tc>
                  <a:txBody>
                    <a:bodyPr/>
                    <a:lstStyle/>
                    <a:p>
                      <a:pPr indent="0" lvl="0" marL="0" rtl="0" algn="l">
                        <a:spcBef>
                          <a:spcPts val="0"/>
                        </a:spcBef>
                        <a:spcAft>
                          <a:spcPts val="0"/>
                        </a:spcAft>
                        <a:buNone/>
                      </a:pPr>
                      <a:r>
                        <a:rPr lang="en-GB"/>
                        <a:t>Rank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333333"/>
                          </a:solidFill>
                          <a:highlight>
                            <a:srgbClr val="FFFFFF"/>
                          </a:highlight>
                          <a:latin typeface="Helvetica Neue"/>
                          <a:ea typeface="Helvetica Neue"/>
                          <a:cs typeface="Helvetica Neue"/>
                          <a:sym typeface="Helvetica Neue"/>
                        </a:rPr>
                        <a:t>Work done</a:t>
                      </a:r>
                      <a:endParaRPr sz="1200">
                        <a:solidFill>
                          <a:srgbClr val="333333"/>
                        </a:solidFill>
                        <a:highlight>
                          <a:srgbClr val="FFFFFF"/>
                        </a:highlight>
                        <a:latin typeface="Helvetica Neue"/>
                        <a:ea typeface="Helvetica Neue"/>
                        <a:cs typeface="Helvetica Neue"/>
                        <a:sym typeface="Helvetica Neu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8250">
                <a:tc>
                  <a:txBody>
                    <a:bodyPr/>
                    <a:lstStyle/>
                    <a:p>
                      <a:pPr indent="0" lvl="0" marL="0" rtl="0" algn="l">
                        <a:spcBef>
                          <a:spcPts val="0"/>
                        </a:spcBef>
                        <a:spcAft>
                          <a:spcPts val="0"/>
                        </a:spcAft>
                        <a:buNone/>
                      </a:pPr>
                      <a:r>
                        <a:rPr lang="en-GB"/>
                        <a:t>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333333"/>
                          </a:solidFill>
                          <a:highlight>
                            <a:srgbClr val="FFFFFF"/>
                          </a:highlight>
                          <a:latin typeface="Helvetica Neue"/>
                          <a:ea typeface="Helvetica Neue"/>
                          <a:cs typeface="Helvetica Neue"/>
                          <a:sym typeface="Helvetica Neue"/>
                        </a:rPr>
                        <a:t>4,944,695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8250">
                <a:tc>
                  <a:txBody>
                    <a:bodyPr/>
                    <a:lstStyle/>
                    <a:p>
                      <a:pPr indent="0" lvl="0" marL="0" rtl="0" algn="l">
                        <a:spcBef>
                          <a:spcPts val="0"/>
                        </a:spcBef>
                        <a:spcAft>
                          <a:spcPts val="0"/>
                        </a:spcAft>
                        <a:buNone/>
                      </a:pPr>
                      <a:r>
                        <a:rPr lang="en-GB"/>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333333"/>
                          </a:solidFill>
                          <a:highlight>
                            <a:srgbClr val="FFFFFF"/>
                          </a:highlight>
                          <a:latin typeface="Helvetica Neue"/>
                          <a:ea typeface="Helvetica Neue"/>
                          <a:cs typeface="Helvetica Neue"/>
                          <a:sym typeface="Helvetica Neue"/>
                        </a:rPr>
                        <a:t>8,011,836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8250">
                <a:tc>
                  <a:txBody>
                    <a:bodyPr/>
                    <a:lstStyle/>
                    <a:p>
                      <a:pPr indent="0" lvl="0" marL="0" rtl="0" algn="l">
                        <a:spcBef>
                          <a:spcPts val="0"/>
                        </a:spcBef>
                        <a:spcAft>
                          <a:spcPts val="0"/>
                        </a:spcAft>
                        <a:buNone/>
                      </a:pPr>
                      <a:r>
                        <a:rPr lang="en-GB"/>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333333"/>
                          </a:solidFill>
                          <a:highlight>
                            <a:srgbClr val="FFFFFF"/>
                          </a:highlight>
                          <a:latin typeface="Helvetica Neue"/>
                          <a:ea typeface="Helvetica Neue"/>
                          <a:cs typeface="Helvetica Neue"/>
                          <a:sym typeface="Helvetica Neue"/>
                        </a:rPr>
                        <a:t>9,846,491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8250">
                <a:tc>
                  <a:txBody>
                    <a:bodyPr/>
                    <a:lstStyle/>
                    <a:p>
                      <a:pPr indent="0" lvl="0" marL="0" rtl="0" algn="l">
                        <a:spcBef>
                          <a:spcPts val="0"/>
                        </a:spcBef>
                        <a:spcAft>
                          <a:spcPts val="0"/>
                        </a:spcAft>
                        <a:buNone/>
                      </a:pPr>
                      <a:r>
                        <a:rPr lang="en-GB"/>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333333"/>
                          </a:solidFill>
                          <a:highlight>
                            <a:srgbClr val="FFFFFF"/>
                          </a:highlight>
                          <a:latin typeface="Helvetica Neue"/>
                          <a:ea typeface="Helvetica Neue"/>
                          <a:cs typeface="Helvetica Neue"/>
                          <a:sym typeface="Helvetica Neue"/>
                        </a:rPr>
                        <a:t>11,297,539</a:t>
                      </a:r>
                      <a:endParaRPr sz="1200">
                        <a:solidFill>
                          <a:srgbClr val="333333"/>
                        </a:solidFill>
                        <a:highlight>
                          <a:srgbClr val="FFFFFF"/>
                        </a:highlight>
                        <a:latin typeface="Helvetica Neue"/>
                        <a:ea typeface="Helvetica Neue"/>
                        <a:cs typeface="Helvetica Neue"/>
                        <a:sym typeface="Helvetica Neu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9" name="Google Shape;99;p15"/>
          <p:cNvSpPr txBox="1"/>
          <p:nvPr>
            <p:ph idx="1" type="body"/>
          </p:nvPr>
        </p:nvSpPr>
        <p:spPr>
          <a:xfrm>
            <a:off x="5932825" y="3024800"/>
            <a:ext cx="2329500" cy="6078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1200"/>
              </a:spcAft>
              <a:buNone/>
            </a:pPr>
            <a:r>
              <a:rPr lang="en-GB"/>
              <a:t>4 processes and n = 1000000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Distribution of work (block cyclic round robin)</a:t>
            </a:r>
            <a:endParaRPr/>
          </a:p>
        </p:txBody>
      </p:sp>
      <p:sp>
        <p:nvSpPr>
          <p:cNvPr id="105" name="Google Shape;105;p16"/>
          <p:cNvSpPr txBox="1"/>
          <p:nvPr>
            <p:ph idx="1" type="body"/>
          </p:nvPr>
        </p:nvSpPr>
        <p:spPr>
          <a:xfrm>
            <a:off x="311700" y="1192550"/>
            <a:ext cx="5112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Instead of 4 big blocks, cut the work into smaller slices</a:t>
            </a:r>
            <a:endParaRPr/>
          </a:p>
          <a:p>
            <a:pPr indent="-342900" lvl="0" marL="457200" rtl="0" algn="l">
              <a:spcBef>
                <a:spcPts val="0"/>
              </a:spcBef>
              <a:spcAft>
                <a:spcPts val="0"/>
              </a:spcAft>
              <a:buSzPts val="1800"/>
              <a:buChar char="-"/>
            </a:pPr>
            <a:r>
              <a:rPr lang="en-GB"/>
              <a:t> This balances the workload, each rank receives a similar mix of small and large numbers, rather than one rank being left with the expensive high end of the range.</a:t>
            </a:r>
            <a:endParaRPr/>
          </a:p>
          <a:p>
            <a:pPr indent="-342900" lvl="0" marL="457200" rtl="0" algn="l">
              <a:spcBef>
                <a:spcPts val="0"/>
              </a:spcBef>
              <a:spcAft>
                <a:spcPts val="0"/>
              </a:spcAft>
              <a:buSzPts val="1800"/>
              <a:buChar char="-"/>
            </a:pPr>
            <a:r>
              <a:rPr lang="en-GB"/>
              <a:t>This reduces the worst case difference of work done between two ranks from 2.24x to 1.12x</a:t>
            </a:r>
            <a:endParaRPr/>
          </a:p>
        </p:txBody>
      </p:sp>
      <p:graphicFrame>
        <p:nvGraphicFramePr>
          <p:cNvPr id="106" name="Google Shape;106;p16"/>
          <p:cNvGraphicFramePr/>
          <p:nvPr/>
        </p:nvGraphicFramePr>
        <p:xfrm>
          <a:off x="5751050" y="976400"/>
          <a:ext cx="3000000" cy="3000000"/>
        </p:xfrm>
        <a:graphic>
          <a:graphicData uri="http://schemas.openxmlformats.org/drawingml/2006/table">
            <a:tbl>
              <a:tblPr>
                <a:noFill/>
                <a:tableStyleId>{9B24586B-09AC-4940-B146-11C6ADCB7020}</a:tableStyleId>
              </a:tblPr>
              <a:tblGrid>
                <a:gridCol w="1280650"/>
                <a:gridCol w="1280650"/>
              </a:tblGrid>
              <a:tr h="358250">
                <a:tc>
                  <a:txBody>
                    <a:bodyPr/>
                    <a:lstStyle/>
                    <a:p>
                      <a:pPr indent="0" lvl="0" marL="0" rtl="0" algn="l">
                        <a:spcBef>
                          <a:spcPts val="0"/>
                        </a:spcBef>
                        <a:spcAft>
                          <a:spcPts val="0"/>
                        </a:spcAft>
                        <a:buNone/>
                      </a:pPr>
                      <a:r>
                        <a:rPr lang="en-GB"/>
                        <a:t>Rank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333333"/>
                          </a:solidFill>
                          <a:highlight>
                            <a:srgbClr val="FFFFFF"/>
                          </a:highlight>
                          <a:latin typeface="Helvetica Neue"/>
                          <a:ea typeface="Helvetica Neue"/>
                          <a:cs typeface="Helvetica Neue"/>
                          <a:sym typeface="Helvetica Neue"/>
                        </a:rPr>
                        <a:t>Work done</a:t>
                      </a:r>
                      <a:endParaRPr sz="1200">
                        <a:solidFill>
                          <a:srgbClr val="333333"/>
                        </a:solidFill>
                        <a:highlight>
                          <a:srgbClr val="FFFFFF"/>
                        </a:highlight>
                        <a:latin typeface="Helvetica Neue"/>
                        <a:ea typeface="Helvetica Neue"/>
                        <a:cs typeface="Helvetica Neue"/>
                        <a:sym typeface="Helvetica Neu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8250">
                <a:tc>
                  <a:txBody>
                    <a:bodyPr/>
                    <a:lstStyle/>
                    <a:p>
                      <a:pPr indent="0" lvl="0" marL="0" rtl="0" algn="l">
                        <a:spcBef>
                          <a:spcPts val="0"/>
                        </a:spcBef>
                        <a:spcAft>
                          <a:spcPts val="0"/>
                        </a:spcAft>
                        <a:buNone/>
                      </a:pPr>
                      <a:r>
                        <a:rPr lang="en-GB"/>
                        <a:t>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333333"/>
                          </a:solidFill>
                          <a:highlight>
                            <a:srgbClr val="FFFFFF"/>
                          </a:highlight>
                          <a:latin typeface="Helvetica Neue"/>
                          <a:ea typeface="Helvetica Neue"/>
                          <a:cs typeface="Helvetica Neue"/>
                          <a:sym typeface="Helvetica Neue"/>
                        </a:rPr>
                        <a:t>8,012,598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8250">
                <a:tc>
                  <a:txBody>
                    <a:bodyPr/>
                    <a:lstStyle/>
                    <a:p>
                      <a:pPr indent="0" lvl="0" marL="0" rtl="0" algn="l">
                        <a:spcBef>
                          <a:spcPts val="0"/>
                        </a:spcBef>
                        <a:spcAft>
                          <a:spcPts val="0"/>
                        </a:spcAft>
                        <a:buNone/>
                      </a:pPr>
                      <a:r>
                        <a:rPr lang="en-GB"/>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333333"/>
                          </a:solidFill>
                          <a:highlight>
                            <a:srgbClr val="FFFFFF"/>
                          </a:highlight>
                          <a:latin typeface="Helvetica Neue"/>
                          <a:ea typeface="Helvetica Neue"/>
                          <a:cs typeface="Helvetica Neue"/>
                          <a:sym typeface="Helvetica Neue"/>
                        </a:rPr>
                        <a:t>8,411,874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8250">
                <a:tc>
                  <a:txBody>
                    <a:bodyPr/>
                    <a:lstStyle/>
                    <a:p>
                      <a:pPr indent="0" lvl="0" marL="0" rtl="0" algn="l">
                        <a:spcBef>
                          <a:spcPts val="0"/>
                        </a:spcBef>
                        <a:spcAft>
                          <a:spcPts val="0"/>
                        </a:spcAft>
                        <a:buNone/>
                      </a:pPr>
                      <a:r>
                        <a:rPr lang="en-GB"/>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333333"/>
                          </a:solidFill>
                          <a:highlight>
                            <a:srgbClr val="FFFFFF"/>
                          </a:highlight>
                          <a:latin typeface="Helvetica Neue"/>
                          <a:ea typeface="Helvetica Neue"/>
                          <a:cs typeface="Helvetica Neue"/>
                          <a:sym typeface="Helvetica Neue"/>
                        </a:rPr>
                        <a:t>8,703,415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8250">
                <a:tc>
                  <a:txBody>
                    <a:bodyPr/>
                    <a:lstStyle/>
                    <a:p>
                      <a:pPr indent="0" lvl="0" marL="0" rtl="0" algn="l">
                        <a:spcBef>
                          <a:spcPts val="0"/>
                        </a:spcBef>
                        <a:spcAft>
                          <a:spcPts val="0"/>
                        </a:spcAft>
                        <a:buNone/>
                      </a:pPr>
                      <a:r>
                        <a:rPr lang="en-GB"/>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333333"/>
                          </a:solidFill>
                          <a:highlight>
                            <a:srgbClr val="FFFFFF"/>
                          </a:highlight>
                          <a:latin typeface="Helvetica Neue"/>
                          <a:ea typeface="Helvetica Neue"/>
                          <a:cs typeface="Helvetica Neue"/>
                          <a:sym typeface="Helvetica Neue"/>
                        </a:rPr>
                        <a:t>8,972,674</a:t>
                      </a:r>
                      <a:endParaRPr sz="1200">
                        <a:solidFill>
                          <a:srgbClr val="333333"/>
                        </a:solidFill>
                        <a:highlight>
                          <a:srgbClr val="FFFFFF"/>
                        </a:highlight>
                        <a:latin typeface="Helvetica Neue"/>
                        <a:ea typeface="Helvetica Neue"/>
                        <a:cs typeface="Helvetica Neue"/>
                        <a:sym typeface="Helvetica Neu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07" name="Google Shape;107;p16"/>
          <p:cNvSpPr txBox="1"/>
          <p:nvPr>
            <p:ph idx="1" type="body"/>
          </p:nvPr>
        </p:nvSpPr>
        <p:spPr>
          <a:xfrm>
            <a:off x="5932825" y="3024800"/>
            <a:ext cx="2329500" cy="6078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1200"/>
              </a:spcAft>
              <a:buNone/>
            </a:pPr>
            <a:r>
              <a:rPr lang="en-GB"/>
              <a:t>4 processes and n = 1000000</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could we have used instead?</a:t>
            </a:r>
            <a:endParaRPr/>
          </a:p>
        </p:txBody>
      </p:sp>
      <p:sp>
        <p:nvSpPr>
          <p:cNvPr id="113" name="Google Shape;113;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Why did we use 8 slices per process? Why not more?</a:t>
            </a:r>
            <a:endParaRPr/>
          </a:p>
          <a:p>
            <a:pPr indent="-342900" lvl="0" marL="457200" rtl="0" algn="l">
              <a:spcBef>
                <a:spcPts val="1200"/>
              </a:spcBef>
              <a:spcAft>
                <a:spcPts val="0"/>
              </a:spcAft>
              <a:buSzPts val="1800"/>
              <a:buChar char="-"/>
            </a:pPr>
            <a:r>
              <a:rPr lang="en-GB"/>
              <a:t>The law of diminishing returns applies here, and the amount the work evens out reduces as you go up to 16 or 64 slices. </a:t>
            </a:r>
            <a:endParaRPr/>
          </a:p>
          <a:p>
            <a:pPr indent="0" lvl="0" marL="0" rtl="0" algn="l">
              <a:spcBef>
                <a:spcPts val="1200"/>
              </a:spcBef>
              <a:spcAft>
                <a:spcPts val="0"/>
              </a:spcAft>
              <a:buNone/>
            </a:pPr>
            <a:r>
              <a:rPr lang="en-GB"/>
              <a:t>Why use blocks at all? Why not use round robin on the individual numbers, </a:t>
            </a:r>
            <a:r>
              <a:rPr lang="en-GB"/>
              <a:t>instead</a:t>
            </a:r>
            <a:r>
              <a:rPr lang="en-GB"/>
              <a:t> of slices?</a:t>
            </a:r>
            <a:endParaRPr/>
          </a:p>
          <a:p>
            <a:pPr indent="-342900" lvl="0" marL="457200" rtl="0" algn="l">
              <a:spcBef>
                <a:spcPts val="1200"/>
              </a:spcBef>
              <a:spcAft>
                <a:spcPts val="0"/>
              </a:spcAft>
              <a:buSzPts val="1800"/>
              <a:buChar char="-"/>
            </a:pPr>
            <a:r>
              <a:rPr lang="en-GB"/>
              <a:t>If a </a:t>
            </a:r>
            <a:r>
              <a:rPr lang="en-GB"/>
              <a:t>certain number of processes are used, some processes can end up with numbers that are only multiples of 2, or other numbers, meaning that some processes can essentially find no/very little primes.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could we have used instead?</a:t>
            </a:r>
            <a:endParaRPr/>
          </a:p>
        </p:txBody>
      </p:sp>
      <p:sp>
        <p:nvSpPr>
          <p:cNvPr id="119" name="Google Shape;119;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GB" sz="1600"/>
              <a:t>Is there any other load balancer than cyclic round robin?</a:t>
            </a:r>
            <a:endParaRPr sz="1600"/>
          </a:p>
          <a:p>
            <a:pPr indent="-330200" lvl="0" marL="457200" rtl="0" algn="l">
              <a:lnSpc>
                <a:spcPct val="105000"/>
              </a:lnSpc>
              <a:spcBef>
                <a:spcPts val="1200"/>
              </a:spcBef>
              <a:spcAft>
                <a:spcPts val="0"/>
              </a:spcAft>
              <a:buSzPts val="1600"/>
              <a:buChar char="-"/>
            </a:pPr>
            <a:r>
              <a:rPr lang="en-GB" sz="1600"/>
              <a:t>Yes, there are methods such as folded/</a:t>
            </a:r>
            <a:r>
              <a:rPr lang="en-GB" sz="1600"/>
              <a:t>reverse</a:t>
            </a:r>
            <a:r>
              <a:rPr lang="en-GB" sz="1600"/>
              <a:t> pairing and dynamic self-scheduling, however we did not believe that these methods were necessary, as the block cyclic round robin was fast enough for how simple it was, these other methods are unnecessarily complex for little or no speed up.</a:t>
            </a:r>
            <a:endParaRPr sz="1600"/>
          </a:p>
          <a:p>
            <a:pPr indent="0" lvl="0" marL="0" rtl="0" algn="l">
              <a:lnSpc>
                <a:spcPct val="105000"/>
              </a:lnSpc>
              <a:spcBef>
                <a:spcPts val="1200"/>
              </a:spcBef>
              <a:spcAft>
                <a:spcPts val="0"/>
              </a:spcAft>
              <a:buNone/>
            </a:pPr>
            <a:r>
              <a:rPr lang="en-GB" sz="1600"/>
              <a:t>Could any other methods of prime searching be used?</a:t>
            </a:r>
            <a:endParaRPr sz="1600"/>
          </a:p>
          <a:p>
            <a:pPr indent="-330200" lvl="0" marL="457200" rtl="0" algn="l">
              <a:lnSpc>
                <a:spcPct val="105000"/>
              </a:lnSpc>
              <a:spcBef>
                <a:spcPts val="1200"/>
              </a:spcBef>
              <a:spcAft>
                <a:spcPts val="0"/>
              </a:spcAft>
              <a:buSzPts val="1600"/>
              <a:buChar char="-"/>
            </a:pPr>
            <a:r>
              <a:rPr lang="en-GB" sz="1600"/>
              <a:t>The </a:t>
            </a:r>
            <a:r>
              <a:rPr lang="en-GB" sz="1600"/>
              <a:t>Sieve of Eratosthenes was mentioned in our feedback for Lab 1, however, we already had a prime searching function that used a square root upper bound, so we wanted to reuse it for apples to apples comparison’s sake.</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Speed up with varying no. of processors</a:t>
            </a:r>
            <a:endParaRPr/>
          </a:p>
        </p:txBody>
      </p:sp>
      <p:sp>
        <p:nvSpPr>
          <p:cNvPr id="125" name="Google Shape;125;p19"/>
          <p:cNvSpPr txBox="1"/>
          <p:nvPr>
            <p:ph idx="1" type="body"/>
          </p:nvPr>
        </p:nvSpPr>
        <p:spPr>
          <a:xfrm>
            <a:off x="5145375" y="1066400"/>
            <a:ext cx="3687000" cy="35025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None/>
            </a:pPr>
            <a:r>
              <a:rPr lang="en-GB" sz="1600"/>
              <a:t>When processors used is within 1-4, the speedup is reasonable, staying within ⅔ efficiency, even if it does drop off as processors approaches 4. However, when the processors used is greater than 4, the speedup actually gets worse. This is </a:t>
            </a:r>
            <a:r>
              <a:rPr lang="en-GB" sz="1600"/>
              <a:t>because</a:t>
            </a:r>
            <a:r>
              <a:rPr lang="en-GB" sz="1600"/>
              <a:t> we have to make use of the efficiency cores, which have a much lower clock speed and processing power than the super cores, and the communication and scheduling of these processors causes overhead.</a:t>
            </a:r>
            <a:endParaRPr sz="1600"/>
          </a:p>
        </p:txBody>
      </p:sp>
      <p:graphicFrame>
        <p:nvGraphicFramePr>
          <p:cNvPr id="126" name="Google Shape;126;p19"/>
          <p:cNvGraphicFramePr/>
          <p:nvPr/>
        </p:nvGraphicFramePr>
        <p:xfrm>
          <a:off x="311700" y="1066400"/>
          <a:ext cx="3000000" cy="3000000"/>
        </p:xfrm>
        <a:graphic>
          <a:graphicData uri="http://schemas.openxmlformats.org/drawingml/2006/table">
            <a:tbl>
              <a:tblPr>
                <a:noFill/>
                <a:tableStyleId>{9B24586B-09AC-4940-B146-11C6ADCB7020}</a:tableStyleId>
              </a:tblPr>
              <a:tblGrid>
                <a:gridCol w="1130400"/>
                <a:gridCol w="1130400"/>
                <a:gridCol w="1130400"/>
                <a:gridCol w="1130400"/>
              </a:tblGrid>
              <a:tr h="426150">
                <a:tc>
                  <a:txBody>
                    <a:bodyPr/>
                    <a:lstStyle/>
                    <a:p>
                      <a:pPr indent="0" lvl="0" marL="0" rtl="0" algn="l">
                        <a:spcBef>
                          <a:spcPts val="0"/>
                        </a:spcBef>
                        <a:spcAft>
                          <a:spcPts val="0"/>
                        </a:spcAft>
                        <a:buNone/>
                      </a:pPr>
                      <a:r>
                        <a:rPr lang="en-GB" sz="1000"/>
                        <a:t>p</a:t>
                      </a:r>
                      <a:r>
                        <a:rPr lang="en-GB" sz="1000"/>
                        <a:t>rocessors </a:t>
                      </a:r>
                      <a:endParaRPr sz="1000"/>
                    </a:p>
                  </a:txBody>
                  <a:tcPr marT="91425" marB="91425" marR="91425" marL="91425"/>
                </a:tc>
                <a:tc>
                  <a:txBody>
                    <a:bodyPr/>
                    <a:lstStyle/>
                    <a:p>
                      <a:pPr indent="0" lvl="0" marL="0" rtl="0" algn="l">
                        <a:spcBef>
                          <a:spcPts val="0"/>
                        </a:spcBef>
                        <a:spcAft>
                          <a:spcPts val="0"/>
                        </a:spcAft>
                        <a:buNone/>
                      </a:pPr>
                      <a:r>
                        <a:rPr lang="en-GB" sz="1000"/>
                        <a:t>Time (secs)</a:t>
                      </a:r>
                      <a:endParaRPr sz="1000"/>
                    </a:p>
                    <a:p>
                      <a:pPr indent="0" lvl="0" marL="0" rtl="0" algn="l">
                        <a:spcBef>
                          <a:spcPts val="0"/>
                        </a:spcBef>
                        <a:spcAft>
                          <a:spcPts val="0"/>
                        </a:spcAft>
                        <a:buNone/>
                      </a:pPr>
                      <a:r>
                        <a:t/>
                      </a:r>
                      <a:endParaRPr sz="1000"/>
                    </a:p>
                  </a:txBody>
                  <a:tcPr marT="91425" marB="91425" marR="91425" marL="91425"/>
                </a:tc>
                <a:tc>
                  <a:txBody>
                    <a:bodyPr/>
                    <a:lstStyle/>
                    <a:p>
                      <a:pPr indent="0" lvl="0" marL="0" rtl="0" algn="l">
                        <a:spcBef>
                          <a:spcPts val="0"/>
                        </a:spcBef>
                        <a:spcAft>
                          <a:spcPts val="0"/>
                        </a:spcAft>
                        <a:buNone/>
                      </a:pPr>
                      <a:r>
                        <a:rPr lang="en-GB" sz="1000"/>
                        <a:t>s</a:t>
                      </a:r>
                      <a:r>
                        <a:rPr lang="en-GB" sz="1000"/>
                        <a:t>peedup</a:t>
                      </a:r>
                      <a:endParaRPr sz="1000"/>
                    </a:p>
                  </a:txBody>
                  <a:tcPr marT="91425" marB="91425" marR="91425" marL="91425"/>
                </a:tc>
                <a:tc>
                  <a:txBody>
                    <a:bodyPr/>
                    <a:lstStyle/>
                    <a:p>
                      <a:pPr indent="0" lvl="0" marL="0" rtl="0" algn="l">
                        <a:spcBef>
                          <a:spcPts val="0"/>
                        </a:spcBef>
                        <a:spcAft>
                          <a:spcPts val="0"/>
                        </a:spcAft>
                        <a:buNone/>
                      </a:pPr>
                      <a:r>
                        <a:rPr lang="en-GB" sz="1000"/>
                        <a:t>efficiency</a:t>
                      </a:r>
                      <a:endParaRPr sz="1000"/>
                    </a:p>
                  </a:txBody>
                  <a:tcPr marT="91425" marB="91425" marR="91425" marL="91425"/>
                </a:tc>
              </a:tr>
              <a:tr h="277000">
                <a:tc>
                  <a:txBody>
                    <a:bodyPr/>
                    <a:lstStyle/>
                    <a:p>
                      <a:pPr indent="0" lvl="0" marL="0" rtl="0" algn="l">
                        <a:spcBef>
                          <a:spcPts val="0"/>
                        </a:spcBef>
                        <a:spcAft>
                          <a:spcPts val="0"/>
                        </a:spcAft>
                        <a:buNone/>
                      </a:pPr>
                      <a:r>
                        <a:rPr lang="en-GB" sz="1000"/>
                        <a:t>1</a:t>
                      </a:r>
                      <a:endParaRPr sz="1000"/>
                    </a:p>
                  </a:txBody>
                  <a:tcPr marT="91425" marB="91425" marR="91425" marL="91425"/>
                </a:tc>
                <a:tc>
                  <a:txBody>
                    <a:bodyPr/>
                    <a:lstStyle/>
                    <a:p>
                      <a:pPr indent="0" lvl="0" marL="0" rtl="0" algn="l">
                        <a:spcBef>
                          <a:spcPts val="0"/>
                        </a:spcBef>
                        <a:spcAft>
                          <a:spcPts val="0"/>
                        </a:spcAft>
                        <a:buNone/>
                      </a:pPr>
                      <a:r>
                        <a:rPr lang="en-GB" sz="1000"/>
                        <a:t>0.4424</a:t>
                      </a:r>
                      <a:endParaRPr sz="1000"/>
                    </a:p>
                  </a:txBody>
                  <a:tcPr marT="91425" marB="91425" marR="91425" marL="91425"/>
                </a:tc>
                <a:tc>
                  <a:txBody>
                    <a:bodyPr/>
                    <a:lstStyle/>
                    <a:p>
                      <a:pPr indent="0" lvl="0" marL="0" rtl="0" algn="l">
                        <a:spcBef>
                          <a:spcPts val="0"/>
                        </a:spcBef>
                        <a:spcAft>
                          <a:spcPts val="0"/>
                        </a:spcAft>
                        <a:buNone/>
                      </a:pPr>
                      <a:r>
                        <a:rPr lang="en-GB" sz="1000"/>
                        <a:t>1x</a:t>
                      </a:r>
                      <a:endParaRPr sz="1000"/>
                    </a:p>
                  </a:txBody>
                  <a:tcPr marT="91425" marB="91425" marR="91425" marL="91425"/>
                </a:tc>
                <a:tc>
                  <a:txBody>
                    <a:bodyPr/>
                    <a:lstStyle/>
                    <a:p>
                      <a:pPr indent="0" lvl="0" marL="0" rtl="0" algn="l">
                        <a:spcBef>
                          <a:spcPts val="0"/>
                        </a:spcBef>
                        <a:spcAft>
                          <a:spcPts val="0"/>
                        </a:spcAft>
                        <a:buNone/>
                      </a:pPr>
                      <a:r>
                        <a:rPr lang="en-GB" sz="1000"/>
                        <a:t>100%</a:t>
                      </a:r>
                      <a:endParaRPr sz="1000"/>
                    </a:p>
                  </a:txBody>
                  <a:tcPr marT="91425" marB="91425" marR="91425" marL="91425"/>
                </a:tc>
              </a:tr>
              <a:tr h="277000">
                <a:tc>
                  <a:txBody>
                    <a:bodyPr/>
                    <a:lstStyle/>
                    <a:p>
                      <a:pPr indent="0" lvl="0" marL="0" rtl="0" algn="l">
                        <a:spcBef>
                          <a:spcPts val="0"/>
                        </a:spcBef>
                        <a:spcAft>
                          <a:spcPts val="0"/>
                        </a:spcAft>
                        <a:buNone/>
                      </a:pPr>
                      <a:r>
                        <a:rPr lang="en-GB" sz="1000"/>
                        <a:t>2</a:t>
                      </a:r>
                      <a:endParaRPr sz="1000"/>
                    </a:p>
                  </a:txBody>
                  <a:tcPr marT="91425" marB="91425" marR="91425" marL="91425"/>
                </a:tc>
                <a:tc>
                  <a:txBody>
                    <a:bodyPr/>
                    <a:lstStyle/>
                    <a:p>
                      <a:pPr indent="0" lvl="0" marL="0" rtl="0" algn="l">
                        <a:spcBef>
                          <a:spcPts val="0"/>
                        </a:spcBef>
                        <a:spcAft>
                          <a:spcPts val="0"/>
                        </a:spcAft>
                        <a:buNone/>
                      </a:pPr>
                      <a:r>
                        <a:rPr lang="en-GB" sz="1000"/>
                        <a:t>0.2568</a:t>
                      </a:r>
                      <a:endParaRPr sz="1000"/>
                    </a:p>
                  </a:txBody>
                  <a:tcPr marT="91425" marB="91425" marR="91425" marL="91425"/>
                </a:tc>
                <a:tc>
                  <a:txBody>
                    <a:bodyPr/>
                    <a:lstStyle/>
                    <a:p>
                      <a:pPr indent="0" lvl="0" marL="0" rtl="0" algn="l">
                        <a:spcBef>
                          <a:spcPts val="0"/>
                        </a:spcBef>
                        <a:spcAft>
                          <a:spcPts val="0"/>
                        </a:spcAft>
                        <a:buNone/>
                      </a:pPr>
                      <a:r>
                        <a:rPr lang="en-GB" sz="1000"/>
                        <a:t>1.72x</a:t>
                      </a:r>
                      <a:endParaRPr sz="1000"/>
                    </a:p>
                  </a:txBody>
                  <a:tcPr marT="91425" marB="91425" marR="91425" marL="91425"/>
                </a:tc>
                <a:tc>
                  <a:txBody>
                    <a:bodyPr/>
                    <a:lstStyle/>
                    <a:p>
                      <a:pPr indent="0" lvl="0" marL="0" rtl="0" algn="l">
                        <a:spcBef>
                          <a:spcPts val="0"/>
                        </a:spcBef>
                        <a:spcAft>
                          <a:spcPts val="0"/>
                        </a:spcAft>
                        <a:buNone/>
                      </a:pPr>
                      <a:r>
                        <a:rPr lang="en-GB" sz="1000"/>
                        <a:t>86.1%</a:t>
                      </a:r>
                      <a:endParaRPr sz="1000"/>
                    </a:p>
                  </a:txBody>
                  <a:tcPr marT="91425" marB="91425" marR="91425" marL="91425"/>
                </a:tc>
              </a:tr>
              <a:tr h="277000">
                <a:tc>
                  <a:txBody>
                    <a:bodyPr/>
                    <a:lstStyle/>
                    <a:p>
                      <a:pPr indent="0" lvl="0" marL="0" rtl="0" algn="l">
                        <a:spcBef>
                          <a:spcPts val="0"/>
                        </a:spcBef>
                        <a:spcAft>
                          <a:spcPts val="0"/>
                        </a:spcAft>
                        <a:buNone/>
                      </a:pPr>
                      <a:r>
                        <a:rPr lang="en-GB" sz="1000"/>
                        <a:t>3</a:t>
                      </a:r>
                      <a:endParaRPr sz="1000"/>
                    </a:p>
                  </a:txBody>
                  <a:tcPr marT="91425" marB="91425" marR="91425" marL="91425"/>
                </a:tc>
                <a:tc>
                  <a:txBody>
                    <a:bodyPr/>
                    <a:lstStyle/>
                    <a:p>
                      <a:pPr indent="0" lvl="0" marL="0" rtl="0" algn="l">
                        <a:spcBef>
                          <a:spcPts val="0"/>
                        </a:spcBef>
                        <a:spcAft>
                          <a:spcPts val="0"/>
                        </a:spcAft>
                        <a:buNone/>
                      </a:pPr>
                      <a:r>
                        <a:rPr lang="en-GB" sz="1000"/>
                        <a:t>0.1952</a:t>
                      </a:r>
                      <a:endParaRPr sz="1000"/>
                    </a:p>
                  </a:txBody>
                  <a:tcPr marT="91425" marB="91425" marR="91425" marL="91425"/>
                </a:tc>
                <a:tc>
                  <a:txBody>
                    <a:bodyPr/>
                    <a:lstStyle/>
                    <a:p>
                      <a:pPr indent="0" lvl="0" marL="0" rtl="0" algn="l">
                        <a:spcBef>
                          <a:spcPts val="0"/>
                        </a:spcBef>
                        <a:spcAft>
                          <a:spcPts val="0"/>
                        </a:spcAft>
                        <a:buNone/>
                      </a:pPr>
                      <a:r>
                        <a:rPr lang="en-GB" sz="1000"/>
                        <a:t>2.27x</a:t>
                      </a:r>
                      <a:endParaRPr sz="1000"/>
                    </a:p>
                  </a:txBody>
                  <a:tcPr marT="91425" marB="91425" marR="91425" marL="91425"/>
                </a:tc>
                <a:tc>
                  <a:txBody>
                    <a:bodyPr/>
                    <a:lstStyle/>
                    <a:p>
                      <a:pPr indent="0" lvl="0" marL="0" rtl="0" algn="l">
                        <a:spcBef>
                          <a:spcPts val="0"/>
                        </a:spcBef>
                        <a:spcAft>
                          <a:spcPts val="0"/>
                        </a:spcAft>
                        <a:buNone/>
                      </a:pPr>
                      <a:r>
                        <a:rPr lang="en-GB" sz="1000"/>
                        <a:t>75.6%</a:t>
                      </a:r>
                      <a:endParaRPr sz="1000"/>
                    </a:p>
                  </a:txBody>
                  <a:tcPr marT="91425" marB="91425" marR="91425" marL="91425"/>
                </a:tc>
              </a:tr>
              <a:tr h="277000">
                <a:tc>
                  <a:txBody>
                    <a:bodyPr/>
                    <a:lstStyle/>
                    <a:p>
                      <a:pPr indent="0" lvl="0" marL="0" rtl="0" algn="l">
                        <a:spcBef>
                          <a:spcPts val="0"/>
                        </a:spcBef>
                        <a:spcAft>
                          <a:spcPts val="0"/>
                        </a:spcAft>
                        <a:buNone/>
                      </a:pPr>
                      <a:r>
                        <a:rPr lang="en-GB" sz="1000"/>
                        <a:t>4</a:t>
                      </a:r>
                      <a:endParaRPr sz="1000"/>
                    </a:p>
                  </a:txBody>
                  <a:tcPr marT="91425" marB="91425" marR="91425" marL="91425"/>
                </a:tc>
                <a:tc>
                  <a:txBody>
                    <a:bodyPr/>
                    <a:lstStyle/>
                    <a:p>
                      <a:pPr indent="0" lvl="0" marL="0" rtl="0" algn="l">
                        <a:spcBef>
                          <a:spcPts val="0"/>
                        </a:spcBef>
                        <a:spcAft>
                          <a:spcPts val="0"/>
                        </a:spcAft>
                        <a:buNone/>
                      </a:pPr>
                      <a:r>
                        <a:rPr lang="en-GB" sz="1000"/>
                        <a:t>0.1616</a:t>
                      </a:r>
                      <a:endParaRPr sz="1000"/>
                    </a:p>
                  </a:txBody>
                  <a:tcPr marT="91425" marB="91425" marR="91425" marL="91425"/>
                </a:tc>
                <a:tc>
                  <a:txBody>
                    <a:bodyPr/>
                    <a:lstStyle/>
                    <a:p>
                      <a:pPr indent="0" lvl="0" marL="0" rtl="0" algn="l">
                        <a:spcBef>
                          <a:spcPts val="0"/>
                        </a:spcBef>
                        <a:spcAft>
                          <a:spcPts val="0"/>
                        </a:spcAft>
                        <a:buNone/>
                      </a:pPr>
                      <a:r>
                        <a:rPr lang="en-GB" sz="1000"/>
                        <a:t>2.74x</a:t>
                      </a:r>
                      <a:endParaRPr sz="1000"/>
                    </a:p>
                  </a:txBody>
                  <a:tcPr marT="91425" marB="91425" marR="91425" marL="91425"/>
                </a:tc>
                <a:tc>
                  <a:txBody>
                    <a:bodyPr/>
                    <a:lstStyle/>
                    <a:p>
                      <a:pPr indent="0" lvl="0" marL="0" rtl="0" algn="l">
                        <a:spcBef>
                          <a:spcPts val="0"/>
                        </a:spcBef>
                        <a:spcAft>
                          <a:spcPts val="0"/>
                        </a:spcAft>
                        <a:buNone/>
                      </a:pPr>
                      <a:r>
                        <a:rPr lang="en-GB" sz="1000"/>
                        <a:t>68.4%</a:t>
                      </a:r>
                      <a:endParaRPr sz="1000"/>
                    </a:p>
                  </a:txBody>
                  <a:tcPr marT="91425" marB="91425" marR="91425" marL="91425"/>
                </a:tc>
              </a:tr>
              <a:tr h="277000">
                <a:tc>
                  <a:txBody>
                    <a:bodyPr/>
                    <a:lstStyle/>
                    <a:p>
                      <a:pPr indent="0" lvl="0" marL="0" rtl="0" algn="l">
                        <a:spcBef>
                          <a:spcPts val="0"/>
                        </a:spcBef>
                        <a:spcAft>
                          <a:spcPts val="0"/>
                        </a:spcAft>
                        <a:buNone/>
                      </a:pPr>
                      <a:r>
                        <a:rPr lang="en-GB" sz="1000"/>
                        <a:t>6</a:t>
                      </a:r>
                      <a:endParaRPr sz="1000"/>
                    </a:p>
                  </a:txBody>
                  <a:tcPr marT="91425" marB="91425" marR="91425" marL="91425"/>
                </a:tc>
                <a:tc>
                  <a:txBody>
                    <a:bodyPr/>
                    <a:lstStyle/>
                    <a:p>
                      <a:pPr indent="0" lvl="0" marL="0" rtl="0" algn="l">
                        <a:spcBef>
                          <a:spcPts val="0"/>
                        </a:spcBef>
                        <a:spcAft>
                          <a:spcPts val="0"/>
                        </a:spcAft>
                        <a:buNone/>
                      </a:pPr>
                      <a:r>
                        <a:rPr lang="en-GB" sz="1000"/>
                        <a:t>0.1623</a:t>
                      </a:r>
                      <a:endParaRPr sz="1000"/>
                    </a:p>
                  </a:txBody>
                  <a:tcPr marT="91425" marB="91425" marR="91425" marL="91425"/>
                </a:tc>
                <a:tc>
                  <a:txBody>
                    <a:bodyPr/>
                    <a:lstStyle/>
                    <a:p>
                      <a:pPr indent="0" lvl="0" marL="0" rtl="0" algn="l">
                        <a:spcBef>
                          <a:spcPts val="0"/>
                        </a:spcBef>
                        <a:spcAft>
                          <a:spcPts val="0"/>
                        </a:spcAft>
                        <a:buNone/>
                      </a:pPr>
                      <a:r>
                        <a:rPr lang="en-GB" sz="1000"/>
                        <a:t>2.73x</a:t>
                      </a:r>
                      <a:endParaRPr sz="1000"/>
                    </a:p>
                  </a:txBody>
                  <a:tcPr marT="91425" marB="91425" marR="91425" marL="91425"/>
                </a:tc>
                <a:tc>
                  <a:txBody>
                    <a:bodyPr/>
                    <a:lstStyle/>
                    <a:p>
                      <a:pPr indent="0" lvl="0" marL="0" rtl="0" algn="l">
                        <a:spcBef>
                          <a:spcPts val="0"/>
                        </a:spcBef>
                        <a:spcAft>
                          <a:spcPts val="0"/>
                        </a:spcAft>
                        <a:buNone/>
                      </a:pPr>
                      <a:r>
                        <a:rPr lang="en-GB" sz="1000"/>
                        <a:t>45.4%</a:t>
                      </a:r>
                      <a:endParaRPr sz="1000"/>
                    </a:p>
                  </a:txBody>
                  <a:tcPr marT="91425" marB="91425" marR="91425" marL="91425"/>
                </a:tc>
              </a:tr>
              <a:tr h="277000">
                <a:tc>
                  <a:txBody>
                    <a:bodyPr/>
                    <a:lstStyle/>
                    <a:p>
                      <a:pPr indent="0" lvl="0" marL="0" rtl="0" algn="l">
                        <a:spcBef>
                          <a:spcPts val="0"/>
                        </a:spcBef>
                        <a:spcAft>
                          <a:spcPts val="0"/>
                        </a:spcAft>
                        <a:buNone/>
                      </a:pPr>
                      <a:r>
                        <a:rPr lang="en-GB" sz="1000"/>
                        <a:t>8</a:t>
                      </a:r>
                      <a:endParaRPr sz="1000"/>
                    </a:p>
                  </a:txBody>
                  <a:tcPr marT="91425" marB="91425" marR="91425" marL="91425"/>
                </a:tc>
                <a:tc>
                  <a:txBody>
                    <a:bodyPr/>
                    <a:lstStyle/>
                    <a:p>
                      <a:pPr indent="0" lvl="0" marL="0" rtl="0" algn="l">
                        <a:spcBef>
                          <a:spcPts val="0"/>
                        </a:spcBef>
                        <a:spcAft>
                          <a:spcPts val="0"/>
                        </a:spcAft>
                        <a:buNone/>
                      </a:pPr>
                      <a:r>
                        <a:rPr lang="en-GB" sz="1000"/>
                        <a:t>0.1656</a:t>
                      </a:r>
                      <a:endParaRPr sz="1000"/>
                    </a:p>
                  </a:txBody>
                  <a:tcPr marT="91425" marB="91425" marR="91425" marL="91425"/>
                </a:tc>
                <a:tc>
                  <a:txBody>
                    <a:bodyPr/>
                    <a:lstStyle/>
                    <a:p>
                      <a:pPr indent="0" lvl="0" marL="0" rtl="0" algn="l">
                        <a:spcBef>
                          <a:spcPts val="0"/>
                        </a:spcBef>
                        <a:spcAft>
                          <a:spcPts val="0"/>
                        </a:spcAft>
                        <a:buNone/>
                      </a:pPr>
                      <a:r>
                        <a:rPr lang="en-GB" sz="1000"/>
                        <a:t>2.67x</a:t>
                      </a:r>
                      <a:endParaRPr sz="1000"/>
                    </a:p>
                  </a:txBody>
                  <a:tcPr marT="91425" marB="91425" marR="91425" marL="91425"/>
                </a:tc>
                <a:tc>
                  <a:txBody>
                    <a:bodyPr/>
                    <a:lstStyle/>
                    <a:p>
                      <a:pPr indent="0" lvl="0" marL="0" rtl="0" algn="l">
                        <a:spcBef>
                          <a:spcPts val="0"/>
                        </a:spcBef>
                        <a:spcAft>
                          <a:spcPts val="0"/>
                        </a:spcAft>
                        <a:buNone/>
                      </a:pPr>
                      <a:r>
                        <a:rPr lang="en-GB" sz="1000"/>
                        <a:t>33.4%</a:t>
                      </a:r>
                      <a:endParaRPr sz="1000"/>
                    </a:p>
                  </a:txBody>
                  <a:tcPr marT="91425" marB="91425" marR="91425" marL="91425"/>
                </a:tc>
              </a:tr>
              <a:tr h="277000">
                <a:tc>
                  <a:txBody>
                    <a:bodyPr/>
                    <a:lstStyle/>
                    <a:p>
                      <a:pPr indent="0" lvl="0" marL="0" rtl="0" algn="l">
                        <a:spcBef>
                          <a:spcPts val="0"/>
                        </a:spcBef>
                        <a:spcAft>
                          <a:spcPts val="0"/>
                        </a:spcAft>
                        <a:buNone/>
                      </a:pPr>
                      <a:r>
                        <a:rPr lang="en-GB" sz="1000"/>
                        <a:t>12</a:t>
                      </a:r>
                      <a:endParaRPr sz="1000"/>
                    </a:p>
                  </a:txBody>
                  <a:tcPr marT="91425" marB="91425" marR="91425" marL="91425"/>
                </a:tc>
                <a:tc>
                  <a:txBody>
                    <a:bodyPr/>
                    <a:lstStyle/>
                    <a:p>
                      <a:pPr indent="0" lvl="0" marL="0" rtl="0" algn="l">
                        <a:spcBef>
                          <a:spcPts val="0"/>
                        </a:spcBef>
                        <a:spcAft>
                          <a:spcPts val="0"/>
                        </a:spcAft>
                        <a:buNone/>
                      </a:pPr>
                      <a:r>
                        <a:rPr lang="en-GB" sz="1000"/>
                        <a:t>0.1739</a:t>
                      </a:r>
                      <a:endParaRPr sz="1000"/>
                    </a:p>
                  </a:txBody>
                  <a:tcPr marT="91425" marB="91425" marR="91425" marL="91425"/>
                </a:tc>
                <a:tc>
                  <a:txBody>
                    <a:bodyPr/>
                    <a:lstStyle/>
                    <a:p>
                      <a:pPr indent="0" lvl="0" marL="0" rtl="0" algn="l">
                        <a:spcBef>
                          <a:spcPts val="0"/>
                        </a:spcBef>
                        <a:spcAft>
                          <a:spcPts val="0"/>
                        </a:spcAft>
                        <a:buNone/>
                      </a:pPr>
                      <a:r>
                        <a:rPr lang="en-GB" sz="1000"/>
                        <a:t>2.54x</a:t>
                      </a:r>
                      <a:endParaRPr sz="1000"/>
                    </a:p>
                  </a:txBody>
                  <a:tcPr marT="91425" marB="91425" marR="91425" marL="91425"/>
                </a:tc>
                <a:tc>
                  <a:txBody>
                    <a:bodyPr/>
                    <a:lstStyle/>
                    <a:p>
                      <a:pPr indent="0" lvl="0" marL="0" rtl="0" algn="l">
                        <a:spcBef>
                          <a:spcPts val="0"/>
                        </a:spcBef>
                        <a:spcAft>
                          <a:spcPts val="0"/>
                        </a:spcAft>
                        <a:buNone/>
                      </a:pPr>
                      <a:r>
                        <a:rPr lang="en-GB" sz="1000"/>
                        <a:t>25.4%</a:t>
                      </a:r>
                      <a:endParaRPr sz="1000"/>
                    </a:p>
                  </a:txBody>
                  <a:tcPr marT="91425" marB="91425" marR="91425" marL="91425"/>
                </a:tc>
              </a:tr>
            </a:tbl>
          </a:graphicData>
        </a:graphic>
      </p:graphicFrame>
      <p:sp>
        <p:nvSpPr>
          <p:cNvPr id="127" name="Google Shape;127;p19"/>
          <p:cNvSpPr txBox="1"/>
          <p:nvPr>
            <p:ph idx="1" type="body"/>
          </p:nvPr>
        </p:nvSpPr>
        <p:spPr>
          <a:xfrm>
            <a:off x="311700" y="4053025"/>
            <a:ext cx="4521600" cy="607800"/>
          </a:xfrm>
          <a:prstGeom prst="rect">
            <a:avLst/>
          </a:prstGeom>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rPr lang="en-GB"/>
              <a:t>Run on Apple M5 (4 super, 6 efficiency cores)</a:t>
            </a:r>
            <a:endParaRPr/>
          </a:p>
          <a:p>
            <a:pPr indent="0" lvl="0" marL="0" rtl="0" algn="l">
              <a:spcBef>
                <a:spcPts val="1200"/>
              </a:spcBef>
              <a:spcAft>
                <a:spcPts val="1200"/>
              </a:spcAft>
              <a:buNone/>
            </a:pPr>
            <a:r>
              <a:rPr lang="en-GB"/>
              <a:t>n=10,000,000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Speed up with varying n</a:t>
            </a:r>
            <a:endParaRPr/>
          </a:p>
        </p:txBody>
      </p:sp>
      <p:sp>
        <p:nvSpPr>
          <p:cNvPr id="133" name="Google Shape;133;p20"/>
          <p:cNvSpPr txBox="1"/>
          <p:nvPr>
            <p:ph idx="1" type="body"/>
          </p:nvPr>
        </p:nvSpPr>
        <p:spPr>
          <a:xfrm>
            <a:off x="5145375" y="1066400"/>
            <a:ext cx="3687000" cy="35025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None/>
            </a:pPr>
            <a:r>
              <a:rPr lang="en-GB" sz="1600"/>
              <a:t>When n is below 10^6, there is no speed up at all. This is because of the MPI overhead of having to schedule and run 4 processors at the same time. As n increases, the portion of work dedicated overhead, and actual prime computation flips, causing the speedup to gradually approach the theoretical limit of 4, as n gets higher.</a:t>
            </a:r>
            <a:endParaRPr sz="1600"/>
          </a:p>
        </p:txBody>
      </p:sp>
      <p:graphicFrame>
        <p:nvGraphicFramePr>
          <p:cNvPr id="134" name="Google Shape;134;p20"/>
          <p:cNvGraphicFramePr/>
          <p:nvPr/>
        </p:nvGraphicFramePr>
        <p:xfrm>
          <a:off x="311700" y="1066400"/>
          <a:ext cx="3000000" cy="3000000"/>
        </p:xfrm>
        <a:graphic>
          <a:graphicData uri="http://schemas.openxmlformats.org/drawingml/2006/table">
            <a:tbl>
              <a:tblPr>
                <a:noFill/>
                <a:tableStyleId>{9B24586B-09AC-4940-B146-11C6ADCB7020}</a:tableStyleId>
              </a:tblPr>
              <a:tblGrid>
                <a:gridCol w="904325"/>
                <a:gridCol w="904325"/>
                <a:gridCol w="904325"/>
                <a:gridCol w="904325"/>
                <a:gridCol w="904325"/>
              </a:tblGrid>
              <a:tr h="475075">
                <a:tc>
                  <a:txBody>
                    <a:bodyPr/>
                    <a:lstStyle/>
                    <a:p>
                      <a:pPr indent="0" lvl="0" marL="0" rtl="0" algn="l">
                        <a:spcBef>
                          <a:spcPts val="0"/>
                        </a:spcBef>
                        <a:spcAft>
                          <a:spcPts val="0"/>
                        </a:spcAft>
                        <a:buNone/>
                      </a:pPr>
                      <a:r>
                        <a:rPr lang="en-GB" sz="1000"/>
                        <a:t>n</a:t>
                      </a:r>
                      <a:r>
                        <a:rPr lang="en-GB" sz="1000"/>
                        <a:t> </a:t>
                      </a:r>
                      <a:endParaRPr sz="1000"/>
                    </a:p>
                  </a:txBody>
                  <a:tcPr marT="91425" marB="91425" marR="91425" marL="91425"/>
                </a:tc>
                <a:tc>
                  <a:txBody>
                    <a:bodyPr/>
                    <a:lstStyle/>
                    <a:p>
                      <a:pPr indent="0" lvl="0" marL="0" rtl="0" algn="l">
                        <a:spcBef>
                          <a:spcPts val="0"/>
                        </a:spcBef>
                        <a:spcAft>
                          <a:spcPts val="0"/>
                        </a:spcAft>
                        <a:buNone/>
                      </a:pPr>
                      <a:r>
                        <a:rPr lang="en-GB" sz="1000"/>
                        <a:t>Time (secs)</a:t>
                      </a:r>
                      <a:endParaRPr sz="1000"/>
                    </a:p>
                    <a:p>
                      <a:pPr indent="0" lvl="0" marL="0" rtl="0" algn="l">
                        <a:spcBef>
                          <a:spcPts val="0"/>
                        </a:spcBef>
                        <a:spcAft>
                          <a:spcPts val="0"/>
                        </a:spcAft>
                        <a:buNone/>
                      </a:pPr>
                      <a:r>
                        <a:rPr lang="en-GB" sz="1000"/>
                        <a:t>1 procs</a:t>
                      </a:r>
                      <a:endParaRPr sz="1000"/>
                    </a:p>
                  </a:txBody>
                  <a:tcPr marT="91425" marB="91425" marR="91425" marL="91425"/>
                </a:tc>
                <a:tc>
                  <a:txBody>
                    <a:bodyPr/>
                    <a:lstStyle/>
                    <a:p>
                      <a:pPr indent="0" lvl="0" marL="0" rtl="0" algn="l">
                        <a:spcBef>
                          <a:spcPts val="0"/>
                        </a:spcBef>
                        <a:spcAft>
                          <a:spcPts val="0"/>
                        </a:spcAft>
                        <a:buNone/>
                      </a:pPr>
                      <a:r>
                        <a:rPr lang="en-GB" sz="1000"/>
                        <a:t>Time (secs)</a:t>
                      </a:r>
                      <a:br>
                        <a:rPr lang="en-GB" sz="1000"/>
                      </a:br>
                      <a:r>
                        <a:rPr lang="en-GB" sz="1000"/>
                        <a:t>4 procs</a:t>
                      </a:r>
                      <a:endParaRPr sz="1000"/>
                    </a:p>
                  </a:txBody>
                  <a:tcPr marT="91425" marB="91425" marR="91425" marL="91425"/>
                </a:tc>
                <a:tc>
                  <a:txBody>
                    <a:bodyPr/>
                    <a:lstStyle/>
                    <a:p>
                      <a:pPr indent="0" lvl="0" marL="0" rtl="0" algn="l">
                        <a:spcBef>
                          <a:spcPts val="0"/>
                        </a:spcBef>
                        <a:spcAft>
                          <a:spcPts val="0"/>
                        </a:spcAft>
                        <a:buNone/>
                      </a:pPr>
                      <a:r>
                        <a:rPr lang="en-GB" sz="1000"/>
                        <a:t>Speedup</a:t>
                      </a:r>
                      <a:endParaRPr sz="1000"/>
                    </a:p>
                  </a:txBody>
                  <a:tcPr marT="91425" marB="91425" marR="91425" marL="91425"/>
                </a:tc>
                <a:tc>
                  <a:txBody>
                    <a:bodyPr/>
                    <a:lstStyle/>
                    <a:p>
                      <a:pPr indent="0" lvl="0" marL="0" rtl="0" algn="l">
                        <a:spcBef>
                          <a:spcPts val="0"/>
                        </a:spcBef>
                        <a:spcAft>
                          <a:spcPts val="0"/>
                        </a:spcAft>
                        <a:buNone/>
                      </a:pPr>
                      <a:r>
                        <a:rPr lang="en-GB" sz="1000"/>
                        <a:t>efficiency</a:t>
                      </a:r>
                      <a:endParaRPr sz="1000"/>
                    </a:p>
                  </a:txBody>
                  <a:tcPr marT="91425" marB="91425" marR="91425" marL="91425"/>
                </a:tc>
              </a:tr>
              <a:tr h="386000">
                <a:tc>
                  <a:txBody>
                    <a:bodyPr/>
                    <a:lstStyle/>
                    <a:p>
                      <a:pPr indent="0" lvl="0" marL="0" rtl="0" algn="l">
                        <a:spcBef>
                          <a:spcPts val="0"/>
                        </a:spcBef>
                        <a:spcAft>
                          <a:spcPts val="0"/>
                        </a:spcAft>
                        <a:buNone/>
                      </a:pPr>
                      <a:r>
                        <a:rPr lang="en-GB" sz="1000"/>
                        <a:t>10^5</a:t>
                      </a:r>
                      <a:endParaRPr sz="1000"/>
                    </a:p>
                  </a:txBody>
                  <a:tcPr marT="91425" marB="91425" marR="91425" marL="91425"/>
                </a:tc>
                <a:tc>
                  <a:txBody>
                    <a:bodyPr/>
                    <a:lstStyle/>
                    <a:p>
                      <a:pPr indent="0" lvl="0" marL="0" rtl="0" algn="l">
                        <a:spcBef>
                          <a:spcPts val="0"/>
                        </a:spcBef>
                        <a:spcAft>
                          <a:spcPts val="0"/>
                        </a:spcAft>
                        <a:buNone/>
                      </a:pPr>
                      <a:r>
                        <a:rPr lang="en-GB" sz="1000"/>
                        <a:t>0.0013 s</a:t>
                      </a:r>
                      <a:endParaRPr sz="1000"/>
                    </a:p>
                  </a:txBody>
                  <a:tcPr marT="91425" marB="91425" marR="91425" marL="91425"/>
                </a:tc>
                <a:tc>
                  <a:txBody>
                    <a:bodyPr/>
                    <a:lstStyle/>
                    <a:p>
                      <a:pPr indent="0" lvl="0" marL="0" rtl="0" algn="l">
                        <a:spcBef>
                          <a:spcPts val="0"/>
                        </a:spcBef>
                        <a:spcAft>
                          <a:spcPts val="0"/>
                        </a:spcAft>
                        <a:buNone/>
                      </a:pPr>
                      <a:r>
                        <a:rPr lang="en-GB" sz="1000"/>
                        <a:t>0.0029 s </a:t>
                      </a:r>
                      <a:endParaRPr sz="1000"/>
                    </a:p>
                  </a:txBody>
                  <a:tcPr marT="91425" marB="91425" marR="91425" marL="91425"/>
                </a:tc>
                <a:tc>
                  <a:txBody>
                    <a:bodyPr/>
                    <a:lstStyle/>
                    <a:p>
                      <a:pPr indent="0" lvl="0" marL="0" rtl="0" algn="l">
                        <a:spcBef>
                          <a:spcPts val="0"/>
                        </a:spcBef>
                        <a:spcAft>
                          <a:spcPts val="0"/>
                        </a:spcAft>
                        <a:buNone/>
                      </a:pPr>
                      <a:r>
                        <a:rPr lang="en-GB" sz="1000"/>
                        <a:t>0.44x</a:t>
                      </a:r>
                      <a:endParaRPr sz="1000"/>
                    </a:p>
                  </a:txBody>
                  <a:tcPr marT="91425" marB="91425" marR="91425" marL="91425"/>
                </a:tc>
                <a:tc>
                  <a:txBody>
                    <a:bodyPr/>
                    <a:lstStyle/>
                    <a:p>
                      <a:pPr indent="0" lvl="0" marL="0" rtl="0" algn="l">
                        <a:spcBef>
                          <a:spcPts val="0"/>
                        </a:spcBef>
                        <a:spcAft>
                          <a:spcPts val="0"/>
                        </a:spcAft>
                        <a:buNone/>
                      </a:pPr>
                      <a:r>
                        <a:rPr lang="en-GB" sz="1000"/>
                        <a:t>11.1%</a:t>
                      </a:r>
                      <a:endParaRPr sz="1000"/>
                    </a:p>
                  </a:txBody>
                  <a:tcPr marT="91425" marB="91425" marR="91425" marL="91425"/>
                </a:tc>
              </a:tr>
              <a:tr h="386000">
                <a:tc>
                  <a:txBody>
                    <a:bodyPr/>
                    <a:lstStyle/>
                    <a:p>
                      <a:pPr indent="0" lvl="0" marL="0" rtl="0" algn="l">
                        <a:spcBef>
                          <a:spcPts val="0"/>
                        </a:spcBef>
                        <a:spcAft>
                          <a:spcPts val="0"/>
                        </a:spcAft>
                        <a:buNone/>
                      </a:pPr>
                      <a:r>
                        <a:rPr lang="en-GB" sz="1000"/>
                        <a:t>3*10^5</a:t>
                      </a:r>
                      <a:endParaRPr sz="1000"/>
                    </a:p>
                  </a:txBody>
                  <a:tcPr marT="91425" marB="91425" marR="91425" marL="91425"/>
                </a:tc>
                <a:tc>
                  <a:txBody>
                    <a:bodyPr/>
                    <a:lstStyle/>
                    <a:p>
                      <a:pPr indent="0" lvl="0" marL="0" rtl="0" algn="l">
                        <a:spcBef>
                          <a:spcPts val="0"/>
                        </a:spcBef>
                        <a:spcAft>
                          <a:spcPts val="0"/>
                        </a:spcAft>
                        <a:buNone/>
                      </a:pPr>
                      <a:r>
                        <a:rPr lang="en-GB" sz="1000"/>
                        <a:t>0.0044 s</a:t>
                      </a:r>
                      <a:endParaRPr sz="1000"/>
                    </a:p>
                  </a:txBody>
                  <a:tcPr marT="91425" marB="91425" marR="91425" marL="91425"/>
                </a:tc>
                <a:tc>
                  <a:txBody>
                    <a:bodyPr/>
                    <a:lstStyle/>
                    <a:p>
                      <a:pPr indent="0" lvl="0" marL="0" rtl="0" algn="l">
                        <a:spcBef>
                          <a:spcPts val="0"/>
                        </a:spcBef>
                        <a:spcAft>
                          <a:spcPts val="0"/>
                        </a:spcAft>
                        <a:buNone/>
                      </a:pPr>
                      <a:r>
                        <a:rPr lang="en-GB" sz="1000"/>
                        <a:t>0.0067 s </a:t>
                      </a:r>
                      <a:endParaRPr sz="1000"/>
                    </a:p>
                  </a:txBody>
                  <a:tcPr marT="91425" marB="91425" marR="91425" marL="91425"/>
                </a:tc>
                <a:tc>
                  <a:txBody>
                    <a:bodyPr/>
                    <a:lstStyle/>
                    <a:p>
                      <a:pPr indent="0" lvl="0" marL="0" rtl="0" algn="l">
                        <a:spcBef>
                          <a:spcPts val="0"/>
                        </a:spcBef>
                        <a:spcAft>
                          <a:spcPts val="0"/>
                        </a:spcAft>
                        <a:buNone/>
                      </a:pPr>
                      <a:r>
                        <a:rPr lang="en-GB" sz="1000"/>
                        <a:t>0.66x</a:t>
                      </a:r>
                      <a:endParaRPr sz="1000"/>
                    </a:p>
                  </a:txBody>
                  <a:tcPr marT="91425" marB="91425" marR="91425" marL="91425"/>
                </a:tc>
                <a:tc>
                  <a:txBody>
                    <a:bodyPr/>
                    <a:lstStyle/>
                    <a:p>
                      <a:pPr indent="0" lvl="0" marL="0" rtl="0" algn="l">
                        <a:spcBef>
                          <a:spcPts val="0"/>
                        </a:spcBef>
                        <a:spcAft>
                          <a:spcPts val="0"/>
                        </a:spcAft>
                        <a:buNone/>
                      </a:pPr>
                      <a:r>
                        <a:rPr lang="en-GB" sz="1000"/>
                        <a:t>16.6%</a:t>
                      </a:r>
                      <a:endParaRPr sz="1000"/>
                    </a:p>
                  </a:txBody>
                  <a:tcPr marT="91425" marB="91425" marR="91425" marL="91425"/>
                </a:tc>
              </a:tr>
              <a:tr h="386000">
                <a:tc>
                  <a:txBody>
                    <a:bodyPr/>
                    <a:lstStyle/>
                    <a:p>
                      <a:pPr indent="0" lvl="0" marL="0" rtl="0" algn="l">
                        <a:spcBef>
                          <a:spcPts val="0"/>
                        </a:spcBef>
                        <a:spcAft>
                          <a:spcPts val="0"/>
                        </a:spcAft>
                        <a:buNone/>
                      </a:pPr>
                      <a:r>
                        <a:rPr lang="en-GB" sz="1000"/>
                        <a:t>10^6</a:t>
                      </a:r>
                      <a:endParaRPr sz="1000"/>
                    </a:p>
                  </a:txBody>
                  <a:tcPr marT="91425" marB="91425" marR="91425" marL="91425"/>
                </a:tc>
                <a:tc>
                  <a:txBody>
                    <a:bodyPr/>
                    <a:lstStyle/>
                    <a:p>
                      <a:pPr indent="0" lvl="0" marL="0" rtl="0" algn="l">
                        <a:spcBef>
                          <a:spcPts val="0"/>
                        </a:spcBef>
                        <a:spcAft>
                          <a:spcPts val="0"/>
                        </a:spcAft>
                        <a:buNone/>
                      </a:pPr>
                      <a:r>
                        <a:rPr lang="en-GB" sz="1000"/>
                        <a:t>0.0203 s </a:t>
                      </a:r>
                      <a:endParaRPr sz="1000"/>
                    </a:p>
                  </a:txBody>
                  <a:tcPr marT="91425" marB="91425" marR="91425" marL="91425"/>
                </a:tc>
                <a:tc>
                  <a:txBody>
                    <a:bodyPr/>
                    <a:lstStyle/>
                    <a:p>
                      <a:pPr indent="0" lvl="0" marL="0" rtl="0" algn="l">
                        <a:spcBef>
                          <a:spcPts val="0"/>
                        </a:spcBef>
                        <a:spcAft>
                          <a:spcPts val="0"/>
                        </a:spcAft>
                        <a:buNone/>
                      </a:pPr>
                      <a:r>
                        <a:rPr lang="en-GB" sz="1000"/>
                        <a:t>0.0201 s</a:t>
                      </a:r>
                      <a:endParaRPr sz="1000"/>
                    </a:p>
                  </a:txBody>
                  <a:tcPr marT="91425" marB="91425" marR="91425" marL="91425"/>
                </a:tc>
                <a:tc>
                  <a:txBody>
                    <a:bodyPr/>
                    <a:lstStyle/>
                    <a:p>
                      <a:pPr indent="0" lvl="0" marL="0" rtl="0" algn="l">
                        <a:spcBef>
                          <a:spcPts val="0"/>
                        </a:spcBef>
                        <a:spcAft>
                          <a:spcPts val="0"/>
                        </a:spcAft>
                        <a:buNone/>
                      </a:pPr>
                      <a:r>
                        <a:rPr lang="en-GB" sz="1000"/>
                        <a:t>1.01x</a:t>
                      </a:r>
                      <a:endParaRPr sz="1000"/>
                    </a:p>
                  </a:txBody>
                  <a:tcPr marT="91425" marB="91425" marR="91425" marL="91425"/>
                </a:tc>
                <a:tc>
                  <a:txBody>
                    <a:bodyPr/>
                    <a:lstStyle/>
                    <a:p>
                      <a:pPr indent="0" lvl="0" marL="0" rtl="0" algn="l">
                        <a:spcBef>
                          <a:spcPts val="0"/>
                        </a:spcBef>
                        <a:spcAft>
                          <a:spcPts val="0"/>
                        </a:spcAft>
                        <a:buNone/>
                      </a:pPr>
                      <a:r>
                        <a:rPr lang="en-GB" sz="1000"/>
                        <a:t>25.3%</a:t>
                      </a:r>
                      <a:endParaRPr sz="1000"/>
                    </a:p>
                  </a:txBody>
                  <a:tcPr marT="91425" marB="91425" marR="91425" marL="91425"/>
                </a:tc>
              </a:tr>
              <a:tr h="386000">
                <a:tc>
                  <a:txBody>
                    <a:bodyPr/>
                    <a:lstStyle/>
                    <a:p>
                      <a:pPr indent="0" lvl="0" marL="0" rtl="0" algn="l">
                        <a:spcBef>
                          <a:spcPts val="0"/>
                        </a:spcBef>
                        <a:spcAft>
                          <a:spcPts val="0"/>
                        </a:spcAft>
                        <a:buNone/>
                      </a:pPr>
                      <a:r>
                        <a:rPr lang="en-GB" sz="1000"/>
                        <a:t>3*10^6</a:t>
                      </a:r>
                      <a:endParaRPr sz="1000"/>
                    </a:p>
                  </a:txBody>
                  <a:tcPr marT="91425" marB="91425" marR="91425" marL="91425"/>
                </a:tc>
                <a:tc>
                  <a:txBody>
                    <a:bodyPr/>
                    <a:lstStyle/>
                    <a:p>
                      <a:pPr indent="0" lvl="0" marL="0" rtl="0" algn="l">
                        <a:spcBef>
                          <a:spcPts val="0"/>
                        </a:spcBef>
                        <a:spcAft>
                          <a:spcPts val="0"/>
                        </a:spcAft>
                        <a:buNone/>
                      </a:pPr>
                      <a:r>
                        <a:rPr lang="en-GB" sz="1000"/>
                        <a:t>0.0856 s </a:t>
                      </a:r>
                      <a:endParaRPr sz="1000"/>
                    </a:p>
                  </a:txBody>
                  <a:tcPr marT="91425" marB="91425" marR="91425" marL="91425"/>
                </a:tc>
                <a:tc>
                  <a:txBody>
                    <a:bodyPr/>
                    <a:lstStyle/>
                    <a:p>
                      <a:pPr indent="0" lvl="0" marL="0" rtl="0" algn="l">
                        <a:spcBef>
                          <a:spcPts val="0"/>
                        </a:spcBef>
                        <a:spcAft>
                          <a:spcPts val="0"/>
                        </a:spcAft>
                        <a:buNone/>
                      </a:pPr>
                      <a:r>
                        <a:rPr lang="en-GB" sz="1000"/>
                        <a:t>0.0458 s </a:t>
                      </a:r>
                      <a:endParaRPr sz="1000"/>
                    </a:p>
                  </a:txBody>
                  <a:tcPr marT="91425" marB="91425" marR="91425" marL="91425"/>
                </a:tc>
                <a:tc>
                  <a:txBody>
                    <a:bodyPr/>
                    <a:lstStyle/>
                    <a:p>
                      <a:pPr indent="0" lvl="0" marL="0" rtl="0" algn="l">
                        <a:spcBef>
                          <a:spcPts val="0"/>
                        </a:spcBef>
                        <a:spcAft>
                          <a:spcPts val="0"/>
                        </a:spcAft>
                        <a:buNone/>
                      </a:pPr>
                      <a:r>
                        <a:rPr lang="en-GB" sz="1000"/>
                        <a:t>1.87x</a:t>
                      </a:r>
                      <a:endParaRPr sz="1000"/>
                    </a:p>
                  </a:txBody>
                  <a:tcPr marT="91425" marB="91425" marR="91425" marL="91425"/>
                </a:tc>
                <a:tc>
                  <a:txBody>
                    <a:bodyPr/>
                    <a:lstStyle/>
                    <a:p>
                      <a:pPr indent="0" lvl="0" marL="0" rtl="0" algn="l">
                        <a:spcBef>
                          <a:spcPts val="0"/>
                        </a:spcBef>
                        <a:spcAft>
                          <a:spcPts val="0"/>
                        </a:spcAft>
                        <a:buNone/>
                      </a:pPr>
                      <a:r>
                        <a:rPr lang="en-GB" sz="1000"/>
                        <a:t>46.7%</a:t>
                      </a:r>
                      <a:endParaRPr sz="1000"/>
                    </a:p>
                  </a:txBody>
                  <a:tcPr marT="91425" marB="91425" marR="91425" marL="91425"/>
                </a:tc>
              </a:tr>
              <a:tr h="386000">
                <a:tc>
                  <a:txBody>
                    <a:bodyPr/>
                    <a:lstStyle/>
                    <a:p>
                      <a:pPr indent="0" lvl="0" marL="0" rtl="0" algn="l">
                        <a:spcBef>
                          <a:spcPts val="0"/>
                        </a:spcBef>
                        <a:spcAft>
                          <a:spcPts val="0"/>
                        </a:spcAft>
                        <a:buNone/>
                      </a:pPr>
                      <a:r>
                        <a:rPr lang="en-GB" sz="1000"/>
                        <a:t>10^7</a:t>
                      </a:r>
                      <a:endParaRPr sz="1000"/>
                    </a:p>
                  </a:txBody>
                  <a:tcPr marT="91425" marB="91425" marR="91425" marL="91425"/>
                </a:tc>
                <a:tc>
                  <a:txBody>
                    <a:bodyPr/>
                    <a:lstStyle/>
                    <a:p>
                      <a:pPr indent="0" lvl="0" marL="0" rtl="0" algn="l">
                        <a:spcBef>
                          <a:spcPts val="0"/>
                        </a:spcBef>
                        <a:spcAft>
                          <a:spcPts val="0"/>
                        </a:spcAft>
                        <a:buNone/>
                      </a:pPr>
                      <a:r>
                        <a:rPr lang="en-GB" sz="1000"/>
                        <a:t>0.4302 s</a:t>
                      </a:r>
                      <a:endParaRPr sz="1000"/>
                    </a:p>
                  </a:txBody>
                  <a:tcPr marT="91425" marB="91425" marR="91425" marL="91425"/>
                </a:tc>
                <a:tc>
                  <a:txBody>
                    <a:bodyPr/>
                    <a:lstStyle/>
                    <a:p>
                      <a:pPr indent="0" lvl="0" marL="0" rtl="0" algn="l">
                        <a:spcBef>
                          <a:spcPts val="0"/>
                        </a:spcBef>
                        <a:spcAft>
                          <a:spcPts val="0"/>
                        </a:spcAft>
                        <a:buNone/>
                      </a:pPr>
                      <a:r>
                        <a:rPr lang="en-GB" sz="1000"/>
                        <a:t>0.1591 s </a:t>
                      </a:r>
                      <a:endParaRPr sz="1000"/>
                    </a:p>
                  </a:txBody>
                  <a:tcPr marT="91425" marB="91425" marR="91425" marL="91425"/>
                </a:tc>
                <a:tc>
                  <a:txBody>
                    <a:bodyPr/>
                    <a:lstStyle/>
                    <a:p>
                      <a:pPr indent="0" lvl="0" marL="0" rtl="0" algn="l">
                        <a:spcBef>
                          <a:spcPts val="0"/>
                        </a:spcBef>
                        <a:spcAft>
                          <a:spcPts val="0"/>
                        </a:spcAft>
                        <a:buNone/>
                      </a:pPr>
                      <a:r>
                        <a:rPr lang="en-GB" sz="1000"/>
                        <a:t>2.70x</a:t>
                      </a:r>
                      <a:endParaRPr sz="1000"/>
                    </a:p>
                  </a:txBody>
                  <a:tcPr marT="91425" marB="91425" marR="91425" marL="91425"/>
                </a:tc>
                <a:tc>
                  <a:txBody>
                    <a:bodyPr/>
                    <a:lstStyle/>
                    <a:p>
                      <a:pPr indent="0" lvl="0" marL="0" rtl="0" algn="l">
                        <a:spcBef>
                          <a:spcPts val="0"/>
                        </a:spcBef>
                        <a:spcAft>
                          <a:spcPts val="0"/>
                        </a:spcAft>
                        <a:buNone/>
                      </a:pPr>
                      <a:r>
                        <a:rPr lang="en-GB" sz="1000"/>
                        <a:t>67.6%</a:t>
                      </a:r>
                      <a:endParaRPr sz="1000"/>
                    </a:p>
                  </a:txBody>
                  <a:tcPr marT="91425" marB="91425" marR="91425" marL="91425"/>
                </a:tc>
              </a:tr>
              <a:tr h="386000">
                <a:tc>
                  <a:txBody>
                    <a:bodyPr/>
                    <a:lstStyle/>
                    <a:p>
                      <a:pPr indent="0" lvl="0" marL="0" rtl="0" algn="l">
                        <a:spcBef>
                          <a:spcPts val="0"/>
                        </a:spcBef>
                        <a:spcAft>
                          <a:spcPts val="0"/>
                        </a:spcAft>
                        <a:buNone/>
                      </a:pPr>
                      <a:r>
                        <a:rPr lang="en-GB" sz="1000"/>
                        <a:t>3*10^7</a:t>
                      </a:r>
                      <a:endParaRPr sz="1000"/>
                    </a:p>
                  </a:txBody>
                  <a:tcPr marT="91425" marB="91425" marR="91425" marL="91425"/>
                </a:tc>
                <a:tc>
                  <a:txBody>
                    <a:bodyPr/>
                    <a:lstStyle/>
                    <a:p>
                      <a:pPr indent="0" lvl="0" marL="0" rtl="0" algn="l">
                        <a:spcBef>
                          <a:spcPts val="0"/>
                        </a:spcBef>
                        <a:spcAft>
                          <a:spcPts val="0"/>
                        </a:spcAft>
                        <a:buNone/>
                      </a:pPr>
                      <a:r>
                        <a:rPr lang="en-GB" sz="1000"/>
                        <a:t> 1.9692 s </a:t>
                      </a:r>
                      <a:endParaRPr sz="1000"/>
                    </a:p>
                  </a:txBody>
                  <a:tcPr marT="91425" marB="91425" marR="91425" marL="91425"/>
                </a:tc>
                <a:tc>
                  <a:txBody>
                    <a:bodyPr/>
                    <a:lstStyle/>
                    <a:p>
                      <a:pPr indent="0" lvl="0" marL="0" rtl="0" algn="l">
                        <a:spcBef>
                          <a:spcPts val="0"/>
                        </a:spcBef>
                        <a:spcAft>
                          <a:spcPts val="0"/>
                        </a:spcAft>
                        <a:buNone/>
                      </a:pPr>
                      <a:r>
                        <a:rPr lang="en-GB" sz="1000"/>
                        <a:t>0.6581 s</a:t>
                      </a:r>
                      <a:endParaRPr sz="1000"/>
                    </a:p>
                  </a:txBody>
                  <a:tcPr marT="91425" marB="91425" marR="91425" marL="91425"/>
                </a:tc>
                <a:tc>
                  <a:txBody>
                    <a:bodyPr/>
                    <a:lstStyle/>
                    <a:p>
                      <a:pPr indent="0" lvl="0" marL="0" rtl="0" algn="l">
                        <a:spcBef>
                          <a:spcPts val="0"/>
                        </a:spcBef>
                        <a:spcAft>
                          <a:spcPts val="0"/>
                        </a:spcAft>
                        <a:buNone/>
                      </a:pPr>
                      <a:r>
                        <a:rPr lang="en-GB" sz="1000"/>
                        <a:t>2.99x</a:t>
                      </a:r>
                      <a:endParaRPr sz="1000"/>
                    </a:p>
                  </a:txBody>
                  <a:tcPr marT="91425" marB="91425" marR="91425" marL="91425"/>
                </a:tc>
                <a:tc>
                  <a:txBody>
                    <a:bodyPr/>
                    <a:lstStyle/>
                    <a:p>
                      <a:pPr indent="0" lvl="0" marL="0" rtl="0" algn="l">
                        <a:spcBef>
                          <a:spcPts val="0"/>
                        </a:spcBef>
                        <a:spcAft>
                          <a:spcPts val="0"/>
                        </a:spcAft>
                        <a:buNone/>
                      </a:pPr>
                      <a:r>
                        <a:rPr lang="en-GB" sz="1000"/>
                        <a:t>74.8%</a:t>
                      </a:r>
                      <a:endParaRPr sz="1000"/>
                    </a:p>
                  </a:txBody>
                  <a:tcPr marT="91425" marB="91425" marR="91425" marL="91425"/>
                </a:tc>
              </a:tr>
              <a:tr h="386000">
                <a:tc>
                  <a:txBody>
                    <a:bodyPr/>
                    <a:lstStyle/>
                    <a:p>
                      <a:pPr indent="0" lvl="0" marL="0" rtl="0" algn="l">
                        <a:spcBef>
                          <a:spcPts val="0"/>
                        </a:spcBef>
                        <a:spcAft>
                          <a:spcPts val="0"/>
                        </a:spcAft>
                        <a:buNone/>
                      </a:pPr>
                      <a:r>
                        <a:rPr lang="en-GB" sz="1000"/>
                        <a:t>10^8</a:t>
                      </a:r>
                      <a:endParaRPr sz="1000"/>
                    </a:p>
                  </a:txBody>
                  <a:tcPr marT="91425" marB="91425" marR="91425" marL="91425"/>
                </a:tc>
                <a:tc>
                  <a:txBody>
                    <a:bodyPr/>
                    <a:lstStyle/>
                    <a:p>
                      <a:pPr indent="0" lvl="0" marL="0" rtl="0" algn="l">
                        <a:spcBef>
                          <a:spcPts val="0"/>
                        </a:spcBef>
                        <a:spcAft>
                          <a:spcPts val="0"/>
                        </a:spcAft>
                        <a:buNone/>
                      </a:pPr>
                      <a:r>
                        <a:rPr lang="en-GB" sz="1000"/>
                        <a:t>10.6936 s</a:t>
                      </a:r>
                      <a:endParaRPr sz="1000"/>
                    </a:p>
                  </a:txBody>
                  <a:tcPr marT="91425" marB="91425" marR="91425" marL="91425"/>
                </a:tc>
                <a:tc>
                  <a:txBody>
                    <a:bodyPr/>
                    <a:lstStyle/>
                    <a:p>
                      <a:pPr indent="0" lvl="0" marL="0" rtl="0" algn="l">
                        <a:spcBef>
                          <a:spcPts val="0"/>
                        </a:spcBef>
                        <a:spcAft>
                          <a:spcPts val="0"/>
                        </a:spcAft>
                        <a:buNone/>
                      </a:pPr>
                      <a:r>
                        <a:rPr lang="en-GB" sz="1000"/>
                        <a:t>3.4018 s</a:t>
                      </a:r>
                      <a:endParaRPr sz="1000"/>
                    </a:p>
                  </a:txBody>
                  <a:tcPr marT="91425" marB="91425" marR="91425" marL="91425"/>
                </a:tc>
                <a:tc>
                  <a:txBody>
                    <a:bodyPr/>
                    <a:lstStyle/>
                    <a:p>
                      <a:pPr indent="0" lvl="0" marL="0" rtl="0" algn="l">
                        <a:spcBef>
                          <a:spcPts val="0"/>
                        </a:spcBef>
                        <a:spcAft>
                          <a:spcPts val="0"/>
                        </a:spcAft>
                        <a:buNone/>
                      </a:pPr>
                      <a:r>
                        <a:rPr lang="en-GB" sz="1000"/>
                        <a:t>3.14x</a:t>
                      </a:r>
                      <a:endParaRPr sz="1000"/>
                    </a:p>
                  </a:txBody>
                  <a:tcPr marT="91425" marB="91425" marR="91425" marL="91425"/>
                </a:tc>
                <a:tc>
                  <a:txBody>
                    <a:bodyPr/>
                    <a:lstStyle/>
                    <a:p>
                      <a:pPr indent="0" lvl="0" marL="0" rtl="0" algn="l">
                        <a:spcBef>
                          <a:spcPts val="0"/>
                        </a:spcBef>
                        <a:spcAft>
                          <a:spcPts val="0"/>
                        </a:spcAft>
                        <a:buNone/>
                      </a:pPr>
                      <a:r>
                        <a:rPr lang="en-GB" sz="1000"/>
                        <a:t>78.6%</a:t>
                      </a:r>
                      <a:endParaRPr sz="1000"/>
                    </a:p>
                  </a:txBody>
                  <a:tcPr marT="91425" marB="91425" marR="91425" marL="91425"/>
                </a:tc>
              </a:tr>
            </a:tbl>
          </a:graphicData>
        </a:graphic>
      </p:graphicFrame>
      <p:sp>
        <p:nvSpPr>
          <p:cNvPr id="135" name="Google Shape;135;p20"/>
          <p:cNvSpPr txBox="1"/>
          <p:nvPr>
            <p:ph idx="1" type="body"/>
          </p:nvPr>
        </p:nvSpPr>
        <p:spPr>
          <a:xfrm>
            <a:off x="311700" y="4304650"/>
            <a:ext cx="4521600" cy="607800"/>
          </a:xfrm>
          <a:prstGeom prst="rect">
            <a:avLst/>
          </a:prstGeom>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rPr lang="en-GB"/>
              <a:t>Run on Apple M5 (4 super, 6 efficiency cores)</a:t>
            </a:r>
            <a:endParaRPr/>
          </a:p>
          <a:p>
            <a:pPr indent="0" lvl="0" marL="0" rtl="0" algn="l">
              <a:spcBef>
                <a:spcPts val="1200"/>
              </a:spcBef>
              <a:spcAft>
                <a:spcPts val="1200"/>
              </a:spcAft>
              <a:buNone/>
            </a:pPr>
            <a:r>
              <a:rPr lang="en-GB"/>
              <a:t>n=10,000,000</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1"/>
          <p:cNvPicPr preferRelativeResize="0"/>
          <p:nvPr/>
        </p:nvPicPr>
        <p:blipFill>
          <a:blip r:embed="rId3">
            <a:alphaModFix/>
          </a:blip>
          <a:stretch>
            <a:fillRect/>
          </a:stretch>
        </p:blipFill>
        <p:spPr>
          <a:xfrm>
            <a:off x="77250" y="974150"/>
            <a:ext cx="4494750" cy="2882524"/>
          </a:xfrm>
          <a:prstGeom prst="rect">
            <a:avLst/>
          </a:prstGeom>
          <a:noFill/>
          <a:ln>
            <a:noFill/>
          </a:ln>
        </p:spPr>
      </p:pic>
      <p:pic>
        <p:nvPicPr>
          <p:cNvPr id="141" name="Google Shape;141;p21"/>
          <p:cNvPicPr preferRelativeResize="0"/>
          <p:nvPr/>
        </p:nvPicPr>
        <p:blipFill>
          <a:blip r:embed="rId4">
            <a:alphaModFix/>
          </a:blip>
          <a:stretch>
            <a:fillRect/>
          </a:stretch>
        </p:blipFill>
        <p:spPr>
          <a:xfrm>
            <a:off x="4572000" y="1058200"/>
            <a:ext cx="4367950" cy="28825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2"/>
          <p:cNvPicPr preferRelativeResize="0"/>
          <p:nvPr/>
        </p:nvPicPr>
        <p:blipFill>
          <a:blip r:embed="rId3">
            <a:alphaModFix/>
          </a:blip>
          <a:stretch>
            <a:fillRect/>
          </a:stretch>
        </p:blipFill>
        <p:spPr>
          <a:xfrm>
            <a:off x="1226300" y="152400"/>
            <a:ext cx="7127732" cy="48386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Lab 1 vs Lab 2 comparison graphs</a:t>
            </a:r>
            <a:endParaRPr/>
          </a:p>
        </p:txBody>
      </p:sp>
      <p:pic>
        <p:nvPicPr>
          <p:cNvPr id="152" name="Google Shape;152;p23"/>
          <p:cNvPicPr preferRelativeResize="0"/>
          <p:nvPr/>
        </p:nvPicPr>
        <p:blipFill>
          <a:blip r:embed="rId3">
            <a:alphaModFix/>
          </a:blip>
          <a:stretch>
            <a:fillRect/>
          </a:stretch>
        </p:blipFill>
        <p:spPr>
          <a:xfrm>
            <a:off x="152400" y="1170200"/>
            <a:ext cx="4960798" cy="3181424"/>
          </a:xfrm>
          <a:prstGeom prst="rect">
            <a:avLst/>
          </a:prstGeom>
          <a:noFill/>
          <a:ln>
            <a:noFill/>
          </a:ln>
        </p:spPr>
      </p:pic>
      <p:sp>
        <p:nvSpPr>
          <p:cNvPr id="153" name="Google Shape;153;p23"/>
          <p:cNvSpPr txBox="1"/>
          <p:nvPr>
            <p:ph idx="1" type="body"/>
          </p:nvPr>
        </p:nvSpPr>
        <p:spPr>
          <a:xfrm>
            <a:off x="5145375" y="1066400"/>
            <a:ext cx="3687000" cy="35025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None/>
            </a:pPr>
            <a:r>
              <a:rPr lang="en-GB" sz="1600"/>
              <a:t>There is significant overhead at lower n for Open MPI (as discussed earlier), but OpenMP and MPI end up converging, and POSIX threads ends up the worst solution, due to the contiguous block splitting (that we “fixed” with slices in MPI).</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24"/>
          <p:cNvPicPr preferRelativeResize="0"/>
          <p:nvPr/>
        </p:nvPicPr>
        <p:blipFill>
          <a:blip r:embed="rId3">
            <a:alphaModFix/>
          </a:blip>
          <a:stretch>
            <a:fillRect/>
          </a:stretch>
        </p:blipFill>
        <p:spPr>
          <a:xfrm>
            <a:off x="77675" y="177075"/>
            <a:ext cx="4367950" cy="2882524"/>
          </a:xfrm>
          <a:prstGeom prst="rect">
            <a:avLst/>
          </a:prstGeom>
          <a:noFill/>
          <a:ln>
            <a:noFill/>
          </a:ln>
        </p:spPr>
      </p:pic>
      <p:pic>
        <p:nvPicPr>
          <p:cNvPr id="159" name="Google Shape;159;p24"/>
          <p:cNvPicPr preferRelativeResize="0"/>
          <p:nvPr/>
        </p:nvPicPr>
        <p:blipFill>
          <a:blip r:embed="rId4">
            <a:alphaModFix/>
          </a:blip>
          <a:stretch>
            <a:fillRect/>
          </a:stretch>
        </p:blipFill>
        <p:spPr>
          <a:xfrm>
            <a:off x="4672750" y="152400"/>
            <a:ext cx="4318848" cy="2931873"/>
          </a:xfrm>
          <a:prstGeom prst="rect">
            <a:avLst/>
          </a:prstGeom>
          <a:noFill/>
          <a:ln>
            <a:noFill/>
          </a:ln>
        </p:spPr>
      </p:pic>
      <p:sp>
        <p:nvSpPr>
          <p:cNvPr id="160" name="Google Shape;160;p24"/>
          <p:cNvSpPr txBox="1"/>
          <p:nvPr>
            <p:ph idx="1" type="body"/>
          </p:nvPr>
        </p:nvSpPr>
        <p:spPr>
          <a:xfrm>
            <a:off x="438900" y="3389775"/>
            <a:ext cx="5257500" cy="11790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None/>
            </a:pPr>
            <a:r>
              <a:rPr lang="en-GB" sz="1600"/>
              <a:t>OpenMP has the highest speed up, as OpenMPI has to gather and sort, which our OpenMP implementation does not need to do.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