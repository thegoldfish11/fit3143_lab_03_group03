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08BAB9-F72B-4B3B-8F20-DD92DF30B420}">
  <a:tblStyle styleId="{6508BAB9-F72B-4B3B-8F20-DD92DF30B4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f028134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f028134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afef0548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afef0548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afef0548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afef0548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f028134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af028134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af028134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af028134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1168735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b1168735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af028134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af028134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f028134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f028134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b1168735a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b1168735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f028134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af028134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afef054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afef054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afef0548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afef0548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fef0548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afef0548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afef0548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afef0548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fef0548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afef0548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fef0548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afef0548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afef0548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afef0548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fef0548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afef0548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afef0548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afef0548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afef0548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afef0548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afef0548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afef0548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afef0548d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afef0548d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b1168735a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b1168735a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1168735a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b1168735a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b1168735a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b1168735a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b1168735a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b1168735a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b1168735a_4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b1168735a_4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b1168735a_4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b1168735a_4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b1168735a_4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b1168735a_4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b1168735a_4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b1168735a_4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b13be921b_8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b13be921b_8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b1168735a_4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b1168735a_4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FIT3143 Applied 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Julia Mallard, Nam Quang Tran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Screenshot 2026-08-28 at 19.30.17.png"/>
          <p:cNvPicPr preferRelativeResize="0"/>
          <p:nvPr/>
        </p:nvPicPr>
        <p:blipFill rotWithShape="1">
          <a:blip r:embed="rId3">
            <a:alphaModFix/>
          </a:blip>
          <a:srcRect b="19459" l="7143" r="9217" t="0"/>
          <a:stretch/>
        </p:blipFill>
        <p:spPr>
          <a:xfrm>
            <a:off x="0" y="0"/>
            <a:ext cx="64618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 title="Screenshot 2026-08-28 at 19.30.17.png"/>
          <p:cNvPicPr preferRelativeResize="0"/>
          <p:nvPr/>
        </p:nvPicPr>
        <p:blipFill rotWithShape="1">
          <a:blip r:embed="rId3">
            <a:alphaModFix/>
          </a:blip>
          <a:srcRect b="0" l="53632" r="14173" t="79806"/>
          <a:stretch/>
        </p:blipFill>
        <p:spPr>
          <a:xfrm>
            <a:off x="6532675" y="2571751"/>
            <a:ext cx="2487399" cy="128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1: Network topology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6"/>
          <p:cNvGraphicFramePr/>
          <p:nvPr/>
        </p:nvGraphicFramePr>
        <p:xfrm>
          <a:off x="96000" y="89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{6508BAB9-F72B-4B3B-8F20-DD92DF30B420}</a:tableStyleId>
              </a:tblPr>
              <a:tblGrid>
                <a:gridCol w="1373675"/>
                <a:gridCol w="2107900"/>
                <a:gridCol w="1403475"/>
                <a:gridCol w="2594025"/>
                <a:gridCol w="14729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Topology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Connectivity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Scalability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Communication efficiency for neighbours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Suitable for EV grid?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Linear Array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Low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Moderate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Limited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Ring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Low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Moderate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Limited to 2 neighbours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Star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Centralised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Moderate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Poor for direct neighbour communication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Tree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Hierarchical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Indirect for neighbours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Completely Connected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Very high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Poor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Excellent but excessive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Hypercube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High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 but complex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Less suitable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2-D Mesh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Up to 4 neighbours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Excellent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2" name="Google Shape;72;p16"/>
          <p:cNvSpPr txBox="1"/>
          <p:nvPr>
            <p:ph idx="4294967295" type="title"/>
          </p:nvPr>
        </p:nvSpPr>
        <p:spPr>
          <a:xfrm>
            <a:off x="960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Topology Suitability Comparison Table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topologies from Week 5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Linear Array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Pros: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Simple design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Low number of Communication links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Low implementation cost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Cons: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Distant nodes = more hops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Edge nodes have only one neighbour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Not good 2D geographical representation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Pros: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Simple design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Each node has same number of neighbours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Alternative direction available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Cons: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Still only two neighbours per node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Unnecessary hops for geographically close neighbours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Not representative of a cartesian grid</a:t>
            </a:r>
            <a:endParaRPr/>
          </a:p>
        </p:txBody>
      </p:sp>
      <p:pic>
        <p:nvPicPr>
          <p:cNvPr id="80" name="Google Shape;80;p17" title="Screenshot 2026-08-28 at 19.35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1" y="4505601"/>
            <a:ext cx="3684550" cy="6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0" l="14727" r="0" t="8701"/>
          <a:stretch/>
        </p:blipFill>
        <p:spPr>
          <a:xfrm>
            <a:off x="6813021" y="17704"/>
            <a:ext cx="2313274" cy="21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topologies from Week 5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4260300" cy="22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Star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Pros: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Best for communication with central node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Cons: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Central node can become bottleneck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Doesn’t allow nodes to communicate with immediate ne</a:t>
            </a:r>
            <a:r>
              <a:rPr lang="en-GB"/>
              <a:t>ighboring nodes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4572000" y="1152475"/>
            <a:ext cx="4260300" cy="3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Tree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Pros: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Good for systems with parent-child communication relationships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Cons: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Adjacent geographical nodes may require communicating through higher-level nodes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Upper-level nodes may become bottlenecks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Doesn’t reflect neighbour-neighbour grid </a:t>
            </a:r>
            <a:r>
              <a:rPr lang="en-GB"/>
              <a:t>communication</a:t>
            </a:r>
            <a:r>
              <a:rPr lang="en-GB"/>
              <a:t> 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0" l="8802" r="23754" t="0"/>
          <a:stretch/>
        </p:blipFill>
        <p:spPr>
          <a:xfrm>
            <a:off x="17704" y="3355421"/>
            <a:ext cx="2388126" cy="177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 rotWithShape="1">
          <a:blip r:embed="rId4">
            <a:alphaModFix/>
          </a:blip>
          <a:srcRect b="6157" l="5635" r="7401" t="23952"/>
          <a:stretch/>
        </p:blipFill>
        <p:spPr>
          <a:xfrm>
            <a:off x="6346796" y="17704"/>
            <a:ext cx="2779500" cy="17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19"/>
          <p:cNvGraphicFramePr/>
          <p:nvPr/>
        </p:nvGraphicFramePr>
        <p:xfrm>
          <a:off x="96000" y="89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{6508BAB9-F72B-4B3B-8F20-DD92DF30B420}</a:tableStyleId>
              </a:tblPr>
              <a:tblGrid>
                <a:gridCol w="1373675"/>
                <a:gridCol w="2107900"/>
                <a:gridCol w="1403475"/>
                <a:gridCol w="2594025"/>
                <a:gridCol w="14729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Topology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Connectivity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Scalability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Communication efficiency for neighbours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Suitable for EV grid?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Linear Array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Low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Moderate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Limited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Ring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Low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Moderate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Limited to 2 neighbours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Star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Centralised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Moderate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Poor for direct neighbour communication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Tree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Hierarchical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Indirect for neighbours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Completely Connected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Very high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Poor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Excellent but excessive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Hypercube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High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 but complex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Less suitable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2-D Mesh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Up to 4 neighbours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Excellent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" name="Google Shape;96;p19"/>
          <p:cNvSpPr txBox="1"/>
          <p:nvPr>
            <p:ph idx="4294967295" type="title"/>
          </p:nvPr>
        </p:nvSpPr>
        <p:spPr>
          <a:xfrm>
            <a:off x="960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Topology Suitability Comparison Table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topologies from Week 5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4863600" cy="39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GB" sz="1565"/>
              <a:t>Completely Connected </a:t>
            </a:r>
            <a:endParaRPr b="1" sz="156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565"/>
              <a:t>Pros:</a:t>
            </a:r>
            <a:endParaRPr sz="1565"/>
          </a:p>
          <a:p>
            <a:pPr indent="-327978" lvl="0" marL="457200" rtl="0" algn="l">
              <a:spcBef>
                <a:spcPts val="0"/>
              </a:spcBef>
              <a:spcAft>
                <a:spcPts val="0"/>
              </a:spcAft>
              <a:buSzPts val="1565"/>
              <a:buChar char="-"/>
            </a:pPr>
            <a:r>
              <a:rPr lang="en-GB" sz="1565"/>
              <a:t>Direct communication between all nodes</a:t>
            </a:r>
            <a:endParaRPr sz="1565"/>
          </a:p>
          <a:p>
            <a:pPr indent="-327978" lvl="0" marL="457200" rtl="0" algn="l">
              <a:spcBef>
                <a:spcPts val="0"/>
              </a:spcBef>
              <a:spcAft>
                <a:spcPts val="0"/>
              </a:spcAft>
              <a:buSzPts val="1565"/>
              <a:buChar char="-"/>
            </a:pPr>
            <a:r>
              <a:rPr lang="en-GB" sz="1565"/>
              <a:t>Low network diameter</a:t>
            </a:r>
            <a:endParaRPr sz="1565"/>
          </a:p>
          <a:p>
            <a:pPr indent="-327978" lvl="0" marL="457200" rtl="0" algn="l">
              <a:spcBef>
                <a:spcPts val="0"/>
              </a:spcBef>
              <a:spcAft>
                <a:spcPts val="0"/>
              </a:spcAft>
              <a:buSzPts val="1565"/>
              <a:buChar char="-"/>
            </a:pPr>
            <a:r>
              <a:rPr lang="en-GB" sz="1565"/>
              <a:t>High </a:t>
            </a:r>
            <a:r>
              <a:rPr lang="en-GB" sz="1565"/>
              <a:t>connectivity</a:t>
            </a:r>
            <a:endParaRPr sz="156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565"/>
              <a:t>Cons:</a:t>
            </a:r>
            <a:endParaRPr sz="1565"/>
          </a:p>
          <a:p>
            <a:pPr indent="-327978" lvl="0" marL="457200" rtl="0" algn="l">
              <a:spcBef>
                <a:spcPts val="0"/>
              </a:spcBef>
              <a:spcAft>
                <a:spcPts val="0"/>
              </a:spcAft>
              <a:buSzPts val="1565"/>
              <a:buChar char="-"/>
            </a:pPr>
            <a:r>
              <a:rPr lang="en-GB" sz="1565"/>
              <a:t>Number of communication links grows rapidly as number of nodes grows</a:t>
            </a:r>
            <a:endParaRPr sz="1565"/>
          </a:p>
          <a:p>
            <a:pPr indent="-327978" lvl="0" marL="457200" rtl="0" algn="l">
              <a:spcBef>
                <a:spcPts val="0"/>
              </a:spcBef>
              <a:spcAft>
                <a:spcPts val="0"/>
              </a:spcAft>
              <a:buSzPts val="1565"/>
              <a:buChar char="-"/>
            </a:pPr>
            <a:r>
              <a:rPr lang="en-GB" sz="1565"/>
              <a:t>High implementation and maintenance cost</a:t>
            </a:r>
            <a:endParaRPr sz="1565"/>
          </a:p>
          <a:p>
            <a:pPr indent="-327978" lvl="0" marL="457200" rtl="0" algn="l">
              <a:spcBef>
                <a:spcPts val="0"/>
              </a:spcBef>
              <a:spcAft>
                <a:spcPts val="0"/>
              </a:spcAft>
              <a:buSzPts val="1565"/>
              <a:buChar char="-"/>
            </a:pPr>
            <a:r>
              <a:rPr lang="en-GB" sz="1565"/>
              <a:t>EV charging nodes only need communication with immediate neighbours, so many communication links unnecessary</a:t>
            </a:r>
            <a:endParaRPr sz="1565"/>
          </a:p>
        </p:txBody>
      </p:sp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4312" l="7517" r="7355" t="4721"/>
          <a:stretch/>
        </p:blipFill>
        <p:spPr>
          <a:xfrm>
            <a:off x="5175321" y="1017726"/>
            <a:ext cx="3950979" cy="410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topologies from Week 5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46827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/>
              <a:t>Hypercube</a:t>
            </a:r>
            <a:endParaRPr b="1"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Pros: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-GB" sz="1700"/>
              <a:t>Low network diameter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-GB" sz="1700"/>
              <a:t>Good scalability 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-GB" sz="1700"/>
              <a:t>Multiple communication paths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Cons: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-GB" sz="1700"/>
              <a:t>Logical connections don’t map to geographical connections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-GB" sz="1700"/>
              <a:t>Direct neighbours in the hypercube may not represent geographically adjacent nodes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-GB" sz="1700"/>
              <a:t>More complex to implement</a:t>
            </a:r>
            <a:endParaRPr sz="1700"/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3">
            <a:alphaModFix/>
          </a:blip>
          <a:srcRect b="0" l="4839" r="1930" t="0"/>
          <a:stretch/>
        </p:blipFill>
        <p:spPr>
          <a:xfrm>
            <a:off x="4994400" y="1619795"/>
            <a:ext cx="4131900" cy="3505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22"/>
          <p:cNvGraphicFramePr/>
          <p:nvPr/>
        </p:nvGraphicFramePr>
        <p:xfrm>
          <a:off x="96000" y="89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{6508BAB9-F72B-4B3B-8F20-DD92DF30B420}</a:tableStyleId>
              </a:tblPr>
              <a:tblGrid>
                <a:gridCol w="1373675"/>
                <a:gridCol w="2107900"/>
                <a:gridCol w="1403475"/>
                <a:gridCol w="2594025"/>
                <a:gridCol w="14729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Topology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Connectivity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Scalability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Communication efficiency for neighbours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</a:rPr>
                        <a:t>Suitable for EV grid?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Linear Array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Low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Moderate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Limited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Ring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Low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Moderate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Limited to 2 neighbours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Star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Centralised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Moderate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Poor for direct neighbour communication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Tree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Hierarchical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Indirect for neighbours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Completely Connected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Very high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Poor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Excellent but excessive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Hypercube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High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 but complex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Less suitable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2-D Mesh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Up to 4 neighbours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Good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Excellent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6" name="Google Shape;116;p22"/>
          <p:cNvSpPr txBox="1"/>
          <p:nvPr>
            <p:ph idx="4294967295" type="title"/>
          </p:nvPr>
        </p:nvSpPr>
        <p:spPr>
          <a:xfrm>
            <a:off x="960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Topology Suitability Comparison Table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topologies from Week 5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47064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2D Mesh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Pros: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Closely matches the cartesian grid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Direct communication between neighbouring nodes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Scalable by adding more columns/ rows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Requires less links than completely connected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Logical </a:t>
            </a:r>
            <a:r>
              <a:rPr lang="en-GB"/>
              <a:t>topology</a:t>
            </a:r>
            <a:r>
              <a:rPr lang="en-GB"/>
              <a:t> == geographical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Cons: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More hops for communication with distant nodes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Network </a:t>
            </a:r>
            <a:r>
              <a:rPr lang="en-GB"/>
              <a:t>diameter</a:t>
            </a:r>
            <a:r>
              <a:rPr lang="en-GB"/>
              <a:t> increases as network grows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Edge and corner nodes have fewer neighbours than internal nodes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226" y="1017726"/>
            <a:ext cx="4108075" cy="41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Selected Topology: 2d Mesh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5169925" y="1152475"/>
            <a:ext cx="3662400" cy="39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Arranged in a cartesian grid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Communication with immediate adjacent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Each node is </a:t>
            </a:r>
            <a:r>
              <a:rPr lang="en-GB"/>
              <a:t>connected</a:t>
            </a:r>
            <a:r>
              <a:rPr lang="en-GB"/>
              <a:t> to geographical neighbour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Avoids the unnecessary O(N</a:t>
            </a:r>
            <a:r>
              <a:rPr baseline="30000" lang="en-GB"/>
              <a:t>2</a:t>
            </a:r>
            <a:r>
              <a:rPr lang="en-GB"/>
              <a:t>) connectivity of a fully connected 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Closest match to the physical and communication </a:t>
            </a:r>
            <a:r>
              <a:rPr lang="en-GB"/>
              <a:t>requirements of the EV wireless sensor network</a:t>
            </a:r>
            <a:endParaRPr/>
          </a:p>
        </p:txBody>
      </p:sp>
      <p:pic>
        <p:nvPicPr>
          <p:cNvPr id="130" name="Google Shape;130;p24" title="Screenshot 2026-08-28 at 19.30.17.png"/>
          <p:cNvPicPr preferRelativeResize="0"/>
          <p:nvPr/>
        </p:nvPicPr>
        <p:blipFill rotWithShape="1">
          <a:blip r:embed="rId3">
            <a:alphaModFix/>
          </a:blip>
          <a:srcRect b="19459" l="7143" r="9217" t="0"/>
          <a:stretch/>
        </p:blipFill>
        <p:spPr>
          <a:xfrm>
            <a:off x="8850" y="1017726"/>
            <a:ext cx="5161065" cy="4108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2: </a:t>
            </a:r>
            <a:r>
              <a:rPr lang="en-GB"/>
              <a:t>Architecture design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Simulation Software Architecture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152400" y="1152475"/>
            <a:ext cx="4242600" cy="32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9 ChargingNodes, 1 BaseStation, 10 MPI processes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MPI: distributed-memory communication between BaseStation and ChargingNodes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OpenMP: shared-memory parallelism across charging ports within each node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WSN: ChargingNodes communicate with neighbouring nodes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BaseStation: global monitoring and charging-node coordination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ChargingNode: local state, wireless communication and port management, </a:t>
            </a:r>
            <a:r>
              <a:rPr lang="en-GB" sz="1400">
                <a:solidFill>
                  <a:schemeClr val="dk1"/>
                </a:solidFill>
              </a:rPr>
              <a:t>N configurable charging ports per node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ChargingPort: individual EV charging simulation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42" name="Google Shape;142;p26" title="Blank diagram - Page 1(1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5092" y="1017725"/>
            <a:ext cx="4729858" cy="410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359925" y="3784017"/>
            <a:ext cx="52962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chemeClr val="lt1"/>
                </a:solidFill>
              </a:rPr>
              <a:t>Static Structure Diagram</a:t>
            </a:r>
            <a:endParaRPr sz="3500">
              <a:solidFill>
                <a:schemeClr val="lt1"/>
              </a:solidFill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5664200" y="266700"/>
            <a:ext cx="3479700" cy="3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/>
              <a:t>Components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1 × BaseStation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9 × ChargingNode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i="1" lang="en-GB" sz="1100"/>
              <a:t>Each ChargingNode contains 1.. ChargingPorts</a:t>
            </a:r>
            <a:r>
              <a:rPr lang="en-GB" sz="1100"/>
              <a:t>*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ChargingNodes communicate with 2–4 immediate neighbours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-GB" sz="1300"/>
              <a:t>Parallel Architecture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MPI processes model the distributed WSN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OpenMP threads process local ChargingPort updates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Hybrid distributed-memory and shared-memory parallelism</a:t>
            </a:r>
            <a:endParaRPr sz="1100"/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49" name="Google Shape;149;p27" title="Blank diagram - Page 1(1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5215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20"/>
              <a:t>Mapping the WSN to MPI Processes</a:t>
            </a:r>
            <a:endParaRPr sz="2720"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34">
                <a:solidFill>
                  <a:schemeClr val="accent2"/>
                </a:solidFill>
              </a:rPr>
              <a:t>Logical WSN</a:t>
            </a:r>
            <a:r>
              <a:rPr lang="en-GB" sz="2134">
                <a:solidFill>
                  <a:schemeClr val="accent2"/>
                </a:solidFill>
              </a:rPr>
              <a:t>				</a:t>
            </a:r>
            <a:r>
              <a:rPr b="1" lang="en-GB" sz="2134">
                <a:solidFill>
                  <a:schemeClr val="accent2"/>
                </a:solidFill>
              </a:rPr>
              <a:t>MPI Process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BaseStation			→		MPI Rank 0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ChargingNode 1		→		MPI Rank 1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ChargingNode 2 		→ 		MPI Rank 2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ChargingNode 3 		→ 		MPI Rank 3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ChargingNode 4 		→ 		MPI Rank 4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ChargingNode 5		→ 		MPI Rank 5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ChargingNode 6		→		MPI Rank 6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ChargingNode 7		→ 		MPI Rank 7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ChargingNode 8 		→ 		MPI Rank 8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ChargingNode 9 		→ 		MPI Rank 9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4568875"/>
            <a:ext cx="417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</a:rPr>
              <a:t>Total: 10 MPI Processes </a:t>
            </a:r>
            <a:endParaRPr sz="2000">
              <a:solidFill>
                <a:schemeClr val="accent2"/>
              </a:solidFill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6134100" y="2543175"/>
            <a:ext cx="2685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accent2"/>
                </a:solidFill>
              </a:rPr>
              <a:t>Each MPI process has private Memory </a:t>
            </a:r>
            <a:endParaRPr sz="1500">
              <a:solidFill>
                <a:schemeClr val="accent2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2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accent2"/>
                </a:solidFill>
              </a:rPr>
              <a:t>Inter-process communication: MPI messages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WSN and Charging Node Model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996125"/>
            <a:ext cx="5001300" cy="41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2"/>
                </a:solidFill>
              </a:rPr>
              <a:t>BaseStation </a:t>
            </a:r>
            <a:r>
              <a:rPr lang="en-GB" sz="1100">
                <a:solidFill>
                  <a:schemeClr val="accent2"/>
                </a:solidFill>
              </a:rPr>
              <a:t>represents the central coordinator</a:t>
            </a:r>
            <a:r>
              <a:rPr lang="en-GB" sz="1100">
                <a:solidFill>
                  <a:schemeClr val="accent2"/>
                </a:solidFill>
              </a:rPr>
              <a:t>.</a:t>
            </a:r>
            <a:endParaRPr sz="1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2"/>
                </a:solidFill>
              </a:rPr>
              <a:t>Maintains: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global node status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congestion information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node availability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routing/redirect decisions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simulation-wide statistics</a:t>
            </a:r>
            <a:endParaRPr sz="1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2"/>
                </a:solidFill>
              </a:rPr>
              <a:t>ChargingNode </a:t>
            </a:r>
            <a:r>
              <a:rPr lang="en-GB" sz="1100">
                <a:solidFill>
                  <a:schemeClr val="accent2"/>
                </a:solidFill>
              </a:rPr>
              <a:t>represents a WSN charging station</a:t>
            </a:r>
            <a:r>
              <a:rPr lang="en-GB" sz="1100">
                <a:solidFill>
                  <a:schemeClr val="accent2"/>
                </a:solidFill>
              </a:rPr>
              <a:t>.</a:t>
            </a:r>
            <a:endParaRPr sz="1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2"/>
                </a:solidFill>
              </a:rPr>
              <a:t>Maintains: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node ID/location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local utilisation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charging-port states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neighbouring nodes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local congestion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communication state</a:t>
            </a:r>
            <a:endParaRPr sz="1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2"/>
                </a:solidFill>
              </a:rPr>
              <a:t>ChargingPort </a:t>
            </a:r>
            <a:r>
              <a:rPr lang="en-GB" sz="1100">
                <a:solidFill>
                  <a:schemeClr val="accent2"/>
                </a:solidFill>
              </a:rPr>
              <a:t>represents an individual EV charging port</a:t>
            </a:r>
            <a:r>
              <a:rPr lang="en-GB" sz="1100">
                <a:solidFill>
                  <a:schemeClr val="accent2"/>
                </a:solidFill>
              </a:rPr>
              <a:t>.</a:t>
            </a:r>
            <a:endParaRPr sz="1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2"/>
                </a:solidFill>
              </a:rPr>
              <a:t>Maintains: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availability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charging state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EV/session information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charging power</a:t>
            </a:r>
            <a:endParaRPr sz="1100"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-GB" sz="1100">
                <a:solidFill>
                  <a:schemeClr val="accent2"/>
                </a:solidFill>
              </a:rPr>
              <a:t>session duration</a:t>
            </a:r>
            <a:endParaRPr sz="1100">
              <a:solidFill>
                <a:schemeClr val="accent2"/>
              </a:solidFill>
            </a:endParaRPr>
          </a:p>
        </p:txBody>
      </p:sp>
      <p:pic>
        <p:nvPicPr>
          <p:cNvPr id="164" name="Google Shape;164;p29" title="Blank diagram - Page 1(1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893" y="996125"/>
            <a:ext cx="4339707" cy="41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528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Hybrid Parallel Architecture: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MPI + OpenMP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657300"/>
            <a:ext cx="570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293211" lvl="0" marL="457200" rtl="0" algn="l">
              <a:spcBef>
                <a:spcPts val="1700"/>
              </a:spcBef>
              <a:spcAft>
                <a:spcPts val="0"/>
              </a:spcAft>
              <a:buClr>
                <a:schemeClr val="accent2"/>
              </a:buClr>
              <a:buSzPct val="61111"/>
              <a:buChar char="●"/>
            </a:pPr>
            <a:r>
              <a:rPr lang="en-GB">
                <a:solidFill>
                  <a:schemeClr val="accent2"/>
                </a:solidFill>
              </a:rPr>
              <a:t>Each ChargingNode is mapped to an MPI process and executes independently in distributed memory</a:t>
            </a:r>
            <a:endParaRPr>
              <a:solidFill>
                <a:schemeClr val="accent2"/>
              </a:solidFill>
            </a:endParaRPr>
          </a:p>
          <a:p>
            <a:pPr indent="-293211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61111"/>
              <a:buChar char="●"/>
            </a:pPr>
            <a:r>
              <a:rPr lang="en-GB">
                <a:solidFill>
                  <a:schemeClr val="accent2"/>
                </a:solidFill>
              </a:rPr>
              <a:t>Charging ports within a node are processed concurrently using OpenMP threads sharing the node's memory</a:t>
            </a:r>
            <a:endParaRPr>
              <a:solidFill>
                <a:schemeClr val="accent2"/>
              </a:solidFill>
            </a:endParaRPr>
          </a:p>
          <a:p>
            <a:pPr indent="-293211" lvl="0" marL="457200" rtl="0" algn="l">
              <a:spcBef>
                <a:spcPts val="1700"/>
              </a:spcBef>
              <a:spcAft>
                <a:spcPts val="0"/>
              </a:spcAft>
              <a:buClr>
                <a:schemeClr val="accent2"/>
              </a:buClr>
              <a:buSzPct val="61111"/>
              <a:buChar char="●"/>
            </a:pPr>
            <a:r>
              <a:rPr lang="en-GB">
                <a:solidFill>
                  <a:schemeClr val="accent2"/>
                </a:solidFill>
              </a:rPr>
              <a:t>MPI provides scalability across machines, while OpenMP exploits multiple CPU cores within each machine/process</a:t>
            </a:r>
            <a:endParaRPr>
              <a:solidFill>
                <a:schemeClr val="accent2"/>
              </a:solidFill>
            </a:endParaRPr>
          </a:p>
          <a:p>
            <a:pPr indent="-293211" lvl="0" marL="457200" rtl="0" algn="l">
              <a:spcBef>
                <a:spcPts val="1700"/>
              </a:spcBef>
              <a:spcAft>
                <a:spcPts val="1000"/>
              </a:spcAft>
              <a:buClr>
                <a:schemeClr val="accent2"/>
              </a:buClr>
              <a:buSzPct val="61111"/>
              <a:buChar char="●"/>
            </a:pPr>
            <a:r>
              <a:rPr lang="en-GB">
                <a:solidFill>
                  <a:schemeClr val="accent2"/>
                </a:solidFill>
              </a:rPr>
              <a:t>MPI parallelism across nodes; OpenMP parallelism within nodes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171" name="Google Shape;171;p30" title="Blank diagram - Page 1(9).png"/>
          <p:cNvPicPr preferRelativeResize="0"/>
          <p:nvPr/>
        </p:nvPicPr>
        <p:blipFill rotWithShape="1">
          <a:blip r:embed="rId3">
            <a:alphaModFix/>
          </a:blip>
          <a:srcRect b="4391" l="7461" r="7469" t="4881"/>
          <a:stretch/>
        </p:blipFill>
        <p:spPr>
          <a:xfrm>
            <a:off x="6015999" y="0"/>
            <a:ext cx="3128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146550" y="390525"/>
            <a:ext cx="8778300" cy="9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MPI Communication Between Simulation Components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7" name="Google Shape;177;p31" title="Blank diagram - Page 1(7).png"/>
          <p:cNvPicPr preferRelativeResize="0"/>
          <p:nvPr/>
        </p:nvPicPr>
        <p:blipFill rotWithShape="1">
          <a:blip r:embed="rId3">
            <a:alphaModFix/>
          </a:blip>
          <a:srcRect b="0" l="2099" r="3356" t="0"/>
          <a:stretch/>
        </p:blipFill>
        <p:spPr>
          <a:xfrm>
            <a:off x="0" y="1095771"/>
            <a:ext cx="9144001" cy="4047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Message Passing Protocol and Synchronisation</a:t>
            </a:r>
            <a:endParaRPr/>
          </a:p>
        </p:txBody>
      </p:sp>
      <p:graphicFrame>
        <p:nvGraphicFramePr>
          <p:cNvPr id="183" name="Google Shape;183;p32"/>
          <p:cNvGraphicFramePr/>
          <p:nvPr/>
        </p:nvGraphicFramePr>
        <p:xfrm>
          <a:off x="3117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{6508BAB9-F72B-4B3B-8F20-DD92DF30B420}</a:tableStyleId>
              </a:tblPr>
              <a:tblGrid>
                <a:gridCol w="2406375"/>
                <a:gridCol w="1434825"/>
                <a:gridCol w="2015850"/>
                <a:gridCol w="2663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accent2"/>
                          </a:solidFill>
                        </a:rPr>
                        <a:t>MPI Message</a:t>
                      </a:r>
                      <a:endParaRPr b="1" sz="11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accent2"/>
                          </a:solidFill>
                        </a:rPr>
                        <a:t>Sender</a:t>
                      </a:r>
                      <a:endParaRPr b="1" sz="11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accent2"/>
                          </a:solidFill>
                        </a:rPr>
                        <a:t>Receiver</a:t>
                      </a:r>
                      <a:endParaRPr b="1" sz="11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accent2"/>
                          </a:solidFill>
                        </a:rPr>
                        <a:t>Purpose</a:t>
                      </a:r>
                      <a:endParaRPr b="1" sz="11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STATUS_UPDATE</a:t>
                      </a:r>
                      <a:endParaRPr sz="1100">
                        <a:solidFill>
                          <a:schemeClr val="accent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ChargingNode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BaseStation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Report node/port state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NEIGHBOUR_STATUS_REQUEST</a:t>
                      </a:r>
                      <a:endParaRPr sz="1100">
                        <a:solidFill>
                          <a:schemeClr val="accent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ChargingNode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Immediate neighbours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Request current node state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NEIGHBOUR_STATUS_RESPONSE</a:t>
                      </a:r>
                      <a:endParaRPr sz="1100">
                        <a:solidFill>
                          <a:schemeClr val="accent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Neighbour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Origin ChargingNode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Return node state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CONGESTION_ALERT</a:t>
                      </a:r>
                      <a:endParaRPr sz="1100">
                        <a:solidFill>
                          <a:schemeClr val="accent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ChargingNode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BaseStation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Report local/nearby congestion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REDIRECT</a:t>
                      </a:r>
                      <a:endParaRPr sz="1100">
                        <a:solidFill>
                          <a:schemeClr val="accent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BaseStation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ChargingNode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2"/>
                          </a:solidFill>
                        </a:rPr>
                        <a:t>Instruct node to redirect EV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4" name="Google Shape;184;p32"/>
          <p:cNvSpPr txBox="1"/>
          <p:nvPr/>
        </p:nvSpPr>
        <p:spPr>
          <a:xfrm>
            <a:off x="311700" y="3487575"/>
            <a:ext cx="140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Neighbour communication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5" name="Google Shape;185;p32"/>
          <p:cNvSpPr txBox="1"/>
          <p:nvPr/>
        </p:nvSpPr>
        <p:spPr>
          <a:xfrm>
            <a:off x="2225325" y="3487575"/>
            <a:ext cx="12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MPI_Isend()</a:t>
            </a:r>
            <a:endParaRPr>
              <a:solidFill>
                <a:schemeClr val="accen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MPI_Irecv()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6" name="Google Shape;186;p32"/>
          <p:cNvSpPr txBox="1"/>
          <p:nvPr/>
        </p:nvSpPr>
        <p:spPr>
          <a:xfrm>
            <a:off x="3979650" y="3487575"/>
            <a:ext cx="140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Local computation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5705625" y="3595275"/>
            <a:ext cx="140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MPI_Waitall()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8" name="Google Shape;188;p32"/>
          <p:cNvSpPr txBox="1"/>
          <p:nvPr/>
        </p:nvSpPr>
        <p:spPr>
          <a:xfrm>
            <a:off x="7431600" y="3379725"/>
            <a:ext cx="14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Evaluate neighbour state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9" name="Google Shape;189;p32"/>
          <p:cNvSpPr txBox="1"/>
          <p:nvPr/>
        </p:nvSpPr>
        <p:spPr>
          <a:xfrm>
            <a:off x="1601100" y="3502875"/>
            <a:ext cx="69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accent2"/>
                </a:solidFill>
              </a:rPr>
              <a:t>→</a:t>
            </a:r>
            <a:endParaRPr sz="2600">
              <a:solidFill>
                <a:schemeClr val="accent2"/>
              </a:solidFill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3359063" y="3502875"/>
            <a:ext cx="69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accent2"/>
                </a:solidFill>
              </a:rPr>
              <a:t>→</a:t>
            </a:r>
            <a:endParaRPr sz="2600">
              <a:solidFill>
                <a:schemeClr val="accent2"/>
              </a:solidFill>
            </a:endParaRPr>
          </a:p>
        </p:txBody>
      </p:sp>
      <p:sp>
        <p:nvSpPr>
          <p:cNvPr id="191" name="Google Shape;191;p32"/>
          <p:cNvSpPr txBox="1"/>
          <p:nvPr/>
        </p:nvSpPr>
        <p:spPr>
          <a:xfrm>
            <a:off x="5180775" y="3502875"/>
            <a:ext cx="69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accent2"/>
                </a:solidFill>
              </a:rPr>
              <a:t>→</a:t>
            </a:r>
            <a:endParaRPr sz="2600">
              <a:solidFill>
                <a:schemeClr val="accent2"/>
              </a:solidFill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7002475" y="3502875"/>
            <a:ext cx="69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accent2"/>
                </a:solidFill>
              </a:rPr>
              <a:t>→</a:t>
            </a:r>
            <a:endParaRPr sz="2600">
              <a:solidFill>
                <a:schemeClr val="accent2"/>
              </a:solidFill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311700" y="4318875"/>
            <a:ext cx="140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ChargingNode ranks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4001250" y="4426575"/>
            <a:ext cx="135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MPI_Reduce()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5705625" y="4426575"/>
            <a:ext cx="140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BaseStation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7559700" y="4211025"/>
            <a:ext cx="1144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Global network utilisation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7" name="Google Shape;197;p32"/>
          <p:cNvSpPr txBox="1"/>
          <p:nvPr/>
        </p:nvSpPr>
        <p:spPr>
          <a:xfrm>
            <a:off x="1657625" y="4334175"/>
            <a:ext cx="2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</a:rPr>
              <a:t>----------------&gt;</a:t>
            </a:r>
            <a:endParaRPr sz="2400">
              <a:solidFill>
                <a:schemeClr val="accent2"/>
              </a:solidFill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5180763" y="4334175"/>
            <a:ext cx="69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accent2"/>
                </a:solidFill>
              </a:rPr>
              <a:t>→</a:t>
            </a:r>
            <a:endParaRPr sz="2600">
              <a:solidFill>
                <a:schemeClr val="accent2"/>
              </a:solidFill>
            </a:endParaRPr>
          </a:p>
        </p:txBody>
      </p:sp>
      <p:sp>
        <p:nvSpPr>
          <p:cNvPr id="199" name="Google Shape;199;p32"/>
          <p:cNvSpPr txBox="1"/>
          <p:nvPr/>
        </p:nvSpPr>
        <p:spPr>
          <a:xfrm>
            <a:off x="7002475" y="4334175"/>
            <a:ext cx="69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accent2"/>
                </a:solidFill>
              </a:rPr>
              <a:t>→</a:t>
            </a:r>
            <a:endParaRPr sz="2600">
              <a:solidFill>
                <a:schemeClr val="accent2"/>
              </a:solidFill>
            </a:endParaRPr>
          </a:p>
        </p:txBody>
      </p:sp>
      <p:sp>
        <p:nvSpPr>
          <p:cNvPr id="200" name="Google Shape;200;p32"/>
          <p:cNvSpPr txBox="1"/>
          <p:nvPr/>
        </p:nvSpPr>
        <p:spPr>
          <a:xfrm>
            <a:off x="2144250" y="4318875"/>
            <a:ext cx="135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2"/>
                </a:solidFill>
              </a:rPr>
              <a:t>l</a:t>
            </a:r>
            <a:r>
              <a:rPr lang="en-GB" sz="1200">
                <a:solidFill>
                  <a:schemeClr val="accent2"/>
                </a:solidFill>
              </a:rPr>
              <a:t>ocal utilisation</a:t>
            </a:r>
            <a:endParaRPr sz="12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Cluster Deployment and Process Mapping</a:t>
            </a:r>
            <a:endParaRPr/>
          </a:p>
        </p:txBody>
      </p:sp>
      <p:sp>
        <p:nvSpPr>
          <p:cNvPr id="206" name="Google Shape;206;p33"/>
          <p:cNvSpPr txBox="1"/>
          <p:nvPr/>
        </p:nvSpPr>
        <p:spPr>
          <a:xfrm>
            <a:off x="311700" y="4627250"/>
            <a:ext cx="85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</a:rPr>
              <a:t>The number of OpenMP threads is configured to avoid oversubscribing physical CPU cores</a:t>
            </a:r>
            <a:endParaRPr sz="1600">
              <a:solidFill>
                <a:schemeClr val="accent2"/>
              </a:solidFill>
            </a:endParaRPr>
          </a:p>
        </p:txBody>
      </p:sp>
      <p:pic>
        <p:nvPicPr>
          <p:cNvPr id="207" name="Google Shape;207;p33" title="Blank diagram - Page 1(13).png"/>
          <p:cNvPicPr preferRelativeResize="0"/>
          <p:nvPr/>
        </p:nvPicPr>
        <p:blipFill rotWithShape="1">
          <a:blip r:embed="rId3">
            <a:alphaModFix/>
          </a:blip>
          <a:srcRect b="7379" l="4976" r="4877" t="8581"/>
          <a:stretch/>
        </p:blipFill>
        <p:spPr>
          <a:xfrm>
            <a:off x="311700" y="1017725"/>
            <a:ext cx="5211974" cy="36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3"/>
          <p:cNvSpPr txBox="1"/>
          <p:nvPr/>
        </p:nvSpPr>
        <p:spPr>
          <a:xfrm>
            <a:off x="5575850" y="1017725"/>
            <a:ext cx="3456900" cy="3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accent2"/>
                </a:solidFill>
              </a:rPr>
              <a:t>CPU execution model</a:t>
            </a:r>
            <a:endParaRPr b="1" sz="1600">
              <a:solidFill>
                <a:schemeClr val="accent2"/>
              </a:solidFill>
            </a:endParaRPr>
          </a:p>
          <a:p>
            <a:pPr indent="-317500" lvl="0" marL="457200" marR="3810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b="1" lang="en-GB">
                <a:solidFill>
                  <a:schemeClr val="accent2"/>
                </a:solidFill>
              </a:rPr>
              <a:t>MPI:</a:t>
            </a:r>
            <a:r>
              <a:rPr lang="en-GB">
                <a:solidFill>
                  <a:schemeClr val="accent2"/>
                </a:solidFill>
              </a:rPr>
              <a:t> one process per BaseStation/ChargingNode</a:t>
            </a:r>
            <a:endParaRPr>
              <a:solidFill>
                <a:schemeClr val="accent2"/>
              </a:solidFill>
            </a:endParaRPr>
          </a:p>
          <a:p>
            <a:pPr indent="-317500" lvl="0" marL="457200" marR="381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b="1" lang="en-GB">
                <a:solidFill>
                  <a:schemeClr val="accent2"/>
                </a:solidFill>
              </a:rPr>
              <a:t>OpenMP:</a:t>
            </a:r>
            <a:r>
              <a:rPr lang="en-GB">
                <a:solidFill>
                  <a:schemeClr val="accent2"/>
                </a:solidFill>
              </a:rPr>
              <a:t> threads within each ChargingNode process</a:t>
            </a:r>
            <a:endParaRPr>
              <a:solidFill>
                <a:schemeClr val="accent2"/>
              </a:solidFill>
            </a:endParaRPr>
          </a:p>
          <a:p>
            <a:pPr indent="-317500" lvl="0" marL="457200" marR="381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b="1" lang="en-GB">
                <a:solidFill>
                  <a:schemeClr val="accent2"/>
                </a:solidFill>
              </a:rPr>
              <a:t>Shared memory:</a:t>
            </a:r>
            <a:r>
              <a:rPr lang="en-GB">
                <a:solidFill>
                  <a:schemeClr val="accent2"/>
                </a:solidFill>
              </a:rPr>
              <a:t> ChargingPorts are local to their ChargingNode</a:t>
            </a:r>
            <a:endParaRPr>
              <a:solidFill>
                <a:schemeClr val="accent2"/>
              </a:solidFill>
            </a:endParaRPr>
          </a:p>
          <a:p>
            <a:pPr indent="-317500" lvl="0" marL="457200" marR="381000" rtl="0" algn="l">
              <a:lnSpc>
                <a:spcPct val="115000"/>
              </a:lnSpc>
              <a:spcBef>
                <a:spcPts val="1700"/>
              </a:spcBef>
              <a:spcAft>
                <a:spcPts val="1000"/>
              </a:spcAft>
              <a:buClr>
                <a:schemeClr val="accent2"/>
              </a:buClr>
              <a:buSzPts val="1400"/>
              <a:buChar char="●"/>
            </a:pPr>
            <a:r>
              <a:rPr b="1" lang="en-GB">
                <a:solidFill>
                  <a:schemeClr val="accent2"/>
                </a:solidFill>
              </a:rPr>
              <a:t>CPU affinity:</a:t>
            </a:r>
            <a:r>
              <a:rPr lang="en-GB">
                <a:solidFill>
                  <a:schemeClr val="accent2"/>
                </a:solidFill>
              </a:rPr>
              <a:t> configured to prevent excessive thread oversubscription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Requirements</a:t>
            </a:r>
            <a:endParaRPr/>
          </a:p>
        </p:txBody>
      </p:sp>
      <p:pic>
        <p:nvPicPr>
          <p:cNvPr id="214" name="Google Shape;214;p34" title="Blank diagram - Page 1(17).png"/>
          <p:cNvPicPr preferRelativeResize="0"/>
          <p:nvPr/>
        </p:nvPicPr>
        <p:blipFill rotWithShape="1">
          <a:blip r:embed="rId3">
            <a:alphaModFix/>
          </a:blip>
          <a:srcRect b="10161" l="7543" r="6841" t="11915"/>
          <a:stretch/>
        </p:blipFill>
        <p:spPr>
          <a:xfrm>
            <a:off x="311700" y="1017725"/>
            <a:ext cx="3735075" cy="221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4"/>
          <p:cNvSpPr txBox="1"/>
          <p:nvPr/>
        </p:nvSpPr>
        <p:spPr>
          <a:xfrm>
            <a:off x="4267188" y="659975"/>
            <a:ext cx="5097300" cy="25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2"/>
                </a:solidFill>
              </a:rPr>
              <a:t>BW ≈ N × d × f × S</a:t>
            </a:r>
            <a:endParaRPr sz="12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2"/>
                </a:solidFill>
              </a:rPr>
              <a:t>where:</a:t>
            </a:r>
            <a:endParaRPr sz="1200">
              <a:solidFill>
                <a:schemeClr val="accent2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●"/>
            </a:pPr>
            <a:r>
              <a:rPr lang="en-GB" sz="1200">
                <a:solidFill>
                  <a:schemeClr val="accent2"/>
                </a:solidFill>
              </a:rPr>
              <a:t>N = number of ChargingNodes</a:t>
            </a:r>
            <a:endParaRPr sz="1200">
              <a:solidFill>
                <a:schemeClr val="accent2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●"/>
            </a:pPr>
            <a:r>
              <a:rPr lang="en-GB" sz="1200">
                <a:solidFill>
                  <a:schemeClr val="accent2"/>
                </a:solidFill>
              </a:rPr>
              <a:t>d = average number of communicating neighbours</a:t>
            </a:r>
            <a:endParaRPr sz="1200">
              <a:solidFill>
                <a:schemeClr val="accent2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●"/>
            </a:pPr>
            <a:r>
              <a:rPr lang="en-GB" sz="1200">
                <a:solidFill>
                  <a:schemeClr val="accent2"/>
                </a:solidFill>
              </a:rPr>
              <a:t>f = messages per second</a:t>
            </a:r>
            <a:endParaRPr sz="1200">
              <a:solidFill>
                <a:schemeClr val="accent2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●"/>
            </a:pPr>
            <a:r>
              <a:rPr lang="en-GB" sz="1200">
                <a:solidFill>
                  <a:schemeClr val="accent2"/>
                </a:solidFill>
              </a:rPr>
              <a:t>S = message size</a:t>
            </a:r>
            <a:endParaRPr sz="1200">
              <a:solidFill>
                <a:schemeClr val="accent2"/>
              </a:solidFill>
            </a:endParaRPr>
          </a:p>
          <a:p>
            <a:pPr indent="-285750" lvl="0" marL="457200" marR="38100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●"/>
            </a:pPr>
            <a:r>
              <a:rPr lang="en-GB" sz="1200">
                <a:solidFill>
                  <a:schemeClr val="accent2"/>
                </a:solidFill>
              </a:rPr>
              <a:t>d is limited to immediate neighbours and S is small because messages contain node/port state and control information</a:t>
            </a:r>
            <a:endParaRPr sz="1200">
              <a:solidFill>
                <a:schemeClr val="accent2"/>
              </a:solidFill>
            </a:endParaRPr>
          </a:p>
          <a:p>
            <a:pPr indent="-285750" lvl="0" marL="457200" marR="3810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●"/>
            </a:pPr>
            <a:r>
              <a:rPr lang="en-GB" sz="1200">
                <a:solidFill>
                  <a:schemeClr val="accent2"/>
                </a:solidFill>
              </a:rPr>
              <a:t>Expected traffic is well below the 1 Gbps link capacity</a:t>
            </a:r>
            <a:endParaRPr sz="1200">
              <a:solidFill>
                <a:schemeClr val="accent2"/>
              </a:solidFill>
            </a:endParaRPr>
          </a:p>
          <a:p>
            <a:pPr indent="-285750" lvl="0" marL="457200" marR="3810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Char char="●"/>
            </a:pPr>
            <a:r>
              <a:rPr lang="en-GB" sz="1200">
                <a:solidFill>
                  <a:schemeClr val="accent2"/>
                </a:solidFill>
              </a:rPr>
              <a:t>Actual bandwidth utilisation, latency and communication overhead will be measured experimentally</a:t>
            </a:r>
            <a:endParaRPr sz="1200">
              <a:solidFill>
                <a:schemeClr val="accent2"/>
              </a:solidFill>
            </a:endParaRPr>
          </a:p>
        </p:txBody>
      </p:sp>
      <p:graphicFrame>
        <p:nvGraphicFramePr>
          <p:cNvPr id="216" name="Google Shape;216;p34"/>
          <p:cNvGraphicFramePr/>
          <p:nvPr/>
        </p:nvGraphicFramePr>
        <p:xfrm>
          <a:off x="311700" y="329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{6508BAB9-F72B-4B3B-8F20-DD92DF30B420}</a:tableStyleId>
              </a:tblPr>
              <a:tblGrid>
                <a:gridCol w="2413000"/>
                <a:gridCol w="2413000"/>
                <a:gridCol w="2413000"/>
              </a:tblGrid>
              <a:tr h="120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accent2"/>
                          </a:solidFill>
                        </a:rPr>
                        <a:t>Communication</a:t>
                      </a:r>
                      <a:endParaRPr b="1"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accent2"/>
                          </a:solidFill>
                        </a:rPr>
                        <a:t>MPI mechanism</a:t>
                      </a:r>
                      <a:endParaRPr b="1"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accent2"/>
                          </a:solidFill>
                        </a:rPr>
                        <a:t>Purpose</a:t>
                      </a:r>
                      <a:endParaRPr b="1"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</a:rPr>
                        <a:t>Node → Node</a:t>
                      </a:r>
                      <a:endParaRPr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MPI_Isend/Irecv</a:t>
                      </a:r>
                      <a:endParaRPr sz="1000">
                        <a:solidFill>
                          <a:schemeClr val="accent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</a:rPr>
                        <a:t>Neighbour status exchange</a:t>
                      </a:r>
                      <a:endParaRPr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</a:rPr>
                        <a:t>Node → BaseStation</a:t>
                      </a:r>
                      <a:endParaRPr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MPI_Isend</a:t>
                      </a:r>
                      <a:endParaRPr sz="1000">
                        <a:solidFill>
                          <a:schemeClr val="accent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</a:rPr>
                        <a:t>Status/congestion reporting</a:t>
                      </a:r>
                      <a:endParaRPr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</a:rPr>
                        <a:t>BaseStation → Node</a:t>
                      </a:r>
                      <a:endParaRPr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MPI_Isend</a:t>
                      </a:r>
                      <a:endParaRPr sz="1000">
                        <a:solidFill>
                          <a:schemeClr val="accent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</a:rPr>
                        <a:t>Control/redirect</a:t>
                      </a:r>
                      <a:endParaRPr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</a:rPr>
                        <a:t>Nodes → BaseStation</a:t>
                      </a:r>
                      <a:endParaRPr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MPI_Reduce</a:t>
                      </a:r>
                      <a:endParaRPr sz="1000">
                        <a:solidFill>
                          <a:schemeClr val="accent2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</a:rPr>
                        <a:t>Global statistics</a:t>
                      </a:r>
                      <a:endParaRPr sz="10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Summary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152475"/>
            <a:ext cx="448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2"/>
                </a:solidFill>
              </a:rPr>
              <a:t>1. Distributed Memory</a:t>
            </a:r>
            <a:endParaRPr b="1" sz="1300">
              <a:solidFill>
                <a:schemeClr val="accent2"/>
              </a:solidFill>
            </a:endParaRPr>
          </a:p>
          <a:p>
            <a:pPr indent="0" lvl="0" marL="38100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2"/>
                </a:solidFill>
              </a:rPr>
              <a:t>MPI distributes BaseStation and ChargingNode processes across cluster machines.</a:t>
            </a:r>
            <a:endParaRPr sz="13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2"/>
                </a:solidFill>
              </a:rPr>
              <a:t>2. Shared Memory</a:t>
            </a:r>
            <a:endParaRPr b="1" sz="1300">
              <a:solidFill>
                <a:schemeClr val="accent2"/>
              </a:solidFill>
            </a:endParaRPr>
          </a:p>
          <a:p>
            <a:pPr indent="0" lvl="0" marL="38100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2"/>
                </a:solidFill>
              </a:rPr>
              <a:t>OpenMP concurrently processes ChargingPorts within each ChargingNode.</a:t>
            </a:r>
            <a:endParaRPr sz="13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2"/>
                </a:solidFill>
              </a:rPr>
              <a:t>3. WSN Communication</a:t>
            </a:r>
            <a:endParaRPr b="1" sz="1300">
              <a:solidFill>
                <a:schemeClr val="accent2"/>
              </a:solidFill>
            </a:endParaRPr>
          </a:p>
          <a:p>
            <a:pPr indent="0" lvl="0" marL="38100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2"/>
                </a:solidFill>
              </a:rPr>
              <a:t>ChargingNodes exchange neighbour status and congestion information through MPI.</a:t>
            </a:r>
            <a:endParaRPr sz="13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2"/>
                </a:solidFill>
              </a:rPr>
              <a:t>4. Central Coordination</a:t>
            </a:r>
            <a:endParaRPr b="1" sz="1300">
              <a:solidFill>
                <a:schemeClr val="accent2"/>
              </a:solidFill>
            </a:endParaRPr>
          </a:p>
          <a:p>
            <a:pPr indent="0" lvl="0" marL="38100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2"/>
                </a:solidFill>
              </a:rPr>
              <a:t>BaseStation aggregates global state and issues control/redirect decisions.]</a:t>
            </a:r>
            <a:endParaRPr sz="1300">
              <a:solidFill>
                <a:schemeClr val="accent2"/>
              </a:solidFill>
            </a:endParaRPr>
          </a:p>
        </p:txBody>
      </p:sp>
      <p:pic>
        <p:nvPicPr>
          <p:cNvPr id="223" name="Google Shape;223;p35" title="Blank diagram - Page 1(11).png"/>
          <p:cNvPicPr preferRelativeResize="0"/>
          <p:nvPr/>
        </p:nvPicPr>
        <p:blipFill rotWithShape="1">
          <a:blip r:embed="rId3">
            <a:alphaModFix/>
          </a:blip>
          <a:srcRect b="5885" l="3745" r="4251" t="4940"/>
          <a:stretch/>
        </p:blipFill>
        <p:spPr>
          <a:xfrm>
            <a:off x="4435503" y="1039138"/>
            <a:ext cx="4329356" cy="36430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 txBox="1"/>
          <p:nvPr/>
        </p:nvSpPr>
        <p:spPr>
          <a:xfrm>
            <a:off x="0" y="4703625"/>
            <a:ext cx="914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b="1" lang="en-GB" sz="1100">
                <a:solidFill>
                  <a:schemeClr val="accent2"/>
                </a:solidFill>
              </a:rPr>
              <a:t>1 BaseStation + 9 ChargingNodes + N ChargingPorts/node | 10 MPI processes | 2 × 8-core machines | 1 Gbps interconnect</a:t>
            </a:r>
            <a:endParaRPr b="1" sz="11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3: Analysis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Communication analysis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311700" y="1017725"/>
            <a:ext cx="522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Due to the high speed 1 Gbps, the fixed latency overhead contributes much more to the transmission delay than the message transmission time. I.e, if the communication time = a + b*m, where a, b and m are the latency time, bandwidth and message size respectively, for a reasonable value of a (a≈20 microseconds), the a value dominates.</a:t>
            </a:r>
            <a:endParaRPr sz="1000">
              <a:solidFill>
                <a:schemeClr val="accent2"/>
              </a:solidFill>
            </a:endParaRPr>
          </a:p>
          <a:p>
            <a:pPr indent="-2921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This is because for our MPI messages, the message sizes will be very small, at the most 60 bytes, meaning that our 1 </a:t>
            </a:r>
            <a:r>
              <a:rPr lang="en-GB" sz="1000">
                <a:solidFill>
                  <a:schemeClr val="accent2"/>
                </a:solidFill>
              </a:rPr>
              <a:t>Gbps</a:t>
            </a:r>
            <a:r>
              <a:rPr lang="en-GB" sz="1000">
                <a:solidFill>
                  <a:schemeClr val="accent2"/>
                </a:solidFill>
              </a:rPr>
              <a:t> link will send the payload in a fraction of a microsecond.</a:t>
            </a:r>
            <a:endParaRPr sz="1000">
              <a:solidFill>
                <a:schemeClr val="accent2"/>
              </a:solidFill>
            </a:endParaRPr>
          </a:p>
          <a:p>
            <a:pPr indent="-2921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This means the latency time makes the bulk of the transmission latency, meaning the size of the payload does not matter as much.</a:t>
            </a:r>
            <a:endParaRPr sz="1000">
              <a:solidFill>
                <a:schemeClr val="accent2"/>
              </a:solidFill>
            </a:endParaRPr>
          </a:p>
          <a:p>
            <a:pPr indent="-2921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This means we can worry about the Big O complexity of how many messages are being sent, rather than what is being sent between, and given the latency value stays </a:t>
            </a:r>
            <a:r>
              <a:rPr lang="en-GB" sz="1000">
                <a:solidFill>
                  <a:schemeClr val="accent2"/>
                </a:solidFill>
              </a:rPr>
              <a:t>consistent</a:t>
            </a:r>
            <a:r>
              <a:rPr lang="en-GB" sz="1000">
                <a:solidFill>
                  <a:schemeClr val="accent2"/>
                </a:solidFill>
              </a:rPr>
              <a:t>, it should just act as a multiplicative scalar, the difference between 20 </a:t>
            </a:r>
            <a:r>
              <a:rPr lang="en-GB" sz="1000">
                <a:solidFill>
                  <a:schemeClr val="accent2"/>
                </a:solidFill>
              </a:rPr>
              <a:t>microseconds or 50 microseconds does not change the scale of the transmission delay.</a:t>
            </a:r>
            <a:endParaRPr sz="1000">
              <a:solidFill>
                <a:schemeClr val="accent2"/>
              </a:solidFill>
            </a:endParaRPr>
          </a:p>
          <a:p>
            <a:pPr indent="-2921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However, we cannot assume that latency will be consistent, and it will depend on the network conditions.</a:t>
            </a:r>
            <a:endParaRPr sz="1000">
              <a:solidFill>
                <a:schemeClr val="accent2"/>
              </a:solidFill>
            </a:endParaRPr>
          </a:p>
        </p:txBody>
      </p:sp>
      <p:pic>
        <p:nvPicPr>
          <p:cNvPr id="236" name="Google Shape;2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900" y="1240800"/>
            <a:ext cx="3598675" cy="239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5901238" y="3728300"/>
            <a:ext cx="23700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Assuming latency ≈ 20 microseconds</a:t>
            </a:r>
            <a:endParaRPr sz="10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20"/>
              <a:t>Transmission delay vs number of charging nodes (theoretical)</a:t>
            </a:r>
            <a:endParaRPr sz="2220"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4824800" y="1117125"/>
            <a:ext cx="423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</a:rPr>
              <a:t>When each node is connected to neighbouring nodes </a:t>
            </a:r>
            <a:r>
              <a:rPr b="1" lang="en-GB" sz="1000">
                <a:solidFill>
                  <a:schemeClr val="accent2"/>
                </a:solidFill>
              </a:rPr>
              <a:t>as well as the base station.</a:t>
            </a:r>
            <a:endParaRPr b="1" sz="1000">
              <a:solidFill>
                <a:schemeClr val="accent2"/>
              </a:solidFill>
            </a:endParaRPr>
          </a:p>
          <a:p>
            <a:pPr indent="-2921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STATUS_UPDATE, NEIGHBOUR_STATUS_REQUEST, NEIGHBOUR_STATUS_RESPONSE, CONGESTION_ALERT and REDIRECT are all O(1). </a:t>
            </a:r>
            <a:endParaRPr sz="1000">
              <a:solidFill>
                <a:schemeClr val="accent2"/>
              </a:solidFill>
            </a:endParaRPr>
          </a:p>
          <a:p>
            <a:pPr indent="-292100" lvl="1" marL="9144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Fixed payload size </a:t>
            </a:r>
            <a:endParaRPr sz="1000">
              <a:solidFill>
                <a:schemeClr val="accent2"/>
              </a:solidFill>
            </a:endParaRPr>
          </a:p>
          <a:p>
            <a:pPr indent="-292100" lvl="1" marL="9144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Fixed number of recipients (at most 4)</a:t>
            </a:r>
            <a:endParaRPr sz="1000">
              <a:solidFill>
                <a:schemeClr val="accent2"/>
              </a:solidFill>
            </a:endParaRPr>
          </a:p>
          <a:p>
            <a:pPr indent="-292100" lvl="1" marL="9144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Fixed hop count (1, from node straight to BaseStation)</a:t>
            </a:r>
            <a:endParaRPr sz="1000">
              <a:solidFill>
                <a:schemeClr val="accent2"/>
              </a:solidFill>
            </a:endParaRPr>
          </a:p>
          <a:p>
            <a:pPr indent="-2921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rPr lang="en-GB" sz="1000">
                <a:solidFill>
                  <a:schemeClr val="accent2"/>
                </a:solidFill>
              </a:rPr>
              <a:t>Because each node is connected to the base station with a direct link, messages that go from node to base station that would normally require traversing other nodes to get to the base station take O(1) time.,</a:t>
            </a:r>
            <a:endParaRPr sz="1000">
              <a:solidFill>
                <a:schemeClr val="accent2"/>
              </a:solidFill>
            </a:endParaRPr>
          </a:p>
          <a:p>
            <a:pPr indent="-2921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Char char="-"/>
            </a:pPr>
            <a:r>
              <a:t/>
            </a:r>
            <a:endParaRPr sz="1000">
              <a:solidFill>
                <a:schemeClr val="accent2"/>
              </a:solidFill>
            </a:endParaRPr>
          </a:p>
        </p:txBody>
      </p:sp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875675" y="4335850"/>
            <a:ext cx="31617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</a:rPr>
              <a:t>Data assumes constant latency of 20 microseconds</a:t>
            </a:r>
            <a:endParaRPr sz="1000">
              <a:solidFill>
                <a:schemeClr val="accent2"/>
              </a:solidFill>
            </a:endParaRPr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19989" cy="30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/>
              <a:t>Transmission delay vs number of base stations (theoretical)</a:t>
            </a:r>
            <a:endParaRPr sz="2320"/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4824800" y="1117125"/>
            <a:ext cx="423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en-GB" sz="1400">
                <a:solidFill>
                  <a:schemeClr val="accent2"/>
                </a:solidFill>
              </a:rPr>
              <a:t>Very similar picture, because each node is directly connected to a base station, the number of base stations does not matter, as there will always be that direct connection.</a:t>
            </a:r>
            <a:endParaRPr sz="1400">
              <a:solidFill>
                <a:schemeClr val="accent2"/>
              </a:solidFill>
            </a:endParaRPr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875675" y="4335850"/>
            <a:ext cx="31617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</a:rPr>
              <a:t>Data assumes constant latency of 20 microseconds</a:t>
            </a:r>
            <a:endParaRPr sz="1000">
              <a:solidFill>
                <a:schemeClr val="accent2"/>
              </a:solidFill>
            </a:endParaRPr>
          </a:p>
        </p:txBody>
      </p:sp>
      <p:pic>
        <p:nvPicPr>
          <p:cNvPr id="253" name="Google Shape;2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925" y="1170125"/>
            <a:ext cx="4519989" cy="30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Feasibility of direct link from base station to every node</a:t>
            </a:r>
            <a:endParaRPr/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311700" y="1017725"/>
            <a:ext cx="816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-GB" sz="1200">
                <a:solidFill>
                  <a:schemeClr val="accent2"/>
                </a:solidFill>
              </a:rPr>
              <a:t>Creating a link from each node to the base station is very easy in a simulated code model, as MPI makes it very easy to implement a link between threads. It is simple to pass messages from ranks 1-... to rank 0, if hardware is not necessary to keep in mind.</a:t>
            </a:r>
            <a:endParaRPr sz="1200">
              <a:solidFill>
                <a:schemeClr val="accent2"/>
              </a:solidFill>
            </a:endParaRPr>
          </a:p>
          <a:p>
            <a:pPr indent="-3048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-GB" sz="1200">
                <a:solidFill>
                  <a:schemeClr val="accent2"/>
                </a:solidFill>
              </a:rPr>
              <a:t>For a relatively small network, 3x3 for example, connecting each base station to a node would most likely be not too difficult, however, transmission delay would not become a big issue until the number of nodes is significantly large, such as a state-wide EV charging network.</a:t>
            </a:r>
            <a:endParaRPr sz="1200">
              <a:solidFill>
                <a:schemeClr val="accent2"/>
              </a:solidFill>
            </a:endParaRPr>
          </a:p>
          <a:p>
            <a:pPr indent="-3048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-GB" sz="1200">
                <a:solidFill>
                  <a:schemeClr val="accent2"/>
                </a:solidFill>
              </a:rPr>
              <a:t>The ironic thing is, the problem appears when the number of nodes becomes large </a:t>
            </a:r>
            <a:r>
              <a:rPr lang="en-GB" sz="1200">
                <a:solidFill>
                  <a:schemeClr val="accent2"/>
                </a:solidFill>
              </a:rPr>
              <a:t>enough that not only is it no longer feasible to link every node to a base station.</a:t>
            </a:r>
            <a:endParaRPr sz="1200">
              <a:solidFill>
                <a:schemeClr val="accent2"/>
              </a:solidFill>
            </a:endParaRPr>
          </a:p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2"/>
              </a:solidFill>
            </a:endParaRPr>
          </a:p>
          <a:p>
            <a:pPr indent="-3048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-GB" sz="1200">
                <a:solidFill>
                  <a:schemeClr val="accent2"/>
                </a:solidFill>
              </a:rPr>
              <a:t>This means we have to consider the design we cannot create a link for each node, meaning the number of nodes and base stations actually creates a meaningful difference.</a:t>
            </a:r>
            <a:endParaRPr sz="1200">
              <a:solidFill>
                <a:schemeClr val="accent2"/>
              </a:solidFill>
            </a:endParaRPr>
          </a:p>
          <a:p>
            <a:pPr indent="-3048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-GB" sz="1200">
                <a:solidFill>
                  <a:schemeClr val="accent2"/>
                </a:solidFill>
              </a:rPr>
              <a:t>We can consider the earlier graphs and scenario a “theoretical” example, where we only look at MPI code, and ignore hardware limitations.</a:t>
            </a:r>
            <a:endParaRPr sz="12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20"/>
              <a:t>Transmission delay vs number of charging nodes (“real-world”)</a:t>
            </a:r>
            <a:endParaRPr sz="2020"/>
          </a:p>
        </p:txBody>
      </p:sp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4824800" y="1117125"/>
            <a:ext cx="423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-GB" sz="1200">
                <a:solidFill>
                  <a:schemeClr val="accent2"/>
                </a:solidFill>
              </a:rPr>
              <a:t>NEIGHBOUR-STATUS-REQUEST and NEIGHBOUR_STATUS_RESPONSE stay O(1), as they only need to ping neighbours, and not the base station.</a:t>
            </a:r>
            <a:endParaRPr sz="1200">
              <a:solidFill>
                <a:schemeClr val="accent2"/>
              </a:solidFill>
            </a:endParaRPr>
          </a:p>
          <a:p>
            <a:pPr indent="-3048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-"/>
            </a:pPr>
            <a:r>
              <a:rPr lang="en-GB" sz="1200">
                <a:solidFill>
                  <a:schemeClr val="accent2"/>
                </a:solidFill>
              </a:rPr>
              <a:t>STATUS_UPDATE, CONGESTION_ALEART AND REDIRECT become O(sqrt(N)), because they need to traverse a worst case before getting to the base station. It is not O(n), which it would be in a line topology for example, it is square rooted because the topology forms a 2D mesh.</a:t>
            </a:r>
            <a:endParaRPr sz="1200">
              <a:solidFill>
                <a:schemeClr val="accent2"/>
              </a:solidFill>
            </a:endParaRPr>
          </a:p>
        </p:txBody>
      </p:sp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875675" y="4335850"/>
            <a:ext cx="31617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</a:rPr>
              <a:t>Data assumes constant latency of 20 microseconds</a:t>
            </a:r>
            <a:endParaRPr sz="1000">
              <a:solidFill>
                <a:schemeClr val="accent2"/>
              </a:solidFill>
            </a:endParaRPr>
          </a:p>
        </p:txBody>
      </p:sp>
      <p:pic>
        <p:nvPicPr>
          <p:cNvPr id="267" name="Google Shape;26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19989" cy="30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/>
              <a:t>Transmission delay vs number of base stations (“real-world”)</a:t>
            </a:r>
            <a:endParaRPr sz="2420"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4824800" y="1117125"/>
            <a:ext cx="423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en-GB" sz="1400">
                <a:solidFill>
                  <a:schemeClr val="accent2"/>
                </a:solidFill>
              </a:rPr>
              <a:t>The number of base stations reduces the hops (and in turn transmission delay) of the three messages that depend on B and N (the </a:t>
            </a:r>
            <a:r>
              <a:rPr lang="en-GB" sz="1400">
                <a:solidFill>
                  <a:schemeClr val="accent2"/>
                </a:solidFill>
              </a:rPr>
              <a:t>messages</a:t>
            </a:r>
            <a:r>
              <a:rPr lang="en-GB" sz="1400">
                <a:solidFill>
                  <a:schemeClr val="accent2"/>
                </a:solidFill>
              </a:rPr>
              <a:t> that go from node to base station), by sqrt(B). </a:t>
            </a:r>
            <a:endParaRPr sz="1400">
              <a:solidFill>
                <a:schemeClr val="accent2"/>
              </a:solidFill>
            </a:endParaRPr>
          </a:p>
          <a:p>
            <a:pPr indent="-3175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en-GB" sz="1400">
                <a:solidFill>
                  <a:schemeClr val="accent2"/>
                </a:solidFill>
              </a:rPr>
              <a:t>Why not B? Because each base station should cover an area of N/B nodes, but that is area, not distance, the distance that is reduced, only scales back by a factor of sqrt(B), meaning that there is diminishing returns when adding more and more base stations.</a:t>
            </a:r>
            <a:endParaRPr sz="1400">
              <a:solidFill>
                <a:schemeClr val="accent2"/>
              </a:solidFill>
            </a:endParaRPr>
          </a:p>
        </p:txBody>
      </p:sp>
      <p:sp>
        <p:nvSpPr>
          <p:cNvPr id="274" name="Google Shape;274;p42"/>
          <p:cNvSpPr txBox="1"/>
          <p:nvPr>
            <p:ph idx="1" type="body"/>
          </p:nvPr>
        </p:nvSpPr>
        <p:spPr>
          <a:xfrm>
            <a:off x="875675" y="4335850"/>
            <a:ext cx="31617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</a:rPr>
              <a:t>Data assumes constant latency of 20 microseconds</a:t>
            </a:r>
            <a:endParaRPr sz="1000">
              <a:solidFill>
                <a:schemeClr val="accent2"/>
              </a:solidFill>
            </a:endParaRPr>
          </a:p>
        </p:txBody>
      </p:sp>
      <p:pic>
        <p:nvPicPr>
          <p:cNvPr id="275" name="Google Shape;27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19989" cy="30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Beyond node and base station count	</a:t>
            </a:r>
            <a:endParaRPr/>
          </a:p>
        </p:txBody>
      </p:sp>
      <p:sp>
        <p:nvSpPr>
          <p:cNvPr id="281" name="Google Shape;281;p43"/>
          <p:cNvSpPr txBox="1"/>
          <p:nvPr>
            <p:ph idx="1" type="body"/>
          </p:nvPr>
        </p:nvSpPr>
        <p:spPr>
          <a:xfrm>
            <a:off x="258700" y="1161300"/>
            <a:ext cx="790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Other than node and base station numbers, another factor that </a:t>
            </a:r>
            <a:r>
              <a:rPr lang="en-GB" sz="1200">
                <a:solidFill>
                  <a:schemeClr val="dk1"/>
                </a:solidFill>
              </a:rPr>
              <a:t>could impact transmission delay include the number of charging ports, growing number of EVs and a higher charging frequency.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Ultimately, all of these factors would increase message frequency: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GB" sz="1200">
                <a:solidFill>
                  <a:schemeClr val="dk1"/>
                </a:solidFill>
              </a:rPr>
              <a:t>A larger number of charging ports would create more status messages as there are more ports that can communicate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GB" sz="1200">
                <a:solidFill>
                  <a:schemeClr val="dk1"/>
                </a:solidFill>
              </a:rPr>
              <a:t>More EVs on the road means the ports at the nodes are more busy, switching from free to occupied more often.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GB" sz="1200">
                <a:solidFill>
                  <a:schemeClr val="dk1"/>
                </a:solidFill>
              </a:rPr>
              <a:t>Higher charging frequency has the same result as more EVs.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Despite not changing transmission delay, they do add to message frequency, which could can affect a base station if there are too many messages coming in at the same time to process.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</a:t>
            </a:r>
            <a:r>
              <a:rPr lang="en-GB"/>
              <a:t> message frequency causing </a:t>
            </a:r>
            <a:r>
              <a:rPr lang="en-GB"/>
              <a:t>queuing</a:t>
            </a:r>
            <a:r>
              <a:rPr lang="en-GB"/>
              <a:t> at base station </a:t>
            </a:r>
            <a:endParaRPr/>
          </a:p>
        </p:txBody>
      </p:sp>
      <p:pic>
        <p:nvPicPr>
          <p:cNvPr id="287" name="Google Shape;28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73146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4"/>
          <p:cNvSpPr txBox="1"/>
          <p:nvPr>
            <p:ph idx="1" type="body"/>
          </p:nvPr>
        </p:nvSpPr>
        <p:spPr>
          <a:xfrm>
            <a:off x="5883850" y="1161300"/>
            <a:ext cx="31629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Using the M/M/1 </a:t>
            </a:r>
            <a:r>
              <a:rPr lang="en-GB" sz="1200">
                <a:solidFill>
                  <a:schemeClr val="dk1"/>
                </a:solidFill>
              </a:rPr>
              <a:t>queuing</a:t>
            </a:r>
            <a:r>
              <a:rPr lang="en-GB" sz="1200">
                <a:solidFill>
                  <a:schemeClr val="dk1"/>
                </a:solidFill>
              </a:rPr>
              <a:t> formula, we can simulate the potential bottleneck that can occur if too many messages are sent, causing transmission time (transmission delay + </a:t>
            </a:r>
            <a:r>
              <a:rPr lang="en-GB" sz="1200">
                <a:solidFill>
                  <a:schemeClr val="dk1"/>
                </a:solidFill>
              </a:rPr>
              <a:t>queuing</a:t>
            </a:r>
            <a:r>
              <a:rPr lang="en-GB" sz="1200">
                <a:solidFill>
                  <a:schemeClr val="dk1"/>
                </a:solidFill>
              </a:rPr>
              <a:t> time) to </a:t>
            </a:r>
            <a:r>
              <a:rPr lang="en-GB" sz="1200">
                <a:solidFill>
                  <a:schemeClr val="dk1"/>
                </a:solidFill>
              </a:rPr>
              <a:t>skyrocket</a:t>
            </a:r>
            <a:r>
              <a:rPr lang="en-GB" sz="1200">
                <a:solidFill>
                  <a:schemeClr val="dk1"/>
                </a:solidFill>
              </a:rPr>
              <a:t>. Adequate load handling should be done here, move base stations would be ideal.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/>
              <a:t>Conclusion</a:t>
            </a:r>
            <a:endParaRPr sz="2420"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45900" y="1117125"/>
            <a:ext cx="845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2"/>
                </a:solidFill>
              </a:rPr>
              <a:t>We believe the 2D mesh topology to be the strongest, most appropriate and the topology most representative of the real world.</a:t>
            </a:r>
            <a:endParaRPr sz="1400">
              <a:solidFill>
                <a:schemeClr val="accent2"/>
              </a:solidFill>
            </a:endParaRPr>
          </a:p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2"/>
                </a:solidFill>
              </a:rPr>
              <a:t>Our design uses a hybrid topology with nodes internally using OpenMP to share resources between charger ports, but MPI to form a distributed memory system, where messages are passed from node to node.</a:t>
            </a:r>
            <a:endParaRPr sz="1400">
              <a:solidFill>
                <a:schemeClr val="accent2"/>
              </a:solidFill>
            </a:endParaRPr>
          </a:p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</a:endParaRPr>
          </a:p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</a:endParaRPr>
          </a:p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</a:endParaRPr>
          </a:p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</a:endParaRPr>
          </a:p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</a:endParaRPr>
          </a:p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</a:endParaRPr>
          </a:p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</a:endParaRPr>
          </a:p>
          <a:p>
            <a:pPr indent="0" lvl="0" marL="0" marR="381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2"/>
                </a:solidFill>
              </a:rPr>
              <a:t>Any questions?</a:t>
            </a:r>
            <a:endParaRPr sz="1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